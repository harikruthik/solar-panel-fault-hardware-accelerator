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57" r:id="rId3"/>
    <p:sldId id="260" r:id="rId4"/>
    <p:sldId id="259" r:id="rId5"/>
    <p:sldId id="265" r:id="rId6"/>
    <p:sldId id="266" r:id="rId7"/>
    <p:sldId id="261" r:id="rId8"/>
    <p:sldId id="262" r:id="rId9"/>
    <p:sldId id="263" r:id="rId10"/>
    <p:sldId id="277" r:id="rId11"/>
    <p:sldId id="264" r:id="rId12"/>
    <p:sldId id="267" r:id="rId13"/>
    <p:sldId id="268" r:id="rId14"/>
    <p:sldId id="269" r:id="rId15"/>
    <p:sldId id="275" r:id="rId16"/>
    <p:sldId id="278" r:id="rId17"/>
    <p:sldId id="276" r:id="rId18"/>
  </p:sldIdLst>
  <p:sldSz cx="18288000" cy="10287000"/>
  <p:notesSz cx="6858000" cy="9144000"/>
  <p:embeddedFontLst>
    <p:embeddedFont>
      <p:font typeface="Poppins" panose="00000500000000000000" pitchFamily="2" charset="0"/>
      <p:regular r:id="rId20"/>
      <p:bold r:id="rId21"/>
      <p: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8" autoAdjust="0"/>
    <p:restoredTop sz="89104" autoAdjust="0"/>
  </p:normalViewPr>
  <p:slideViewPr>
    <p:cSldViewPr>
      <p:cViewPr varScale="1">
        <p:scale>
          <a:sx n="66" d="100"/>
          <a:sy n="66" d="100"/>
        </p:scale>
        <p:origin x="101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32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88CCE1-8D21-4783-A526-5DFC53683244}" type="datetimeFigureOut">
              <a:rPr lang="en-IN" smtClean="0"/>
              <a:t>14-10-2026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8C6993-2B01-48A3-A2CC-A8E23DF6F368}" type="slidenum">
              <a:rPr lang="en-IN" smtClean="0"/>
              <a:t>‹#›</a:t>
            </a:fld>
            <a:endParaRPr lang="en-IN"/>
          </a:p>
        </p:txBody>
      </p:sp>
    </p:spTree>
    <p:extLst>
      <p:ext uri="{BB962C8B-B14F-4D97-AF65-F5344CB8AC3E}">
        <p14:creationId xmlns:p14="http://schemas.microsoft.com/office/powerpoint/2010/main" val="1961418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48C6993-2B01-48A3-A2CC-A8E23DF6F368}" type="slidenum">
              <a:rPr lang="en-IN" smtClean="0"/>
              <a:t>8</a:t>
            </a:fld>
            <a:endParaRPr lang="en-IN"/>
          </a:p>
        </p:txBody>
      </p:sp>
    </p:spTree>
    <p:extLst>
      <p:ext uri="{BB962C8B-B14F-4D97-AF65-F5344CB8AC3E}">
        <p14:creationId xmlns:p14="http://schemas.microsoft.com/office/powerpoint/2010/main" val="1225851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4286">
              <a:srgbClr val="FFFFFF">
                <a:alpha val="100000"/>
              </a:srgbClr>
            </a:gs>
            <a:gs pos="28571">
              <a:srgbClr val="FFFFFF">
                <a:alpha val="100000"/>
              </a:srgbClr>
            </a:gs>
            <a:gs pos="42857">
              <a:srgbClr val="FFFFFF">
                <a:alpha val="100000"/>
              </a:srgbClr>
            </a:gs>
            <a:gs pos="57143">
              <a:srgbClr val="FFFFFF">
                <a:alpha val="100000"/>
              </a:srgbClr>
            </a:gs>
            <a:gs pos="71429">
              <a:srgbClr val="DAF9FF">
                <a:alpha val="100000"/>
              </a:srgbClr>
            </a:gs>
            <a:gs pos="85714">
              <a:srgbClr val="89EAFE">
                <a:alpha val="100000"/>
              </a:srgbClr>
            </a:gs>
            <a:gs pos="100000">
              <a:srgbClr val="3B97EC">
                <a:alpha val="100000"/>
              </a:srgbClr>
            </a:gs>
          </a:gsLst>
          <a:lin ang="2700000"/>
        </a:gradFill>
        <a:effectLst/>
      </p:bgPr>
    </p:bg>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 name="Rectangle 2"/>
          <p:cNvSpPr/>
          <p:nvPr/>
        </p:nvSpPr>
        <p:spPr>
          <a:xfrm>
            <a:off x="0" y="0"/>
            <a:ext cx="256032" cy="102870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4" name="Picture 3" descr="vit_logo.png"/>
          <p:cNvPicPr>
            <a:picLocks noChangeAspect="1"/>
          </p:cNvPicPr>
          <p:nvPr/>
        </p:nvPicPr>
        <p:blipFill>
          <a:blip r:embed="rId2"/>
          <a:stretch>
            <a:fillRect/>
          </a:stretch>
        </p:blipFill>
        <p:spPr>
          <a:xfrm>
            <a:off x="1051560" y="365760"/>
            <a:ext cx="1844040" cy="1844040"/>
          </a:xfrm>
          <a:prstGeom prst="rect">
            <a:avLst/>
          </a:prstGeom>
        </p:spPr>
      </p:pic>
      <p:sp>
        <p:nvSpPr>
          <p:cNvPr id="5" name="TextBox 4"/>
          <p:cNvSpPr txBox="1"/>
          <p:nvPr/>
        </p:nvSpPr>
        <p:spPr>
          <a:xfrm>
            <a:off x="3017520" y="611193"/>
            <a:ext cx="12252960" cy="1246495"/>
          </a:xfrm>
          <a:prstGeom prst="rect">
            <a:avLst/>
          </a:prstGeom>
          <a:noFill/>
        </p:spPr>
        <p:txBody>
          <a:bodyPr wrap="square" lIns="0" tIns="0" rIns="0" bIns="0" anchor="ctr">
            <a:spAutoFit/>
          </a:bodyPr>
          <a:lstStyle/>
          <a:p>
            <a:pPr algn="ctr"/>
            <a:r>
              <a:rPr sz="2800" b="1" i="0">
                <a:solidFill>
                  <a:srgbClr val="0284C7"/>
                </a:solidFill>
                <a:latin typeface="Poppins"/>
              </a:rPr>
              <a:t>Project-1</a:t>
            </a:r>
          </a:p>
          <a:p>
            <a:pPr algn="ctr">
              <a:spcBef>
                <a:spcPts val="200"/>
              </a:spcBef>
            </a:pPr>
            <a:r>
              <a:rPr sz="2800" b="1" i="0">
                <a:solidFill>
                  <a:srgbClr val="0284C7"/>
                </a:solidFill>
                <a:latin typeface="Poppins"/>
              </a:rPr>
              <a:t>Review-II</a:t>
            </a:r>
          </a:p>
          <a:p>
            <a:pPr algn="ctr">
              <a:spcBef>
                <a:spcPts val="400"/>
              </a:spcBef>
            </a:pPr>
            <a:r>
              <a:rPr sz="2000" b="1" i="0">
                <a:solidFill>
                  <a:srgbClr val="0F172A"/>
                </a:solidFill>
                <a:latin typeface="Poppins"/>
              </a:rPr>
              <a:t>School of Electronics Engineering (SENSE)</a:t>
            </a:r>
          </a:p>
        </p:txBody>
      </p:sp>
      <p:sp>
        <p:nvSpPr>
          <p:cNvPr id="6" name="Rectangle 5"/>
          <p:cNvSpPr/>
          <p:nvPr/>
        </p:nvSpPr>
        <p:spPr>
          <a:xfrm>
            <a:off x="1051560" y="2286000"/>
            <a:ext cx="1618488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 name="TextBox 6"/>
          <p:cNvSpPr txBox="1"/>
          <p:nvPr/>
        </p:nvSpPr>
        <p:spPr>
          <a:xfrm>
            <a:off x="1051560" y="2909013"/>
            <a:ext cx="16184880" cy="1323439"/>
          </a:xfrm>
          <a:prstGeom prst="rect">
            <a:avLst/>
          </a:prstGeom>
          <a:noFill/>
        </p:spPr>
        <p:txBody>
          <a:bodyPr wrap="square" lIns="0" tIns="0" rIns="0" bIns="0" anchor="ctr">
            <a:spAutoFit/>
          </a:bodyPr>
          <a:lstStyle/>
          <a:p>
            <a:pPr algn="ctr"/>
            <a:r>
              <a:rPr sz="1400" b="1" i="0" dirty="0">
                <a:solidFill>
                  <a:srgbClr val="0284C7"/>
                </a:solidFill>
                <a:latin typeface="Poppins"/>
              </a:rPr>
              <a:t>B.TECH CAPSTONE PROJECT </a:t>
            </a:r>
            <a:endParaRPr lang="en-IN" sz="1400" b="1" i="0" dirty="0">
              <a:solidFill>
                <a:srgbClr val="0284C7"/>
              </a:solidFill>
              <a:latin typeface="Poppins"/>
            </a:endParaRPr>
          </a:p>
          <a:p>
            <a:pPr algn="ctr"/>
            <a:r>
              <a:rPr sz="3600" b="1" i="0" dirty="0">
                <a:solidFill>
                  <a:srgbClr val="0F172A"/>
                </a:solidFill>
                <a:latin typeface="Poppins"/>
              </a:rPr>
              <a:t>CNN-Based Hardware Accelerator for </a:t>
            </a:r>
            <a:r>
              <a:rPr lang="en-IN" sz="3600" b="1" i="0" dirty="0">
                <a:solidFill>
                  <a:srgbClr val="0F172A"/>
                </a:solidFill>
                <a:latin typeface="Poppins"/>
              </a:rPr>
              <a:t>Automated</a:t>
            </a:r>
            <a:r>
              <a:rPr sz="3600" b="1" i="0" dirty="0">
                <a:solidFill>
                  <a:srgbClr val="0F172A"/>
                </a:solidFill>
                <a:latin typeface="Poppins"/>
              </a:rPr>
              <a:t>
Solar Panel Condition and Fault Classification</a:t>
            </a:r>
          </a:p>
        </p:txBody>
      </p:sp>
      <p:sp>
        <p:nvSpPr>
          <p:cNvPr id="8" name="Rounded Rectangle 7"/>
          <p:cNvSpPr/>
          <p:nvPr/>
        </p:nvSpPr>
        <p:spPr>
          <a:xfrm>
            <a:off x="1051560" y="4800600"/>
            <a:ext cx="7909560" cy="3977639"/>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 name="TextBox 8"/>
          <p:cNvSpPr txBox="1"/>
          <p:nvPr/>
        </p:nvSpPr>
        <p:spPr>
          <a:xfrm>
            <a:off x="1371600" y="5074920"/>
            <a:ext cx="7269480" cy="276999"/>
          </a:xfrm>
          <a:prstGeom prst="rect">
            <a:avLst/>
          </a:prstGeom>
          <a:noFill/>
        </p:spPr>
        <p:txBody>
          <a:bodyPr wrap="square" lIns="0" tIns="0" rIns="0" bIns="0">
            <a:spAutoFit/>
          </a:bodyPr>
          <a:lstStyle/>
          <a:p>
            <a:r>
              <a:rPr b="1" i="0">
                <a:solidFill>
                  <a:srgbClr val="0284C7"/>
                </a:solidFill>
                <a:latin typeface="Poppins"/>
              </a:rPr>
              <a:t>Team members:</a:t>
            </a:r>
          </a:p>
        </p:txBody>
      </p:sp>
      <p:sp>
        <p:nvSpPr>
          <p:cNvPr id="10" name="Rectangle 9"/>
          <p:cNvSpPr/>
          <p:nvPr/>
        </p:nvSpPr>
        <p:spPr>
          <a:xfrm>
            <a:off x="1371600" y="5532120"/>
            <a:ext cx="726948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 name="Rounded Rectangle 10"/>
          <p:cNvSpPr/>
          <p:nvPr/>
        </p:nvSpPr>
        <p:spPr>
          <a:xfrm>
            <a:off x="1371600" y="5715000"/>
            <a:ext cx="7269480"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 name="Rounded Rectangle 11"/>
          <p:cNvSpPr/>
          <p:nvPr/>
        </p:nvSpPr>
        <p:spPr>
          <a:xfrm>
            <a:off x="1371600" y="5715000"/>
            <a:ext cx="73152" cy="77724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3" name="TextBox 12"/>
          <p:cNvSpPr txBox="1"/>
          <p:nvPr/>
        </p:nvSpPr>
        <p:spPr>
          <a:xfrm>
            <a:off x="1600200" y="6055853"/>
            <a:ext cx="6812280" cy="246221"/>
          </a:xfrm>
          <a:prstGeom prst="rect">
            <a:avLst/>
          </a:prstGeom>
          <a:noFill/>
        </p:spPr>
        <p:txBody>
          <a:bodyPr wrap="square" lIns="0" tIns="0" rIns="0" bIns="0">
            <a:spAutoFit/>
          </a:bodyPr>
          <a:lstStyle/>
          <a:p>
            <a:r>
              <a:rPr sz="1600" b="1" i="0" dirty="0">
                <a:solidFill>
                  <a:srgbClr val="0F172A"/>
                </a:solidFill>
                <a:latin typeface="Poppins"/>
              </a:rPr>
              <a:t>Hari </a:t>
            </a:r>
            <a:r>
              <a:rPr sz="1600" b="1" i="0" dirty="0" err="1">
                <a:solidFill>
                  <a:srgbClr val="0F172A"/>
                </a:solidFill>
                <a:latin typeface="Poppins"/>
              </a:rPr>
              <a:t>Kruthik</a:t>
            </a:r>
            <a:r>
              <a:rPr sz="1600" b="1" i="0" dirty="0">
                <a:solidFill>
                  <a:srgbClr val="0F172A"/>
                </a:solidFill>
                <a:latin typeface="Poppins"/>
              </a:rPr>
              <a:t> S K</a:t>
            </a:r>
            <a:r>
              <a:rPr sz="1600" b="1" i="0" dirty="0">
                <a:solidFill>
                  <a:srgbClr val="0284C7"/>
                </a:solidFill>
                <a:latin typeface="Poppins"/>
              </a:rPr>
              <a:t>   |   23BEC0358</a:t>
            </a:r>
          </a:p>
        </p:txBody>
      </p:sp>
      <p:sp>
        <p:nvSpPr>
          <p:cNvPr id="14" name="Rounded Rectangle 13"/>
          <p:cNvSpPr/>
          <p:nvPr/>
        </p:nvSpPr>
        <p:spPr>
          <a:xfrm>
            <a:off x="1371600" y="6647688"/>
            <a:ext cx="7269480"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5" name="Rounded Rectangle 14"/>
          <p:cNvSpPr/>
          <p:nvPr/>
        </p:nvSpPr>
        <p:spPr>
          <a:xfrm>
            <a:off x="1371600" y="6647688"/>
            <a:ext cx="73152" cy="77724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TextBox 15"/>
          <p:cNvSpPr txBox="1"/>
          <p:nvPr/>
        </p:nvSpPr>
        <p:spPr>
          <a:xfrm>
            <a:off x="1600200" y="6956018"/>
            <a:ext cx="6812280" cy="246221"/>
          </a:xfrm>
          <a:prstGeom prst="rect">
            <a:avLst/>
          </a:prstGeom>
          <a:noFill/>
        </p:spPr>
        <p:txBody>
          <a:bodyPr wrap="square" lIns="0" tIns="0" rIns="0" bIns="0">
            <a:spAutoFit/>
          </a:bodyPr>
          <a:lstStyle/>
          <a:p>
            <a:r>
              <a:rPr sz="1600" b="1" i="0" dirty="0">
                <a:solidFill>
                  <a:srgbClr val="0F172A"/>
                </a:solidFill>
                <a:latin typeface="Poppins"/>
              </a:rPr>
              <a:t>Rudresh K P</a:t>
            </a:r>
            <a:r>
              <a:rPr sz="1600" b="1" i="0" dirty="0">
                <a:solidFill>
                  <a:srgbClr val="0284C7"/>
                </a:solidFill>
                <a:latin typeface="Poppins"/>
              </a:rPr>
              <a:t>   |   23BEC0169</a:t>
            </a:r>
          </a:p>
        </p:txBody>
      </p:sp>
      <p:sp>
        <p:nvSpPr>
          <p:cNvPr id="17" name="Rounded Rectangle 16"/>
          <p:cNvSpPr/>
          <p:nvPr/>
        </p:nvSpPr>
        <p:spPr>
          <a:xfrm>
            <a:off x="1371600" y="7580375"/>
            <a:ext cx="7269480"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8" name="Rounded Rectangle 17"/>
          <p:cNvSpPr/>
          <p:nvPr/>
        </p:nvSpPr>
        <p:spPr>
          <a:xfrm>
            <a:off x="1371600" y="7580375"/>
            <a:ext cx="73152" cy="77724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9" name="TextBox 18"/>
          <p:cNvSpPr txBox="1"/>
          <p:nvPr/>
        </p:nvSpPr>
        <p:spPr>
          <a:xfrm>
            <a:off x="1600200" y="7861273"/>
            <a:ext cx="6812280" cy="246221"/>
          </a:xfrm>
          <a:prstGeom prst="rect">
            <a:avLst/>
          </a:prstGeom>
          <a:noFill/>
        </p:spPr>
        <p:txBody>
          <a:bodyPr wrap="square" lIns="0" tIns="0" rIns="0" bIns="0">
            <a:spAutoFit/>
          </a:bodyPr>
          <a:lstStyle/>
          <a:p>
            <a:r>
              <a:rPr sz="1600" b="1" i="0" dirty="0" err="1">
                <a:solidFill>
                  <a:srgbClr val="0F172A"/>
                </a:solidFill>
                <a:latin typeface="Poppins"/>
              </a:rPr>
              <a:t>Viswin</a:t>
            </a:r>
            <a:r>
              <a:rPr sz="1600" b="1" i="0" dirty="0">
                <a:solidFill>
                  <a:srgbClr val="0F172A"/>
                </a:solidFill>
                <a:latin typeface="Poppins"/>
              </a:rPr>
              <a:t> Kumar</a:t>
            </a:r>
            <a:r>
              <a:rPr lang="en-IN" sz="1600" b="1" i="0" dirty="0">
                <a:solidFill>
                  <a:srgbClr val="0F172A"/>
                </a:solidFill>
                <a:latin typeface="Poppins"/>
              </a:rPr>
              <a:t> R K</a:t>
            </a:r>
            <a:r>
              <a:rPr sz="1600" b="1" i="0" dirty="0">
                <a:solidFill>
                  <a:srgbClr val="0284C7"/>
                </a:solidFill>
                <a:latin typeface="Poppins"/>
              </a:rPr>
              <a:t>   |   23BEC0088</a:t>
            </a:r>
          </a:p>
        </p:txBody>
      </p:sp>
      <p:sp>
        <p:nvSpPr>
          <p:cNvPr id="20" name="Rounded Rectangle 19"/>
          <p:cNvSpPr/>
          <p:nvPr/>
        </p:nvSpPr>
        <p:spPr>
          <a:xfrm>
            <a:off x="9326880" y="4800600"/>
            <a:ext cx="7909560" cy="3977639"/>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1" name="TextBox 20"/>
          <p:cNvSpPr txBox="1"/>
          <p:nvPr/>
        </p:nvSpPr>
        <p:spPr>
          <a:xfrm>
            <a:off x="9646920" y="5074920"/>
            <a:ext cx="7269480" cy="276999"/>
          </a:xfrm>
          <a:prstGeom prst="rect">
            <a:avLst/>
          </a:prstGeom>
          <a:noFill/>
        </p:spPr>
        <p:txBody>
          <a:bodyPr wrap="square" lIns="0" tIns="0" rIns="0" bIns="0">
            <a:spAutoFit/>
          </a:bodyPr>
          <a:lstStyle/>
          <a:p>
            <a:r>
              <a:rPr b="1" i="0">
                <a:solidFill>
                  <a:srgbClr val="0284C7"/>
                </a:solidFill>
                <a:latin typeface="Poppins"/>
              </a:rPr>
              <a:t>Under the guidance of:</a:t>
            </a:r>
          </a:p>
        </p:txBody>
      </p:sp>
      <p:sp>
        <p:nvSpPr>
          <p:cNvPr id="22" name="Rectangle 21"/>
          <p:cNvSpPr/>
          <p:nvPr/>
        </p:nvSpPr>
        <p:spPr>
          <a:xfrm>
            <a:off x="9646920" y="5532120"/>
            <a:ext cx="726948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3" name="Rounded Rectangle 22"/>
          <p:cNvSpPr/>
          <p:nvPr/>
        </p:nvSpPr>
        <p:spPr>
          <a:xfrm>
            <a:off x="9646920" y="5715000"/>
            <a:ext cx="7269480" cy="2651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4" name="Rounded Rectangle 23"/>
          <p:cNvSpPr/>
          <p:nvPr/>
        </p:nvSpPr>
        <p:spPr>
          <a:xfrm>
            <a:off x="9646920" y="5715000"/>
            <a:ext cx="73152" cy="265176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5" name="TextBox 24"/>
          <p:cNvSpPr txBox="1"/>
          <p:nvPr/>
        </p:nvSpPr>
        <p:spPr>
          <a:xfrm>
            <a:off x="9921240" y="5943600"/>
            <a:ext cx="6720840" cy="1672253"/>
          </a:xfrm>
          <a:prstGeom prst="rect">
            <a:avLst/>
          </a:prstGeom>
          <a:noFill/>
        </p:spPr>
        <p:txBody>
          <a:bodyPr wrap="square" lIns="0" tIns="0" rIns="0" bIns="0">
            <a:spAutoFit/>
          </a:bodyPr>
          <a:lstStyle/>
          <a:p>
            <a:r>
              <a:rPr sz="2800" b="1" i="0" dirty="0">
                <a:solidFill>
                  <a:srgbClr val="0F172A"/>
                </a:solidFill>
                <a:latin typeface="Poppins"/>
              </a:rPr>
              <a:t>Dr. Arunachalam V</a:t>
            </a:r>
          </a:p>
          <a:p>
            <a:pPr>
              <a:spcBef>
                <a:spcPts val="400"/>
              </a:spcBef>
            </a:pPr>
            <a:r>
              <a:rPr b="1" i="0" dirty="0">
                <a:solidFill>
                  <a:srgbClr val="0284C7"/>
                </a:solidFill>
                <a:latin typeface="Poppins"/>
              </a:rPr>
              <a:t>Professor Grade 1</a:t>
            </a:r>
          </a:p>
          <a:p>
            <a:pPr>
              <a:spcBef>
                <a:spcPts val="800"/>
              </a:spcBef>
            </a:pPr>
            <a:r>
              <a:rPr sz="1600" b="0" i="0" dirty="0">
                <a:solidFill>
                  <a:srgbClr val="334155"/>
                </a:solidFill>
                <a:latin typeface="Poppins"/>
              </a:rPr>
              <a:t>Department of Micro and Nanoelectronics</a:t>
            </a:r>
          </a:p>
          <a:p>
            <a:pPr>
              <a:spcBef>
                <a:spcPts val="400"/>
              </a:spcBef>
            </a:pPr>
            <a:r>
              <a:rPr sz="1600" b="0" i="0" dirty="0">
                <a:solidFill>
                  <a:srgbClr val="334155"/>
                </a:solidFill>
                <a:latin typeface="Poppins"/>
              </a:rPr>
              <a:t>School of Electronics Engineering (SENSE)</a:t>
            </a:r>
          </a:p>
          <a:p>
            <a:pPr>
              <a:spcBef>
                <a:spcPts val="400"/>
              </a:spcBef>
            </a:pPr>
            <a:r>
              <a:rPr sz="1400" b="0" i="1" dirty="0">
                <a:solidFill>
                  <a:srgbClr val="64748B"/>
                </a:solidFill>
                <a:latin typeface="Poppins"/>
              </a:rPr>
              <a:t>Vellore Institute of Technology (VIT), Vellore</a:t>
            </a:r>
          </a:p>
        </p:txBody>
      </p:sp>
      <p:sp>
        <p:nvSpPr>
          <p:cNvPr id="26" name="Rectangle 25"/>
          <p:cNvSpPr/>
          <p:nvPr/>
        </p:nvSpPr>
        <p:spPr>
          <a:xfrm>
            <a:off x="1051560" y="9006840"/>
            <a:ext cx="1618488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7" name="TextBox 26"/>
          <p:cNvSpPr txBox="1"/>
          <p:nvPr/>
        </p:nvSpPr>
        <p:spPr>
          <a:xfrm>
            <a:off x="1051560" y="9189720"/>
            <a:ext cx="16184880" cy="184666"/>
          </a:xfrm>
          <a:prstGeom prst="rect">
            <a:avLst/>
          </a:prstGeom>
          <a:noFill/>
        </p:spPr>
        <p:txBody>
          <a:bodyPr wrap="square" lIns="0" tIns="0" rIns="0" bIns="0">
            <a:spAutoFit/>
          </a:bodyPr>
          <a:lstStyle/>
          <a:p>
            <a:r>
              <a:rPr sz="1200" b="0" i="0" dirty="0">
                <a:solidFill>
                  <a:srgbClr val="64748B"/>
                </a:solidFill>
                <a:latin typeface="Poppins"/>
              </a:rPr>
              <a:t>Project-1 Review-2  |  MNE_PANEL_3  |  Venue: TT-237-A  |  Date: October 14, 2026                          </a:t>
            </a:r>
            <a:r>
              <a:rPr lang="en-IN" sz="1200" b="0" i="0" dirty="0">
                <a:solidFill>
                  <a:srgbClr val="64748B"/>
                </a:solidFill>
                <a:latin typeface="Poppins"/>
              </a:rPr>
              <a:t>                                                                                                                        </a:t>
            </a:r>
            <a:r>
              <a:rPr sz="1200" b="1" i="0" dirty="0">
                <a:solidFill>
                  <a:srgbClr val="0284C7"/>
                </a:solidFill>
                <a:latin typeface="Poppins"/>
              </a:rPr>
              <a:t>Slide 1 of 18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4286">
              <a:srgbClr val="FFFFFF">
                <a:alpha val="100000"/>
              </a:srgbClr>
            </a:gs>
            <a:gs pos="28571">
              <a:srgbClr val="FFFFFF">
                <a:alpha val="100000"/>
              </a:srgbClr>
            </a:gs>
            <a:gs pos="42857">
              <a:srgbClr val="FFFFFF">
                <a:alpha val="100000"/>
              </a:srgbClr>
            </a:gs>
            <a:gs pos="57143">
              <a:srgbClr val="FFFFFF">
                <a:alpha val="100000"/>
              </a:srgbClr>
            </a:gs>
            <a:gs pos="71429">
              <a:srgbClr val="DAF9FF">
                <a:alpha val="100000"/>
              </a:srgbClr>
            </a:gs>
            <a:gs pos="85714">
              <a:srgbClr val="89EAFE">
                <a:alpha val="100000"/>
              </a:srgbClr>
            </a:gs>
            <a:gs pos="100000">
              <a:srgbClr val="3B97EC">
                <a:alpha val="100000"/>
              </a:srgbClr>
            </a:gs>
          </a:gsLst>
          <a:lin ang="2700000"/>
        </a:gradFill>
        <a:effectLst/>
      </p:bgPr>
    </p:bg>
    <p:spTree>
      <p:nvGrpSpPr>
        <p:cNvPr id="1" name=""/>
        <p:cNvGrpSpPr/>
        <p:nvPr/>
      </p:nvGrpSpPr>
      <p:grpSpPr>
        <a:xfrm>
          <a:off x="0" y="0"/>
          <a:ext cx="0" cy="0"/>
          <a:chOff x="0" y="0"/>
          <a:chExt cx="0" cy="0"/>
        </a:xfrm>
      </p:grpSpPr>
      <p:sp>
        <p:nvSpPr>
          <p:cNvPr id="2" name="TextBox 1"/>
          <p:cNvSpPr txBox="1"/>
          <p:nvPr/>
        </p:nvSpPr>
        <p:spPr>
          <a:xfrm>
            <a:off x="914400" y="438912"/>
            <a:ext cx="16459200" cy="1023357"/>
          </a:xfrm>
          <a:prstGeom prst="rect">
            <a:avLst/>
          </a:prstGeom>
          <a:noFill/>
        </p:spPr>
        <p:txBody>
          <a:bodyPr wrap="square" lIns="0" tIns="0" rIns="0" bIns="0">
            <a:spAutoFit/>
          </a:bodyPr>
          <a:lstStyle/>
          <a:p>
            <a:r>
              <a:rPr sz="4000" b="1" i="0">
                <a:solidFill>
                  <a:srgbClr val="0284C7"/>
                </a:solidFill>
                <a:latin typeface="Poppins"/>
              </a:rPr>
              <a:t>Fault Dynamics in Indian Residential Rooftop Solar System</a:t>
            </a:r>
          </a:p>
          <a:p>
            <a:pPr>
              <a:spcBef>
                <a:spcPts val="300"/>
              </a:spcBef>
            </a:pPr>
            <a:r>
              <a:rPr sz="2400" b="1" i="0">
                <a:solidFill>
                  <a:srgbClr val="0F172A"/>
                </a:solidFill>
                <a:latin typeface="Poppins"/>
              </a:rPr>
              <a:t>PM Surya Ghar: Muft Bijli Yojana  |  Edge-AI-Based PV Condition &amp; Fault Diagnosis</a:t>
            </a:r>
          </a:p>
        </p:txBody>
      </p:sp>
      <p:sp>
        <p:nvSpPr>
          <p:cNvPr id="3" name="Rectangle 2"/>
          <p:cNvSpPr/>
          <p:nvPr/>
        </p:nvSpPr>
        <p:spPr>
          <a:xfrm>
            <a:off x="914400" y="9646920"/>
            <a:ext cx="16459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 name="TextBox 3"/>
          <p:cNvSpPr txBox="1"/>
          <p:nvPr/>
        </p:nvSpPr>
        <p:spPr>
          <a:xfrm>
            <a:off x="914400" y="9738360"/>
            <a:ext cx="15355166" cy="215444"/>
          </a:xfrm>
          <a:prstGeom prst="rect">
            <a:avLst/>
          </a:prstGeom>
          <a:noFill/>
        </p:spPr>
        <p:txBody>
          <a:bodyPr wrap="none" lIns="0" tIns="0" rIns="0" bIns="0">
            <a:spAutoFit/>
          </a:bodyPr>
          <a:lstStyle/>
          <a:p>
            <a:r>
              <a:rPr sz="1400" b="0" i="0" dirty="0">
                <a:solidFill>
                  <a:srgbClr val="64748B"/>
                </a:solidFill>
                <a:latin typeface="Poppins"/>
              </a:rPr>
              <a:t>Project-1 Review-2  |  MNE_PANEL_3  |  Venue: TT-237-A  |  SENSE, VIT Vellore                        Department of Electronics and Communication Engineering                        </a:t>
            </a:r>
            <a:r>
              <a:rPr sz="1400" b="1" i="0" dirty="0">
                <a:solidFill>
                  <a:srgbClr val="0284C7"/>
                </a:solidFill>
                <a:latin typeface="Poppins"/>
              </a:rPr>
              <a:t>Slide 2 of 18</a:t>
            </a:r>
          </a:p>
        </p:txBody>
      </p:sp>
      <p:sp>
        <p:nvSpPr>
          <p:cNvPr id="5" name="Rounded Rectangle 4"/>
          <p:cNvSpPr/>
          <p:nvPr/>
        </p:nvSpPr>
        <p:spPr>
          <a:xfrm>
            <a:off x="914400" y="1554480"/>
            <a:ext cx="16459200" cy="685800"/>
          </a:xfrm>
          <a:prstGeom prst="roundRect">
            <a:avLst/>
          </a:prstGeom>
          <a:solidFill>
            <a:srgbClr val="E0F2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ctr"/>
            <a:r>
              <a:rPr b="1" i="0">
                <a:solidFill>
                  <a:srgbClr val="0284C7"/>
                </a:solidFill>
                <a:latin typeface="Poppins"/>
              </a:rPr>
              <a:t>CASE SURVEY &amp; OPERATIONAL CONTEXT: </a:t>
            </a:r>
            <a:r>
              <a:rPr sz="1600" b="0" i="0">
                <a:solidFill>
                  <a:srgbClr val="334155"/>
                </a:solidFill>
                <a:latin typeface="Poppins"/>
              </a:rPr>
              <a:t>Under the PM Surya Ghar national scheme, 3–5 kW residential installations operate unmonitored in dense urban microclimates, exposed to particulate soot, localized avian shading, and irreversible thermal stress.</a:t>
            </a:r>
          </a:p>
        </p:txBody>
      </p:sp>
      <p:sp>
        <p:nvSpPr>
          <p:cNvPr id="6" name="Rounded Rectangle 5"/>
          <p:cNvSpPr/>
          <p:nvPr/>
        </p:nvSpPr>
        <p:spPr>
          <a:xfrm>
            <a:off x="914400" y="2423160"/>
            <a:ext cx="5303520" cy="6995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pic>
        <p:nvPicPr>
          <p:cNvPr id="7" name="Picture 6" descr="image.jpeg"/>
          <p:cNvPicPr>
            <a:picLocks noChangeAspect="1"/>
          </p:cNvPicPr>
          <p:nvPr/>
        </p:nvPicPr>
        <p:blipFill>
          <a:blip r:embed="rId2"/>
          <a:stretch>
            <a:fillRect/>
          </a:stretch>
        </p:blipFill>
        <p:spPr>
          <a:xfrm>
            <a:off x="1051560" y="2560320"/>
            <a:ext cx="5029200" cy="5577840"/>
          </a:xfrm>
          <a:prstGeom prst="rect">
            <a:avLst/>
          </a:prstGeom>
        </p:spPr>
      </p:pic>
      <p:sp>
        <p:nvSpPr>
          <p:cNvPr id="8" name="Rounded Rectangle 7"/>
          <p:cNvSpPr/>
          <p:nvPr/>
        </p:nvSpPr>
        <p:spPr>
          <a:xfrm>
            <a:off x="1051560" y="8275320"/>
            <a:ext cx="5029200" cy="1005840"/>
          </a:xfrm>
          <a:prstGeom prst="roundRect">
            <a:avLst/>
          </a:prstGeom>
          <a:solidFill>
            <a:srgbClr val="182538"/>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600" b="1" i="0">
                <a:solidFill>
                  <a:srgbClr val="38BDF8"/>
                </a:solidFill>
                <a:latin typeface="Poppins"/>
              </a:rPr>
              <a:t>Residential PV Array Surface Exposure
</a:t>
            </a:r>
            <a:r>
              <a:rPr sz="1200" b="0" i="0">
                <a:solidFill>
                  <a:srgbClr val="E2E8F0"/>
                </a:solidFill>
                <a:latin typeface="Poppins"/>
              </a:rPr>
              <a:t>Decentralized rooftop inverters lack localized spatial diagnostics to differentiate fouling states.</a:t>
            </a:r>
          </a:p>
        </p:txBody>
      </p:sp>
      <p:sp>
        <p:nvSpPr>
          <p:cNvPr id="9" name="Rounded Rectangle 8"/>
          <p:cNvSpPr/>
          <p:nvPr/>
        </p:nvSpPr>
        <p:spPr>
          <a:xfrm>
            <a:off x="6492240" y="2423160"/>
            <a:ext cx="10881360" cy="1645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92608" tIns="109728" rIns="219456" rtlCol="0" anchor="t"/>
          <a:lstStyle/>
          <a:p>
            <a:pPr algn="ctr"/>
            <a:r>
              <a:rPr b="1" i="0">
                <a:solidFill>
                  <a:srgbClr val="0F172A"/>
                </a:solidFill>
                <a:latin typeface="Poppins"/>
              </a:rPr>
              <a:t>Particulate Soiling &amp; Generation Attenuation (Field Survey Evidence)</a:t>
            </a:r>
          </a:p>
          <a:p>
            <a:pPr>
              <a:spcBef>
                <a:spcPts val="200"/>
              </a:spcBef>
            </a:pPr>
            <a:r>
              <a:rPr sz="1200" b="0" i="0">
                <a:solidFill>
                  <a:srgbClr val="334155"/>
                </a:solidFill>
                <a:latin typeface="Poppins"/>
              </a:rPr>
              <a:t>• Optical Attenuation: Airborne dust and particulate matter create an optical extinction boundary scattering incoming irradiance.</a:t>
            </a:r>
          </a:p>
          <a:p>
            <a:pPr>
              <a:spcBef>
                <a:spcPts val="200"/>
              </a:spcBef>
            </a:pPr>
            <a:r>
              <a:rPr sz="1200" b="0" i="0">
                <a:solidFill>
                  <a:srgbClr val="334155"/>
                </a:solidFill>
                <a:latin typeface="Poppins"/>
              </a:rPr>
              <a:t>• Bangalore Urban Rooftop Study [Mani &amp; Pillai, Renew. Sust. Energy Rev.]: Comparative 30-day study recorded ~20% monthly generation loss in uncleaned modules vs &lt;4% with weekly cleaning.</a:t>
            </a:r>
          </a:p>
          <a:p>
            <a:pPr>
              <a:spcBef>
                <a:spcPts val="200"/>
              </a:spcBef>
            </a:pPr>
            <a:r>
              <a:rPr sz="1200" b="0" i="0">
                <a:solidFill>
                  <a:srgbClr val="334155"/>
                </a:solidFill>
                <a:latin typeface="Poppins"/>
              </a:rPr>
              <a:t>• Delhi NCR Particulate Study [DTU / CEEW Soiling Survey]: Documented persistent 0.25%/day (~7.6% monthly) loss rate under heavy PM2.5 vehicular carbonaceous soot.</a:t>
            </a:r>
          </a:p>
        </p:txBody>
      </p:sp>
      <p:sp>
        <p:nvSpPr>
          <p:cNvPr id="10" name="Rectangle 9"/>
          <p:cNvSpPr/>
          <p:nvPr/>
        </p:nvSpPr>
        <p:spPr>
          <a:xfrm>
            <a:off x="6492240" y="2423160"/>
            <a:ext cx="109728" cy="16459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1" name="Rounded Rectangle 10"/>
          <p:cNvSpPr/>
          <p:nvPr/>
        </p:nvSpPr>
        <p:spPr>
          <a:xfrm>
            <a:off x="6492240" y="4206240"/>
            <a:ext cx="10881360" cy="1645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92608" tIns="109728" rIns="219456" rtlCol="0" anchor="t"/>
          <a:lstStyle/>
          <a:p>
            <a:pPr algn="ctr"/>
            <a:r>
              <a:rPr b="1" i="0" dirty="0">
                <a:solidFill>
                  <a:srgbClr val="0F172A"/>
                </a:solidFill>
                <a:latin typeface="Poppins"/>
              </a:rPr>
              <a:t>Localized Opaque Shading (Urban Bird-Drop &amp; Series Circuit Constraint)</a:t>
            </a:r>
          </a:p>
          <a:p>
            <a:pPr>
              <a:spcBef>
                <a:spcPts val="200"/>
              </a:spcBef>
            </a:pPr>
            <a:r>
              <a:rPr sz="1200" b="0" i="0" dirty="0">
                <a:solidFill>
                  <a:srgbClr val="334155"/>
                </a:solidFill>
                <a:latin typeface="Poppins"/>
              </a:rPr>
              <a:t>• Localized Shading: Rock pigeons (Columba </a:t>
            </a:r>
            <a:r>
              <a:rPr sz="1200" b="0" i="0" dirty="0" err="1">
                <a:solidFill>
                  <a:srgbClr val="334155"/>
                </a:solidFill>
                <a:latin typeface="Poppins"/>
              </a:rPr>
              <a:t>livia</a:t>
            </a:r>
            <a:r>
              <a:rPr sz="1200" b="0" i="0" dirty="0">
                <a:solidFill>
                  <a:srgbClr val="334155"/>
                </a:solidFill>
                <a:latin typeface="Poppins"/>
              </a:rPr>
              <a:t>) nesting near arrays deposit non-uniform, opaque guano patches across isolated cells.</a:t>
            </a:r>
          </a:p>
          <a:p>
            <a:pPr>
              <a:spcBef>
                <a:spcPts val="200"/>
              </a:spcBef>
            </a:pPr>
            <a:r>
              <a:rPr sz="1200" b="0" i="0" dirty="0">
                <a:solidFill>
                  <a:srgbClr val="334155"/>
                </a:solidFill>
                <a:latin typeface="Poppins"/>
              </a:rPr>
              <a:t>• Series Current Choke [</a:t>
            </a:r>
            <a:r>
              <a:rPr sz="1200" b="0" i="0" dirty="0" err="1">
                <a:solidFill>
                  <a:srgbClr val="334155"/>
                </a:solidFill>
                <a:latin typeface="Poppins"/>
              </a:rPr>
              <a:t>Maghami</a:t>
            </a:r>
            <a:r>
              <a:rPr sz="1200" b="0" i="0" dirty="0">
                <a:solidFill>
                  <a:srgbClr val="334155"/>
                </a:solidFill>
                <a:latin typeface="Poppins"/>
              </a:rPr>
              <a:t> et al., IEEE Access]: Modules wired in series strings choke total string current to the </a:t>
            </a:r>
            <a:r>
              <a:rPr sz="1200" i="0" dirty="0">
                <a:solidFill>
                  <a:srgbClr val="334155"/>
                </a:solidFill>
                <a:latin typeface="Poppins"/>
              </a:rPr>
              <a:t>shaded</a:t>
            </a:r>
            <a:r>
              <a:rPr sz="1200" b="1" i="0" dirty="0">
                <a:solidFill>
                  <a:srgbClr val="334155"/>
                </a:solidFill>
                <a:latin typeface="Poppins"/>
              </a:rPr>
              <a:t> </a:t>
            </a:r>
            <a:r>
              <a:rPr sz="1200" i="0" dirty="0">
                <a:solidFill>
                  <a:srgbClr val="334155"/>
                </a:solidFill>
                <a:latin typeface="Poppins"/>
              </a:rPr>
              <a:t>cell</a:t>
            </a:r>
            <a:r>
              <a:rPr sz="1200" b="0" i="0" dirty="0">
                <a:solidFill>
                  <a:srgbClr val="334155"/>
                </a:solidFill>
                <a:latin typeface="Poppins"/>
              </a:rPr>
              <a:t>: </a:t>
            </a:r>
            <a:r>
              <a:rPr sz="1200" b="0" i="0" dirty="0" err="1">
                <a:solidFill>
                  <a:srgbClr val="334155"/>
                </a:solidFill>
                <a:latin typeface="Poppins"/>
              </a:rPr>
              <a:t>I_string</a:t>
            </a:r>
            <a:r>
              <a:rPr sz="1200" b="0" i="0" dirty="0">
                <a:solidFill>
                  <a:srgbClr val="334155"/>
                </a:solidFill>
                <a:latin typeface="Poppins"/>
              </a:rPr>
              <a:t> ≈ min(I_ph,1, ..., </a:t>
            </a:r>
            <a:r>
              <a:rPr sz="1200" b="0" i="0" dirty="0" err="1">
                <a:solidFill>
                  <a:srgbClr val="334155"/>
                </a:solidFill>
                <a:latin typeface="Poppins"/>
              </a:rPr>
              <a:t>I_ph,n</a:t>
            </a:r>
            <a:r>
              <a:rPr sz="1200" b="0" i="0" dirty="0">
                <a:solidFill>
                  <a:srgbClr val="334155"/>
                </a:solidFill>
                <a:latin typeface="Poppins"/>
              </a:rPr>
              <a:t>).</a:t>
            </a:r>
          </a:p>
          <a:p>
            <a:pPr>
              <a:spcBef>
                <a:spcPts val="200"/>
              </a:spcBef>
            </a:pPr>
            <a:r>
              <a:rPr sz="1200" b="0" i="0" dirty="0">
                <a:solidFill>
                  <a:srgbClr val="334155"/>
                </a:solidFill>
                <a:latin typeface="Poppins"/>
              </a:rPr>
              <a:t>• Field Evidence: Just 1–2 opaque droppings trigger an instantaneous 15%–35% collapse in series string yield across residential installations.</a:t>
            </a:r>
          </a:p>
        </p:txBody>
      </p:sp>
      <p:sp>
        <p:nvSpPr>
          <p:cNvPr id="12" name="Rectangle 11"/>
          <p:cNvSpPr/>
          <p:nvPr/>
        </p:nvSpPr>
        <p:spPr>
          <a:xfrm>
            <a:off x="6492240" y="4206240"/>
            <a:ext cx="109728" cy="16459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3" name="Rounded Rectangle 12"/>
          <p:cNvSpPr/>
          <p:nvPr/>
        </p:nvSpPr>
        <p:spPr>
          <a:xfrm>
            <a:off x="6492240" y="5989320"/>
            <a:ext cx="10881360" cy="1645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92608" tIns="109728" rIns="219456" rtlCol="0" anchor="t"/>
          <a:lstStyle/>
          <a:p>
            <a:pPr algn="ctr"/>
            <a:r>
              <a:rPr b="1" i="0" dirty="0">
                <a:solidFill>
                  <a:srgbClr val="0F172A"/>
                </a:solidFill>
                <a:latin typeface="Poppins"/>
              </a:rPr>
              <a:t>Thermal Hotspots &amp; Irreversible Physical Cell Degradation</a:t>
            </a:r>
          </a:p>
          <a:p>
            <a:pPr>
              <a:spcBef>
                <a:spcPts val="200"/>
              </a:spcBef>
            </a:pPr>
            <a:r>
              <a:rPr sz="1200" b="0" i="0" dirty="0">
                <a:solidFill>
                  <a:srgbClr val="334155"/>
                </a:solidFill>
                <a:latin typeface="Poppins"/>
              </a:rPr>
              <a:t>• Reverse-Bias Heating [</a:t>
            </a:r>
            <a:r>
              <a:rPr sz="1200" b="0" i="0" dirty="0" err="1">
                <a:solidFill>
                  <a:srgbClr val="334155"/>
                </a:solidFill>
                <a:latin typeface="Poppins"/>
              </a:rPr>
              <a:t>Dhimish</a:t>
            </a:r>
            <a:r>
              <a:rPr sz="1200" b="0" i="0" dirty="0">
                <a:solidFill>
                  <a:srgbClr val="334155"/>
                </a:solidFill>
                <a:latin typeface="Poppins"/>
              </a:rPr>
              <a:t> et al., IEEE Trans. Electron Devices]: Shaded cells forced to conduct string current dissipate power as heat: </a:t>
            </a:r>
            <a:r>
              <a:rPr sz="1200" b="0" i="0" dirty="0" err="1">
                <a:solidFill>
                  <a:srgbClr val="334155"/>
                </a:solidFill>
                <a:latin typeface="Poppins"/>
              </a:rPr>
              <a:t>P_diss</a:t>
            </a:r>
            <a:r>
              <a:rPr sz="1200" b="0" i="0" dirty="0">
                <a:solidFill>
                  <a:srgbClr val="334155"/>
                </a:solidFill>
                <a:latin typeface="Poppins"/>
              </a:rPr>
              <a:t> ≈ </a:t>
            </a:r>
            <a:r>
              <a:rPr sz="1200" b="0" i="0" dirty="0" err="1">
                <a:solidFill>
                  <a:srgbClr val="334155"/>
                </a:solidFill>
                <a:latin typeface="Poppins"/>
              </a:rPr>
              <a:t>I_string</a:t>
            </a:r>
            <a:r>
              <a:rPr sz="1200" b="0" i="0" dirty="0">
                <a:solidFill>
                  <a:srgbClr val="334155"/>
                </a:solidFill>
                <a:latin typeface="Poppins"/>
              </a:rPr>
              <a:t> · |</a:t>
            </a:r>
            <a:r>
              <a:rPr sz="1200" b="0" i="0" dirty="0" err="1">
                <a:solidFill>
                  <a:srgbClr val="334155"/>
                </a:solidFill>
                <a:latin typeface="Poppins"/>
              </a:rPr>
              <a:t>V_rev</a:t>
            </a:r>
            <a:r>
              <a:rPr sz="1200" b="0" i="0" dirty="0">
                <a:solidFill>
                  <a:srgbClr val="334155"/>
                </a:solidFill>
                <a:latin typeface="Poppins"/>
              </a:rPr>
              <a:t>|.</a:t>
            </a:r>
          </a:p>
          <a:p>
            <a:pPr>
              <a:spcBef>
                <a:spcPts val="200"/>
              </a:spcBef>
            </a:pPr>
            <a:r>
              <a:rPr sz="1200" b="0" i="0" dirty="0">
                <a:solidFill>
                  <a:srgbClr val="334155"/>
                </a:solidFill>
                <a:latin typeface="Poppins"/>
              </a:rPr>
              <a:t>• Temperature Rise: </a:t>
            </a:r>
            <a:r>
              <a:rPr sz="1200" b="1" i="0" dirty="0">
                <a:solidFill>
                  <a:srgbClr val="334155"/>
                </a:solidFill>
                <a:latin typeface="Poppins"/>
              </a:rPr>
              <a:t>Shaded cell </a:t>
            </a:r>
            <a:r>
              <a:rPr sz="1200" b="0" i="0" dirty="0">
                <a:solidFill>
                  <a:srgbClr val="334155"/>
                </a:solidFill>
                <a:latin typeface="Poppins"/>
              </a:rPr>
              <a:t>temperatures elevate to </a:t>
            </a:r>
            <a:r>
              <a:rPr sz="1200" b="1" i="0" dirty="0">
                <a:solidFill>
                  <a:srgbClr val="334155"/>
                </a:solidFill>
                <a:latin typeface="Poppins"/>
              </a:rPr>
              <a:t>85°C–110°C </a:t>
            </a:r>
            <a:r>
              <a:rPr sz="1200" b="0" i="0" dirty="0">
                <a:solidFill>
                  <a:srgbClr val="334155"/>
                </a:solidFill>
                <a:latin typeface="Poppins"/>
              </a:rPr>
              <a:t>under surveyed Indian summer ambient irradiance.</a:t>
            </a:r>
          </a:p>
          <a:p>
            <a:pPr>
              <a:spcBef>
                <a:spcPts val="200"/>
              </a:spcBef>
            </a:pPr>
            <a:r>
              <a:rPr sz="1200" b="0" i="0" dirty="0">
                <a:solidFill>
                  <a:srgbClr val="334155"/>
                </a:solidFill>
                <a:latin typeface="Poppins"/>
              </a:rPr>
              <a:t>• Physical Degradation: Localized thermal cycling accelerates EVA browning, delamination, and glass thermal-shock fractures, permanently shortening module life.</a:t>
            </a:r>
          </a:p>
        </p:txBody>
      </p:sp>
      <p:sp>
        <p:nvSpPr>
          <p:cNvPr id="14" name="Rectangle 13"/>
          <p:cNvSpPr/>
          <p:nvPr/>
        </p:nvSpPr>
        <p:spPr>
          <a:xfrm>
            <a:off x="6492240" y="5989320"/>
            <a:ext cx="109728" cy="164592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5" name="Rounded Rectangle 14"/>
          <p:cNvSpPr/>
          <p:nvPr/>
        </p:nvSpPr>
        <p:spPr>
          <a:xfrm>
            <a:off x="6492240" y="7772400"/>
            <a:ext cx="10881360" cy="1645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92608" tIns="109728" rIns="219456" rtlCol="0" anchor="t"/>
          <a:lstStyle/>
          <a:p>
            <a:pPr algn="ctr"/>
            <a:r>
              <a:rPr b="1" i="0">
                <a:solidFill>
                  <a:srgbClr val="0F172A"/>
                </a:solidFill>
                <a:latin typeface="Poppins"/>
              </a:rPr>
              <a:t>The Inverter Diagnostic Blind Spot &amp; Co-Design Motivation</a:t>
            </a:r>
          </a:p>
          <a:p>
            <a:pPr>
              <a:spcBef>
                <a:spcPts val="200"/>
              </a:spcBef>
            </a:pPr>
            <a:r>
              <a:rPr sz="1200" b="0" i="0">
                <a:solidFill>
                  <a:srgbClr val="334155"/>
                </a:solidFill>
                <a:latin typeface="Poppins"/>
              </a:rPr>
              <a:t>• Telemetry Blind Spot: Domestic string inverters monitor only aggregate DC voltage, current, and power (V_dc, I_dc).</a:t>
            </a:r>
          </a:p>
          <a:p>
            <a:pPr>
              <a:spcBef>
                <a:spcPts val="200"/>
              </a:spcBef>
            </a:pPr>
            <a:r>
              <a:rPr sz="1200" b="0" i="0">
                <a:solidFill>
                  <a:srgbClr val="334155"/>
                </a:solidFill>
                <a:latin typeface="Poppins"/>
              </a:rPr>
              <a:t>• Diagnostic Deficit: Electrical data alone cannot differentiate uniform washable dust (water rinse) from urgent bird-drop hotspots (burnout risk) or cracked glass (warranty claim).</a:t>
            </a:r>
          </a:p>
          <a:p>
            <a:pPr>
              <a:spcBef>
                <a:spcPts val="200"/>
              </a:spcBef>
            </a:pPr>
            <a:r>
              <a:rPr sz="1200" b="0" i="0">
                <a:solidFill>
                  <a:srgbClr val="334155"/>
                </a:solidFill>
                <a:latin typeface="Poppins"/>
              </a:rPr>
              <a:t>• Solution: On-device Edge-AI vision accelerator diagnosing surface defects locally without manual rooftop climbs or 24/7 cloud streaming.</a:t>
            </a:r>
          </a:p>
        </p:txBody>
      </p:sp>
      <p:sp>
        <p:nvSpPr>
          <p:cNvPr id="16" name="Rectangle 15"/>
          <p:cNvSpPr/>
          <p:nvPr/>
        </p:nvSpPr>
        <p:spPr>
          <a:xfrm>
            <a:off x="6492240" y="7772400"/>
            <a:ext cx="109728" cy="16459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4286">
              <a:srgbClr val="FFFFFF">
                <a:alpha val="100000"/>
              </a:srgbClr>
            </a:gs>
            <a:gs pos="28571">
              <a:srgbClr val="FFFFFF">
                <a:alpha val="100000"/>
              </a:srgbClr>
            </a:gs>
            <a:gs pos="42857">
              <a:srgbClr val="FFFFFF">
                <a:alpha val="100000"/>
              </a:srgbClr>
            </a:gs>
            <a:gs pos="57143">
              <a:srgbClr val="FFFFFF">
                <a:alpha val="100000"/>
              </a:srgbClr>
            </a:gs>
            <a:gs pos="71429">
              <a:srgbClr val="DAF9FF">
                <a:alpha val="100000"/>
              </a:srgbClr>
            </a:gs>
            <a:gs pos="85714">
              <a:srgbClr val="89EAFE">
                <a:alpha val="100000"/>
              </a:srgbClr>
            </a:gs>
            <a:gs pos="100000">
              <a:srgbClr val="3B97EC">
                <a:alpha val="100000"/>
              </a:srgbClr>
            </a:gs>
          </a:gsLst>
          <a:lin ang="2700000"/>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AD7031-BE49-4675-8C72-6BFFCA3E8BB6}"/>
              </a:ext>
            </a:extLst>
          </p:cNvPr>
          <p:cNvSpPr txBox="1"/>
          <p:nvPr/>
        </p:nvSpPr>
        <p:spPr>
          <a:xfrm>
            <a:off x="850392" y="384049"/>
            <a:ext cx="16459200" cy="604781"/>
          </a:xfrm>
          <a:prstGeom prst="rect">
            <a:avLst/>
          </a:prstGeom>
          <a:noFill/>
        </p:spPr>
        <p:txBody>
          <a:bodyPr wrap="square" lIns="41148" tIns="13716" rIns="41148" bIns="13716">
            <a:spAutoFit/>
          </a:bodyPr>
          <a:lstStyle/>
          <a:p>
            <a:r>
              <a:rPr sz="3750" b="1">
                <a:solidFill>
                  <a:srgbClr val="121F34"/>
                </a:solidFill>
                <a:latin typeface="Aptos"/>
              </a:rPr>
              <a:t>Project Alignment with UN Sustainable Development Goals (SDGs)</a:t>
            </a:r>
          </a:p>
        </p:txBody>
      </p:sp>
      <p:sp>
        <p:nvSpPr>
          <p:cNvPr id="5" name="Rectangle 4">
            <a:extLst>
              <a:ext uri="{FF2B5EF4-FFF2-40B4-BE49-F238E27FC236}">
                <a16:creationId xmlns:a16="http://schemas.microsoft.com/office/drawing/2014/main" id="{3C4A915E-15F9-A9D6-4D1B-A5AEAAAE24AC}"/>
              </a:ext>
            </a:extLst>
          </p:cNvPr>
          <p:cNvSpPr/>
          <p:nvPr/>
        </p:nvSpPr>
        <p:spPr>
          <a:xfrm>
            <a:off x="987552" y="1618488"/>
            <a:ext cx="1508760" cy="1371600"/>
          </a:xfrm>
          <a:prstGeom prst="rect">
            <a:avLst/>
          </a:prstGeom>
          <a:solidFill>
            <a:srgbClr val="F2A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 name="TextBox 6">
            <a:extLst>
              <a:ext uri="{FF2B5EF4-FFF2-40B4-BE49-F238E27FC236}">
                <a16:creationId xmlns:a16="http://schemas.microsoft.com/office/drawing/2014/main" id="{55B8F956-EA50-0E11-F929-602B636B189E}"/>
              </a:ext>
            </a:extLst>
          </p:cNvPr>
          <p:cNvSpPr txBox="1"/>
          <p:nvPr/>
        </p:nvSpPr>
        <p:spPr>
          <a:xfrm>
            <a:off x="1124712" y="1714500"/>
            <a:ext cx="384048" cy="535531"/>
          </a:xfrm>
          <a:prstGeom prst="rect">
            <a:avLst/>
          </a:prstGeom>
          <a:noFill/>
        </p:spPr>
        <p:txBody>
          <a:bodyPr wrap="square" lIns="41148" tIns="13716" rIns="41148" bIns="13716">
            <a:spAutoFit/>
          </a:bodyPr>
          <a:lstStyle/>
          <a:p>
            <a:r>
              <a:rPr sz="3300" b="1">
                <a:solidFill>
                  <a:srgbClr val="FFFFFF"/>
                </a:solidFill>
                <a:latin typeface="Aptos"/>
              </a:rPr>
              <a:t>7</a:t>
            </a:r>
          </a:p>
        </p:txBody>
      </p:sp>
      <p:sp>
        <p:nvSpPr>
          <p:cNvPr id="9" name="TextBox 8">
            <a:extLst>
              <a:ext uri="{FF2B5EF4-FFF2-40B4-BE49-F238E27FC236}">
                <a16:creationId xmlns:a16="http://schemas.microsoft.com/office/drawing/2014/main" id="{C47F5BBA-FA03-8357-B91F-510B346ECA02}"/>
              </a:ext>
            </a:extLst>
          </p:cNvPr>
          <p:cNvSpPr txBox="1"/>
          <p:nvPr/>
        </p:nvSpPr>
        <p:spPr>
          <a:xfrm>
            <a:off x="1481328" y="1755648"/>
            <a:ext cx="932688" cy="397032"/>
          </a:xfrm>
          <a:prstGeom prst="rect">
            <a:avLst/>
          </a:prstGeom>
          <a:noFill/>
        </p:spPr>
        <p:txBody>
          <a:bodyPr wrap="square" lIns="41148" tIns="13716" rIns="41148" bIns="13716">
            <a:spAutoFit/>
          </a:bodyPr>
          <a:lstStyle/>
          <a:p>
            <a:r>
              <a:rPr sz="1200" b="1">
                <a:solidFill>
                  <a:srgbClr val="FFFFFF"/>
                </a:solidFill>
                <a:latin typeface="Aptos"/>
              </a:rPr>
              <a:t>CLEAN ENERGY</a:t>
            </a:r>
          </a:p>
        </p:txBody>
      </p:sp>
      <p:sp>
        <p:nvSpPr>
          <p:cNvPr id="11" name="TextBox 10">
            <a:extLst>
              <a:ext uri="{FF2B5EF4-FFF2-40B4-BE49-F238E27FC236}">
                <a16:creationId xmlns:a16="http://schemas.microsoft.com/office/drawing/2014/main" id="{893D9D14-7337-59CF-B52B-2AF41A418D9C}"/>
              </a:ext>
            </a:extLst>
          </p:cNvPr>
          <p:cNvSpPr txBox="1"/>
          <p:nvPr/>
        </p:nvSpPr>
        <p:spPr>
          <a:xfrm>
            <a:off x="1138428" y="2263140"/>
            <a:ext cx="1207008" cy="604781"/>
          </a:xfrm>
          <a:prstGeom prst="rect">
            <a:avLst/>
          </a:prstGeom>
          <a:noFill/>
        </p:spPr>
        <p:txBody>
          <a:bodyPr wrap="square" lIns="41148" tIns="13716" rIns="41148" bIns="13716">
            <a:spAutoFit/>
          </a:bodyPr>
          <a:lstStyle/>
          <a:p>
            <a:pPr algn="ctr"/>
            <a:r>
              <a:rPr sz="3750" b="1">
                <a:solidFill>
                  <a:srgbClr val="FFFFFF"/>
                </a:solidFill>
                <a:latin typeface="Aptos"/>
              </a:rPr>
              <a:t>✦</a:t>
            </a:r>
          </a:p>
        </p:txBody>
      </p:sp>
      <p:sp>
        <p:nvSpPr>
          <p:cNvPr id="13" name="TextBox 12">
            <a:extLst>
              <a:ext uri="{FF2B5EF4-FFF2-40B4-BE49-F238E27FC236}">
                <a16:creationId xmlns:a16="http://schemas.microsoft.com/office/drawing/2014/main" id="{53CCB863-BF29-3A64-F02F-22F4C87AF7BE}"/>
              </a:ext>
            </a:extLst>
          </p:cNvPr>
          <p:cNvSpPr txBox="1"/>
          <p:nvPr/>
        </p:nvSpPr>
        <p:spPr>
          <a:xfrm>
            <a:off x="2880360" y="1591056"/>
            <a:ext cx="14264640" cy="466281"/>
          </a:xfrm>
          <a:prstGeom prst="rect">
            <a:avLst/>
          </a:prstGeom>
          <a:noFill/>
        </p:spPr>
        <p:txBody>
          <a:bodyPr wrap="square" lIns="41148" tIns="13716" rIns="41148" bIns="13716">
            <a:spAutoFit/>
          </a:bodyPr>
          <a:lstStyle/>
          <a:p>
            <a:r>
              <a:rPr sz="2850" b="1">
                <a:solidFill>
                  <a:srgbClr val="121F34"/>
                </a:solidFill>
                <a:latin typeface="Aptos"/>
              </a:rPr>
              <a:t>SDG 7 – Affordable and Clean Energy</a:t>
            </a:r>
          </a:p>
        </p:txBody>
      </p:sp>
      <p:sp>
        <p:nvSpPr>
          <p:cNvPr id="15" name="TextBox 14">
            <a:extLst>
              <a:ext uri="{FF2B5EF4-FFF2-40B4-BE49-F238E27FC236}">
                <a16:creationId xmlns:a16="http://schemas.microsoft.com/office/drawing/2014/main" id="{BB6B64D4-80B3-65F5-193A-B449400577F0}"/>
              </a:ext>
            </a:extLst>
          </p:cNvPr>
          <p:cNvSpPr txBox="1"/>
          <p:nvPr/>
        </p:nvSpPr>
        <p:spPr>
          <a:xfrm>
            <a:off x="2880360" y="2112265"/>
            <a:ext cx="14264640" cy="1515287"/>
          </a:xfrm>
          <a:prstGeom prst="rect">
            <a:avLst/>
          </a:prstGeom>
          <a:noFill/>
        </p:spPr>
        <p:txBody>
          <a:bodyPr wrap="square" lIns="27432" tIns="13716" rIns="27432" bIns="13716">
            <a:spAutoFit/>
          </a:bodyPr>
          <a:lstStyle/>
          <a:p>
            <a:pPr>
              <a:spcAft>
                <a:spcPts val="750"/>
              </a:spcAft>
              <a:defRPr sz="1500">
                <a:solidFill>
                  <a:srgbClr val="121F34"/>
                </a:solidFill>
                <a:latin typeface="Aptos"/>
              </a:defRPr>
            </a:pPr>
            <a:r>
              <a:rPr sz="2250" dirty="0"/>
              <a:t>•  Solar panels generate clean, renewable electricity, but dust, bird droppings, and physical damage can affect their performance.</a:t>
            </a:r>
          </a:p>
          <a:p>
            <a:pPr>
              <a:spcAft>
                <a:spcPts val="750"/>
              </a:spcAft>
              <a:defRPr sz="1500">
                <a:solidFill>
                  <a:srgbClr val="121F34"/>
                </a:solidFill>
                <a:latin typeface="Aptos"/>
              </a:defRPr>
            </a:pPr>
            <a:r>
              <a:rPr sz="2250" dirty="0"/>
              <a:t>•  Our CNN classifies panel conditions from images, which could help identify panels that need inspection or maintenance.</a:t>
            </a:r>
          </a:p>
        </p:txBody>
      </p:sp>
      <p:sp>
        <p:nvSpPr>
          <p:cNvPr id="18" name="Rectangle 17">
            <a:extLst>
              <a:ext uri="{FF2B5EF4-FFF2-40B4-BE49-F238E27FC236}">
                <a16:creationId xmlns:a16="http://schemas.microsoft.com/office/drawing/2014/main" id="{8EFB551A-0C6F-5127-BF53-5B053AC92C14}"/>
              </a:ext>
            </a:extLst>
          </p:cNvPr>
          <p:cNvSpPr/>
          <p:nvPr/>
        </p:nvSpPr>
        <p:spPr>
          <a:xfrm>
            <a:off x="987552" y="4114800"/>
            <a:ext cx="1508760" cy="1371600"/>
          </a:xfrm>
          <a:prstGeom prst="rect">
            <a:avLst/>
          </a:prstGeom>
          <a:solidFill>
            <a:srgbClr val="F268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0" name="TextBox 19">
            <a:extLst>
              <a:ext uri="{FF2B5EF4-FFF2-40B4-BE49-F238E27FC236}">
                <a16:creationId xmlns:a16="http://schemas.microsoft.com/office/drawing/2014/main" id="{7F9B74C6-896F-15B2-D1D9-6CD65E7042BA}"/>
              </a:ext>
            </a:extLst>
          </p:cNvPr>
          <p:cNvSpPr txBox="1"/>
          <p:nvPr/>
        </p:nvSpPr>
        <p:spPr>
          <a:xfrm>
            <a:off x="1124712" y="4210812"/>
            <a:ext cx="384048" cy="535531"/>
          </a:xfrm>
          <a:prstGeom prst="rect">
            <a:avLst/>
          </a:prstGeom>
          <a:noFill/>
        </p:spPr>
        <p:txBody>
          <a:bodyPr wrap="square" lIns="41148" tIns="13716" rIns="41148" bIns="13716">
            <a:spAutoFit/>
          </a:bodyPr>
          <a:lstStyle/>
          <a:p>
            <a:r>
              <a:rPr sz="3300" b="1">
                <a:solidFill>
                  <a:srgbClr val="FFFFFF"/>
                </a:solidFill>
                <a:latin typeface="Aptos"/>
              </a:rPr>
              <a:t>9</a:t>
            </a:r>
          </a:p>
        </p:txBody>
      </p:sp>
      <p:sp>
        <p:nvSpPr>
          <p:cNvPr id="22" name="TextBox 21">
            <a:extLst>
              <a:ext uri="{FF2B5EF4-FFF2-40B4-BE49-F238E27FC236}">
                <a16:creationId xmlns:a16="http://schemas.microsoft.com/office/drawing/2014/main" id="{3D84640B-FFF5-4098-8417-BBDF608AD08D}"/>
              </a:ext>
            </a:extLst>
          </p:cNvPr>
          <p:cNvSpPr txBox="1"/>
          <p:nvPr/>
        </p:nvSpPr>
        <p:spPr>
          <a:xfrm>
            <a:off x="1385316" y="4251960"/>
            <a:ext cx="1028700" cy="212366"/>
          </a:xfrm>
          <a:prstGeom prst="rect">
            <a:avLst/>
          </a:prstGeom>
          <a:noFill/>
        </p:spPr>
        <p:txBody>
          <a:bodyPr wrap="square" lIns="41148" tIns="13716" rIns="41148" bIns="13716">
            <a:spAutoFit/>
          </a:bodyPr>
          <a:lstStyle/>
          <a:p>
            <a:r>
              <a:rPr sz="1200" b="1" dirty="0">
                <a:solidFill>
                  <a:srgbClr val="FFFFFF"/>
                </a:solidFill>
                <a:latin typeface="Aptos"/>
              </a:rPr>
              <a:t>INNOVATION</a:t>
            </a:r>
          </a:p>
        </p:txBody>
      </p:sp>
      <p:sp>
        <p:nvSpPr>
          <p:cNvPr id="24" name="TextBox 23">
            <a:extLst>
              <a:ext uri="{FF2B5EF4-FFF2-40B4-BE49-F238E27FC236}">
                <a16:creationId xmlns:a16="http://schemas.microsoft.com/office/drawing/2014/main" id="{1899B248-79F3-06B0-0ABB-875BA8AE0C69}"/>
              </a:ext>
            </a:extLst>
          </p:cNvPr>
          <p:cNvSpPr txBox="1"/>
          <p:nvPr/>
        </p:nvSpPr>
        <p:spPr>
          <a:xfrm>
            <a:off x="1138428" y="4759452"/>
            <a:ext cx="1207008" cy="604781"/>
          </a:xfrm>
          <a:prstGeom prst="rect">
            <a:avLst/>
          </a:prstGeom>
          <a:noFill/>
        </p:spPr>
        <p:txBody>
          <a:bodyPr wrap="square" lIns="41148" tIns="13716" rIns="41148" bIns="13716">
            <a:spAutoFit/>
          </a:bodyPr>
          <a:lstStyle/>
          <a:p>
            <a:pPr algn="ctr"/>
            <a:r>
              <a:rPr sz="3750" b="1">
                <a:solidFill>
                  <a:srgbClr val="FFFFFF"/>
                </a:solidFill>
                <a:latin typeface="Aptos"/>
              </a:rPr>
              <a:t>✦</a:t>
            </a:r>
          </a:p>
        </p:txBody>
      </p:sp>
      <p:sp>
        <p:nvSpPr>
          <p:cNvPr id="26" name="TextBox 25">
            <a:extLst>
              <a:ext uri="{FF2B5EF4-FFF2-40B4-BE49-F238E27FC236}">
                <a16:creationId xmlns:a16="http://schemas.microsoft.com/office/drawing/2014/main" id="{92564020-D892-B46E-62DA-C66C71E3B112}"/>
              </a:ext>
            </a:extLst>
          </p:cNvPr>
          <p:cNvSpPr txBox="1"/>
          <p:nvPr/>
        </p:nvSpPr>
        <p:spPr>
          <a:xfrm>
            <a:off x="2880360" y="4087368"/>
            <a:ext cx="14264640" cy="466281"/>
          </a:xfrm>
          <a:prstGeom prst="rect">
            <a:avLst/>
          </a:prstGeom>
          <a:noFill/>
        </p:spPr>
        <p:txBody>
          <a:bodyPr wrap="square" lIns="41148" tIns="13716" rIns="41148" bIns="13716">
            <a:spAutoFit/>
          </a:bodyPr>
          <a:lstStyle/>
          <a:p>
            <a:r>
              <a:rPr sz="2850" b="1">
                <a:solidFill>
                  <a:srgbClr val="121F34"/>
                </a:solidFill>
                <a:latin typeface="Aptos"/>
              </a:rPr>
              <a:t>SDG 9 – Industry, Innovation and Infrastructure</a:t>
            </a:r>
          </a:p>
        </p:txBody>
      </p:sp>
      <p:sp>
        <p:nvSpPr>
          <p:cNvPr id="29" name="TextBox 28">
            <a:extLst>
              <a:ext uri="{FF2B5EF4-FFF2-40B4-BE49-F238E27FC236}">
                <a16:creationId xmlns:a16="http://schemas.microsoft.com/office/drawing/2014/main" id="{A2956171-06FC-53C7-F320-8BD268C65FEC}"/>
              </a:ext>
            </a:extLst>
          </p:cNvPr>
          <p:cNvSpPr txBox="1"/>
          <p:nvPr/>
        </p:nvSpPr>
        <p:spPr>
          <a:xfrm>
            <a:off x="2880360" y="4608577"/>
            <a:ext cx="14264640" cy="1515287"/>
          </a:xfrm>
          <a:prstGeom prst="rect">
            <a:avLst/>
          </a:prstGeom>
          <a:noFill/>
        </p:spPr>
        <p:txBody>
          <a:bodyPr wrap="square" lIns="27432" tIns="13716" rIns="27432" bIns="13716">
            <a:spAutoFit/>
          </a:bodyPr>
          <a:lstStyle/>
          <a:p>
            <a:pPr>
              <a:spcAft>
                <a:spcPts val="750"/>
              </a:spcAft>
              <a:defRPr sz="1500">
                <a:solidFill>
                  <a:srgbClr val="121F34"/>
                </a:solidFill>
                <a:latin typeface="Aptos"/>
              </a:defRPr>
            </a:pPr>
            <a:r>
              <a:rPr sz="2250"/>
              <a:t>•  We combine artificial intelligence with a proposed hardware accelerator to explore efficient deployment on embedded devices.</a:t>
            </a:r>
          </a:p>
          <a:p>
            <a:pPr>
              <a:spcAft>
                <a:spcPts val="750"/>
              </a:spcAft>
              <a:defRPr sz="1500">
                <a:solidFill>
                  <a:srgbClr val="121F34"/>
                </a:solidFill>
                <a:latin typeface="Aptos"/>
              </a:defRPr>
            </a:pPr>
            <a:r>
              <a:rPr sz="2250"/>
              <a:t>•  The zero-aware processing element is a proposed design; hardware efficiency and power benefits still need validation.</a:t>
            </a:r>
          </a:p>
        </p:txBody>
      </p:sp>
      <p:sp>
        <p:nvSpPr>
          <p:cNvPr id="32" name="Rectangle 31">
            <a:extLst>
              <a:ext uri="{FF2B5EF4-FFF2-40B4-BE49-F238E27FC236}">
                <a16:creationId xmlns:a16="http://schemas.microsoft.com/office/drawing/2014/main" id="{CA25F3FF-B0FA-38F9-844E-6FC9E98189D3}"/>
              </a:ext>
            </a:extLst>
          </p:cNvPr>
          <p:cNvSpPr/>
          <p:nvPr/>
        </p:nvSpPr>
        <p:spPr>
          <a:xfrm>
            <a:off x="987552" y="6611112"/>
            <a:ext cx="1508760" cy="1371600"/>
          </a:xfrm>
          <a:prstGeom prst="rect">
            <a:avLst/>
          </a:prstGeom>
          <a:solidFill>
            <a:srgbClr val="C27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4" name="TextBox 33">
            <a:extLst>
              <a:ext uri="{FF2B5EF4-FFF2-40B4-BE49-F238E27FC236}">
                <a16:creationId xmlns:a16="http://schemas.microsoft.com/office/drawing/2014/main" id="{438C018E-E6AB-0445-447C-B46ED381FDC7}"/>
              </a:ext>
            </a:extLst>
          </p:cNvPr>
          <p:cNvSpPr txBox="1"/>
          <p:nvPr/>
        </p:nvSpPr>
        <p:spPr>
          <a:xfrm>
            <a:off x="1124712" y="6707125"/>
            <a:ext cx="780288" cy="535531"/>
          </a:xfrm>
          <a:prstGeom prst="rect">
            <a:avLst/>
          </a:prstGeom>
          <a:noFill/>
        </p:spPr>
        <p:txBody>
          <a:bodyPr wrap="square" lIns="41148" tIns="13716" rIns="41148" bIns="13716">
            <a:spAutoFit/>
          </a:bodyPr>
          <a:lstStyle/>
          <a:p>
            <a:r>
              <a:rPr sz="3300" b="1" dirty="0">
                <a:solidFill>
                  <a:srgbClr val="FFFFFF"/>
                </a:solidFill>
                <a:latin typeface="Aptos"/>
              </a:rPr>
              <a:t>12</a:t>
            </a:r>
          </a:p>
        </p:txBody>
      </p:sp>
      <p:sp>
        <p:nvSpPr>
          <p:cNvPr id="36" name="TextBox 35">
            <a:extLst>
              <a:ext uri="{FF2B5EF4-FFF2-40B4-BE49-F238E27FC236}">
                <a16:creationId xmlns:a16="http://schemas.microsoft.com/office/drawing/2014/main" id="{EDF5E43F-1A63-CFBD-DA97-38A1B04AD9A6}"/>
              </a:ext>
            </a:extLst>
          </p:cNvPr>
          <p:cNvSpPr txBox="1"/>
          <p:nvPr/>
        </p:nvSpPr>
        <p:spPr>
          <a:xfrm>
            <a:off x="1741932" y="6748060"/>
            <a:ext cx="932688" cy="397032"/>
          </a:xfrm>
          <a:prstGeom prst="rect">
            <a:avLst/>
          </a:prstGeom>
          <a:noFill/>
        </p:spPr>
        <p:txBody>
          <a:bodyPr wrap="square" lIns="41148" tIns="13716" rIns="41148" bIns="13716">
            <a:spAutoFit/>
          </a:bodyPr>
          <a:lstStyle/>
          <a:p>
            <a:r>
              <a:rPr sz="1200" b="1" dirty="0">
                <a:solidFill>
                  <a:srgbClr val="FFFFFF"/>
                </a:solidFill>
                <a:latin typeface="Aptos"/>
              </a:rPr>
              <a:t>LESS WASTE</a:t>
            </a:r>
          </a:p>
        </p:txBody>
      </p:sp>
      <p:sp>
        <p:nvSpPr>
          <p:cNvPr id="42" name="TextBox 41">
            <a:extLst>
              <a:ext uri="{FF2B5EF4-FFF2-40B4-BE49-F238E27FC236}">
                <a16:creationId xmlns:a16="http://schemas.microsoft.com/office/drawing/2014/main" id="{AF0BBA84-75A9-0D37-D09C-A41831A773D3}"/>
              </a:ext>
            </a:extLst>
          </p:cNvPr>
          <p:cNvSpPr txBox="1"/>
          <p:nvPr/>
        </p:nvSpPr>
        <p:spPr>
          <a:xfrm>
            <a:off x="1138428" y="7255764"/>
            <a:ext cx="1207008" cy="604781"/>
          </a:xfrm>
          <a:prstGeom prst="rect">
            <a:avLst/>
          </a:prstGeom>
          <a:noFill/>
        </p:spPr>
        <p:txBody>
          <a:bodyPr wrap="square" lIns="41148" tIns="13716" rIns="41148" bIns="13716">
            <a:spAutoFit/>
          </a:bodyPr>
          <a:lstStyle/>
          <a:p>
            <a:pPr algn="ctr"/>
            <a:r>
              <a:rPr sz="3750" b="1">
                <a:solidFill>
                  <a:srgbClr val="FFFFFF"/>
                </a:solidFill>
                <a:latin typeface="Aptos"/>
              </a:rPr>
              <a:t>✦</a:t>
            </a:r>
          </a:p>
        </p:txBody>
      </p:sp>
      <p:sp>
        <p:nvSpPr>
          <p:cNvPr id="44" name="TextBox 43">
            <a:extLst>
              <a:ext uri="{FF2B5EF4-FFF2-40B4-BE49-F238E27FC236}">
                <a16:creationId xmlns:a16="http://schemas.microsoft.com/office/drawing/2014/main" id="{BE0E89E1-B911-E3CB-8BD2-138D9B640014}"/>
              </a:ext>
            </a:extLst>
          </p:cNvPr>
          <p:cNvSpPr txBox="1"/>
          <p:nvPr/>
        </p:nvSpPr>
        <p:spPr>
          <a:xfrm>
            <a:off x="2880360" y="6583680"/>
            <a:ext cx="14264640" cy="466281"/>
          </a:xfrm>
          <a:prstGeom prst="rect">
            <a:avLst/>
          </a:prstGeom>
          <a:noFill/>
        </p:spPr>
        <p:txBody>
          <a:bodyPr wrap="square" lIns="41148" tIns="13716" rIns="41148" bIns="13716">
            <a:spAutoFit/>
          </a:bodyPr>
          <a:lstStyle/>
          <a:p>
            <a:r>
              <a:rPr sz="2850" b="1">
                <a:solidFill>
                  <a:srgbClr val="121F34"/>
                </a:solidFill>
                <a:latin typeface="Aptos"/>
              </a:rPr>
              <a:t>SDG 12 – Responsible Consumption and Production</a:t>
            </a:r>
          </a:p>
        </p:txBody>
      </p:sp>
      <p:sp>
        <p:nvSpPr>
          <p:cNvPr id="46" name="TextBox 45">
            <a:extLst>
              <a:ext uri="{FF2B5EF4-FFF2-40B4-BE49-F238E27FC236}">
                <a16:creationId xmlns:a16="http://schemas.microsoft.com/office/drawing/2014/main" id="{23740FF2-F135-D608-1C58-46FD34F8DA5A}"/>
              </a:ext>
            </a:extLst>
          </p:cNvPr>
          <p:cNvSpPr txBox="1"/>
          <p:nvPr/>
        </p:nvSpPr>
        <p:spPr>
          <a:xfrm>
            <a:off x="2880360" y="7104889"/>
            <a:ext cx="14264640" cy="822789"/>
          </a:xfrm>
          <a:prstGeom prst="rect">
            <a:avLst/>
          </a:prstGeom>
          <a:noFill/>
        </p:spPr>
        <p:txBody>
          <a:bodyPr wrap="square" lIns="27432" tIns="13716" rIns="27432" bIns="13716">
            <a:spAutoFit/>
          </a:bodyPr>
          <a:lstStyle/>
          <a:p>
            <a:pPr>
              <a:spcAft>
                <a:spcPts val="750"/>
              </a:spcAft>
              <a:defRPr sz="1500">
                <a:solidFill>
                  <a:srgbClr val="121F34"/>
                </a:solidFill>
                <a:latin typeface="Aptos"/>
              </a:defRPr>
            </a:pPr>
            <a:r>
              <a:rPr sz="2250"/>
              <a:t>•  Automated condition identification could help maintenance teams make better decisions.</a:t>
            </a:r>
          </a:p>
          <a:p>
            <a:pPr>
              <a:spcAft>
                <a:spcPts val="750"/>
              </a:spcAft>
              <a:defRPr sz="1500">
                <a:solidFill>
                  <a:srgbClr val="121F34"/>
                </a:solidFill>
                <a:latin typeface="Aptos"/>
              </a:defRPr>
            </a:pPr>
            <a:r>
              <a:rPr sz="2250"/>
              <a:t>•  It may help avoid unnecessary maintenance or premature replacement of solar panels.</a:t>
            </a:r>
          </a:p>
        </p:txBody>
      </p:sp>
      <p:sp>
        <p:nvSpPr>
          <p:cNvPr id="48" name="TextBox 47">
            <a:extLst>
              <a:ext uri="{FF2B5EF4-FFF2-40B4-BE49-F238E27FC236}">
                <a16:creationId xmlns:a16="http://schemas.microsoft.com/office/drawing/2014/main" id="{BE63F8CD-6B59-FE5A-B161-BB893341F723}"/>
              </a:ext>
            </a:extLst>
          </p:cNvPr>
          <p:cNvSpPr txBox="1"/>
          <p:nvPr/>
        </p:nvSpPr>
        <p:spPr>
          <a:xfrm>
            <a:off x="2880360" y="9354313"/>
            <a:ext cx="14264640" cy="327782"/>
          </a:xfrm>
          <a:prstGeom prst="rect">
            <a:avLst/>
          </a:prstGeom>
          <a:noFill/>
        </p:spPr>
        <p:txBody>
          <a:bodyPr wrap="square" lIns="41148" tIns="13716" rIns="41148" bIns="13716">
            <a:spAutoFit/>
          </a:bodyPr>
          <a:lstStyle/>
          <a:p>
            <a:r>
              <a:rPr sz="1950">
                <a:solidFill>
                  <a:srgbClr val="586880"/>
                </a:solidFill>
                <a:latin typeface="Aptos"/>
              </a:rPr>
              <a:t>Overall: supporting reliable solar maintenance, efficient AI innovation, and more informed resource use.</a:t>
            </a:r>
          </a:p>
        </p:txBody>
      </p:sp>
      <p:sp>
        <p:nvSpPr>
          <p:cNvPr id="50" name="Rectangle 49">
            <a:extLst>
              <a:ext uri="{FF2B5EF4-FFF2-40B4-BE49-F238E27FC236}">
                <a16:creationId xmlns:a16="http://schemas.microsoft.com/office/drawing/2014/main" id="{A8319026-627F-5D13-2B2C-7291A9F02375}"/>
              </a:ext>
            </a:extLst>
          </p:cNvPr>
          <p:cNvSpPr/>
          <p:nvPr/>
        </p:nvSpPr>
        <p:spPr>
          <a:xfrm>
            <a:off x="850392" y="9944100"/>
            <a:ext cx="16459200" cy="27432"/>
          </a:xfrm>
          <a:prstGeom prst="rect">
            <a:avLst/>
          </a:prstGeom>
          <a:solidFill>
            <a:srgbClr val="008B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2" name="TextBox 51">
            <a:extLst>
              <a:ext uri="{FF2B5EF4-FFF2-40B4-BE49-F238E27FC236}">
                <a16:creationId xmlns:a16="http://schemas.microsoft.com/office/drawing/2014/main" id="{0C032A9E-E640-1FA5-5737-6198C1BE23F9}"/>
              </a:ext>
            </a:extLst>
          </p:cNvPr>
          <p:cNvSpPr txBox="1"/>
          <p:nvPr/>
        </p:nvSpPr>
        <p:spPr>
          <a:xfrm>
            <a:off x="850392" y="9743336"/>
            <a:ext cx="13716000" cy="276999"/>
          </a:xfrm>
          <a:prstGeom prst="rect">
            <a:avLst/>
          </a:prstGeom>
          <a:noFill/>
        </p:spPr>
        <p:txBody>
          <a:bodyPr wrap="square">
            <a:spAutoFit/>
          </a:bodyPr>
          <a:lstStyle/>
          <a:p>
            <a:r>
              <a:rPr lang="en-US" sz="1200" b="0" i="0" dirty="0">
                <a:solidFill>
                  <a:srgbClr val="64748B"/>
                </a:solidFill>
                <a:latin typeface="Poppins"/>
              </a:rPr>
              <a:t>Project-1 Review-2  |  MNE_PANEL_3  |  Venue: TT-237-A  |  SENSE, VIT Vellore                        Department of Electronics and Communication Engineering                        </a:t>
            </a:r>
            <a:r>
              <a:rPr lang="en-US" sz="1200" b="1" i="0" dirty="0">
                <a:solidFill>
                  <a:srgbClr val="0284C7"/>
                </a:solidFill>
                <a:latin typeface="Poppins"/>
              </a:rPr>
              <a:t>Slide 4 of 18</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914400" y="475488"/>
            <a:ext cx="16459200" cy="553998"/>
          </a:xfrm>
          <a:prstGeom prst="rect">
            <a:avLst/>
          </a:prstGeom>
          <a:noFill/>
        </p:spPr>
        <p:txBody>
          <a:bodyPr wrap="square" lIns="0" tIns="0" rIns="0" bIns="0">
            <a:spAutoFit/>
          </a:bodyPr>
          <a:lstStyle/>
          <a:p>
            <a:r>
              <a:rPr sz="3600" b="1" i="0">
                <a:solidFill>
                  <a:srgbClr val="0F172A"/>
                </a:solidFill>
                <a:latin typeface="Poppins"/>
              </a:rPr>
              <a:t>Literature Survey: Existing Approaches in PV Fault Detection</a:t>
            </a:r>
          </a:p>
        </p:txBody>
      </p:sp>
      <p:sp>
        <p:nvSpPr>
          <p:cNvPr id="3" name="Rectangle 2"/>
          <p:cNvSpPr/>
          <p:nvPr/>
        </p:nvSpPr>
        <p:spPr>
          <a:xfrm>
            <a:off x="914400" y="9646920"/>
            <a:ext cx="16459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 name="TextBox 3"/>
          <p:cNvSpPr txBox="1"/>
          <p:nvPr/>
        </p:nvSpPr>
        <p:spPr>
          <a:xfrm>
            <a:off x="914400" y="9738360"/>
            <a:ext cx="13197524" cy="184666"/>
          </a:xfrm>
          <a:prstGeom prst="rect">
            <a:avLst/>
          </a:prstGeom>
          <a:noFill/>
        </p:spPr>
        <p:txBody>
          <a:bodyPr wrap="none" lIns="0" tIns="0" rIns="0" bIns="0">
            <a:spAutoFit/>
          </a:bodyPr>
          <a:lstStyle/>
          <a:p>
            <a:r>
              <a:rPr sz="1200" b="0" i="0" dirty="0">
                <a:solidFill>
                  <a:srgbClr val="64748B"/>
                </a:solidFill>
                <a:latin typeface="Poppins"/>
              </a:rPr>
              <a:t>Project-1 Review-2  |  MNE_PANEL_3  |  Venue: TT-237-A  |  SENSE, VIT Vellore                        Department of Electronics and Communication Engineering                        </a:t>
            </a:r>
            <a:r>
              <a:rPr sz="1200" b="1" i="0" dirty="0">
                <a:solidFill>
                  <a:srgbClr val="0284C7"/>
                </a:solidFill>
                <a:latin typeface="Poppins"/>
              </a:rPr>
              <a:t>Slide 4 of 18</a:t>
            </a:r>
          </a:p>
        </p:txBody>
      </p:sp>
      <p:graphicFrame>
        <p:nvGraphicFramePr>
          <p:cNvPr id="5" name="Table 4"/>
          <p:cNvGraphicFramePr>
            <a:graphicFrameLocks noGrp="1"/>
          </p:cNvGraphicFramePr>
          <p:nvPr/>
        </p:nvGraphicFramePr>
        <p:xfrm>
          <a:off x="914400" y="1325880"/>
          <a:ext cx="16459200" cy="480060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gridCol w="3840480">
                  <a:extLst>
                    <a:ext uri="{9D8B030D-6E8A-4147-A177-3AD203B41FA5}">
                      <a16:colId xmlns:a16="http://schemas.microsoft.com/office/drawing/2014/main" val="20003"/>
                    </a:ext>
                  </a:extLst>
                </a:gridCol>
                <a:gridCol w="2743200">
                  <a:extLst>
                    <a:ext uri="{9D8B030D-6E8A-4147-A177-3AD203B41FA5}">
                      <a16:colId xmlns:a16="http://schemas.microsoft.com/office/drawing/2014/main" val="20004"/>
                    </a:ext>
                  </a:extLst>
                </a:gridCol>
              </a:tblGrid>
              <a:tr h="800100">
                <a:tc>
                  <a:txBody>
                    <a:bodyPr/>
                    <a:lstStyle/>
                    <a:p>
                      <a:pPr algn="l"/>
                      <a:r>
                        <a:rPr sz="1050" b="1" i="0">
                          <a:solidFill>
                            <a:srgbClr val="FFFFFF"/>
                          </a:solidFill>
                          <a:latin typeface="Poppins"/>
                        </a:rPr>
                        <a:t>Author / Year (Venue &amp; DOI)</a:t>
                      </a:r>
                    </a:p>
                  </a:txBody>
                  <a:tcPr marL="128016" marR="128016" marT="73152" marB="73152" anchor="ctr">
                    <a:solidFill>
                      <a:srgbClr val="0F172A"/>
                    </a:solidFill>
                  </a:tcPr>
                </a:tc>
                <a:tc>
                  <a:txBody>
                    <a:bodyPr/>
                    <a:lstStyle/>
                    <a:p>
                      <a:pPr algn="l"/>
                      <a:r>
                        <a:rPr sz="1050" b="1" i="0">
                          <a:solidFill>
                            <a:srgbClr val="FFFFFF"/>
                          </a:solidFill>
                          <a:latin typeface="Poppins"/>
                        </a:rPr>
                        <a:t>Methodology / Approach</a:t>
                      </a:r>
                    </a:p>
                  </a:txBody>
                  <a:tcPr marL="128016" marR="128016" marT="73152" marB="73152" anchor="ctr">
                    <a:solidFill>
                      <a:srgbClr val="0F172A"/>
                    </a:solidFill>
                  </a:tcPr>
                </a:tc>
                <a:tc>
                  <a:txBody>
                    <a:bodyPr/>
                    <a:lstStyle/>
                    <a:p>
                      <a:pPr algn="l"/>
                      <a:r>
                        <a:rPr sz="1050" b="1" i="0">
                          <a:solidFill>
                            <a:srgbClr val="FFFFFF"/>
                          </a:solidFill>
                          <a:latin typeface="Poppins"/>
                        </a:rPr>
                        <a:t>Key Features / Strengths</a:t>
                      </a:r>
                    </a:p>
                  </a:txBody>
                  <a:tcPr marL="128016" marR="128016" marT="73152" marB="73152" anchor="ctr">
                    <a:solidFill>
                      <a:srgbClr val="0F172A"/>
                    </a:solidFill>
                  </a:tcPr>
                </a:tc>
                <a:tc>
                  <a:txBody>
                    <a:bodyPr/>
                    <a:lstStyle/>
                    <a:p>
                      <a:pPr algn="l"/>
                      <a:r>
                        <a:rPr sz="1050" b="1" i="0">
                          <a:solidFill>
                            <a:srgbClr val="FFFFFF"/>
                          </a:solidFill>
                          <a:latin typeface="Poppins"/>
                        </a:rPr>
                        <a:t>Limitations / Research Gaps</a:t>
                      </a:r>
                    </a:p>
                  </a:txBody>
                  <a:tcPr marL="128016" marR="128016" marT="73152" marB="73152" anchor="ctr">
                    <a:solidFill>
                      <a:srgbClr val="0F172A"/>
                    </a:solidFill>
                  </a:tcPr>
                </a:tc>
                <a:tc>
                  <a:txBody>
                    <a:bodyPr/>
                    <a:lstStyle/>
                    <a:p>
                      <a:pPr algn="l"/>
                      <a:r>
                        <a:rPr sz="1050" b="1" i="0">
                          <a:solidFill>
                            <a:srgbClr val="FFFFFF"/>
                          </a:solidFill>
                          <a:latin typeface="Poppins"/>
                        </a:rPr>
                        <a:t>Critical Deficit Addressed</a:t>
                      </a:r>
                    </a:p>
                  </a:txBody>
                  <a:tcPr marL="128016" marR="128016" marT="73152" marB="73152" anchor="ctr">
                    <a:solidFill>
                      <a:srgbClr val="0F172A"/>
                    </a:solidFill>
                  </a:tcPr>
                </a:tc>
                <a:extLst>
                  <a:ext uri="{0D108BD9-81ED-4DB2-BD59-A6C34878D82A}">
                    <a16:rowId xmlns:a16="http://schemas.microsoft.com/office/drawing/2014/main" val="10000"/>
                  </a:ext>
                </a:extLst>
              </a:tr>
              <a:tr h="800100">
                <a:tc>
                  <a:txBody>
                    <a:bodyPr/>
                    <a:lstStyle/>
                    <a:p>
                      <a:pPr algn="l"/>
                      <a:r>
                        <a:rPr sz="980" b="1" i="0">
                          <a:solidFill>
                            <a:srgbClr val="0F172A"/>
                          </a:solidFill>
                          <a:latin typeface="Poppins"/>
                        </a:rPr>
                        <a:t>Muhammad &amp; Ridzuan (2024)
IEEE ICPEA
DOI: 10.1109/ICPEA60617.2024.10498573</a:t>
                      </a:r>
                    </a:p>
                  </a:txBody>
                  <a:tcPr marL="128016" marR="128016" marT="54864" marB="54864" anchor="ctr">
                    <a:solidFill>
                      <a:srgbClr val="FFFFFF"/>
                    </a:solidFill>
                  </a:tcPr>
                </a:tc>
                <a:tc>
                  <a:txBody>
                    <a:bodyPr/>
                    <a:lstStyle/>
                    <a:p>
                      <a:pPr algn="l"/>
                      <a:r>
                        <a:rPr sz="980" b="0" i="0">
                          <a:solidFill>
                            <a:srgbClr val="334155"/>
                          </a:solidFill>
                          <a:latin typeface="Poppins"/>
                        </a:rPr>
                        <a:t>Electrical I–V curve analysis, condition monitoring &amp; power-loss curve synthesis.</a:t>
                      </a:r>
                    </a:p>
                  </a:txBody>
                  <a:tcPr marL="128016" marR="128016" marT="54864" marB="54864" anchor="ctr">
                    <a:solidFill>
                      <a:srgbClr val="FFFFFF"/>
                    </a:solidFill>
                  </a:tcPr>
                </a:tc>
                <a:tc>
                  <a:txBody>
                    <a:bodyPr/>
                    <a:lstStyle/>
                    <a:p>
                      <a:pPr algn="l"/>
                      <a:r>
                        <a:rPr sz="980" b="0" i="0">
                          <a:solidFill>
                            <a:srgbClr val="334155"/>
                          </a:solidFill>
                          <a:latin typeface="Poppins"/>
                        </a:rPr>
                        <a:t>Detects string-level electrical anomalies &amp; line-to-line inverter mismatch on utility arrays.</a:t>
                      </a:r>
                    </a:p>
                  </a:txBody>
                  <a:tcPr marL="128016" marR="128016" marT="54864" marB="54864" anchor="ctr">
                    <a:solidFill>
                      <a:srgbClr val="FFFFFF"/>
                    </a:solidFill>
                  </a:tcPr>
                </a:tc>
                <a:tc>
                  <a:txBody>
                    <a:bodyPr/>
                    <a:lstStyle/>
                    <a:p>
                      <a:pPr algn="l"/>
                      <a:r>
                        <a:rPr sz="980" b="0" i="0">
                          <a:solidFill>
                            <a:srgbClr val="334155"/>
                          </a:solidFill>
                          <a:latin typeface="Poppins"/>
                        </a:rPr>
                        <a:t>Cannot detect localized surface fouling (dust, bird drops, hairline cracks); blind to optical state.</a:t>
                      </a:r>
                    </a:p>
                  </a:txBody>
                  <a:tcPr marL="128016" marR="128016" marT="54864" marB="54864" anchor="ctr">
                    <a:solidFill>
                      <a:srgbClr val="FFFFFF"/>
                    </a:solidFill>
                  </a:tcPr>
                </a:tc>
                <a:tc>
                  <a:txBody>
                    <a:bodyPr/>
                    <a:lstStyle/>
                    <a:p>
                      <a:pPr algn="l"/>
                      <a:r>
                        <a:rPr sz="980" b="0" i="0">
                          <a:solidFill>
                            <a:srgbClr val="334155"/>
                          </a:solidFill>
                          <a:latin typeface="Poppins"/>
                        </a:rPr>
                        <a:t>Blind to spatial physical defects</a:t>
                      </a:r>
                    </a:p>
                  </a:txBody>
                  <a:tcPr marL="128016" marR="128016" marT="54864" marB="54864" anchor="ctr">
                    <a:solidFill>
                      <a:srgbClr val="FFFFFF"/>
                    </a:solidFill>
                  </a:tcPr>
                </a:tc>
                <a:extLst>
                  <a:ext uri="{0D108BD9-81ED-4DB2-BD59-A6C34878D82A}">
                    <a16:rowId xmlns:a16="http://schemas.microsoft.com/office/drawing/2014/main" val="10001"/>
                  </a:ext>
                </a:extLst>
              </a:tr>
              <a:tr h="800100">
                <a:tc>
                  <a:txBody>
                    <a:bodyPr/>
                    <a:lstStyle/>
                    <a:p>
                      <a:pPr algn="l"/>
                      <a:r>
                        <a:rPr sz="980" b="1" i="0">
                          <a:solidFill>
                            <a:srgbClr val="0F172A"/>
                          </a:solidFill>
                          <a:latin typeface="Poppins"/>
                        </a:rPr>
                        <a:t>Rao et al. (2024)
IEEE ICACITE
DOI: 10.1109/ICACITE60783.2024.10616999</a:t>
                      </a:r>
                    </a:p>
                  </a:txBody>
                  <a:tcPr marL="128016" marR="128016" marT="54864" marB="54864" anchor="ctr">
                    <a:solidFill>
                      <a:srgbClr val="F8FAFC"/>
                    </a:solidFill>
                  </a:tcPr>
                </a:tc>
                <a:tc>
                  <a:txBody>
                    <a:bodyPr/>
                    <a:lstStyle/>
                    <a:p>
                      <a:pPr algn="l"/>
                      <a:r>
                        <a:rPr sz="980" b="0" i="0">
                          <a:solidFill>
                            <a:srgbClr val="334155"/>
                          </a:solidFill>
                          <a:latin typeface="Poppins"/>
                        </a:rPr>
                        <a:t>Image-based PV fault detection using heavy VGG-16 and YOLO backbones.</a:t>
                      </a:r>
                    </a:p>
                  </a:txBody>
                  <a:tcPr marL="128016" marR="128016" marT="54864" marB="54864" anchor="ctr">
                    <a:solidFill>
                      <a:srgbClr val="F8FAFC"/>
                    </a:solidFill>
                  </a:tcPr>
                </a:tc>
                <a:tc>
                  <a:txBody>
                    <a:bodyPr/>
                    <a:lstStyle/>
                    <a:p>
                      <a:pPr algn="l"/>
                      <a:r>
                        <a:rPr sz="980" b="0" i="0">
                          <a:solidFill>
                            <a:srgbClr val="334155"/>
                          </a:solidFill>
                          <a:latin typeface="Poppins"/>
                        </a:rPr>
                        <a:t>Surface defect identification; classifies visible cracks and hotspots with high standalone accuracy.</a:t>
                      </a:r>
                    </a:p>
                  </a:txBody>
                  <a:tcPr marL="128016" marR="128016" marT="54864" marB="54864" anchor="ctr">
                    <a:solidFill>
                      <a:srgbClr val="F8FAFC"/>
                    </a:solidFill>
                  </a:tcPr>
                </a:tc>
                <a:tc>
                  <a:txBody>
                    <a:bodyPr/>
                    <a:lstStyle/>
                    <a:p>
                      <a:pPr algn="l"/>
                      <a:r>
                        <a:rPr sz="980" b="0" i="0">
                          <a:solidFill>
                            <a:srgbClr val="334155"/>
                          </a:solidFill>
                          <a:latin typeface="Poppins"/>
                        </a:rPr>
                        <a:t>Heavy backbones require substantial compute/GPU resources, presenting power/thermal barriers for embedded edge inverters.</a:t>
                      </a:r>
                    </a:p>
                  </a:txBody>
                  <a:tcPr marL="128016" marR="128016" marT="54864" marB="54864" anchor="ctr">
                    <a:solidFill>
                      <a:srgbClr val="F8FAFC"/>
                    </a:solidFill>
                  </a:tcPr>
                </a:tc>
                <a:tc>
                  <a:txBody>
                    <a:bodyPr/>
                    <a:lstStyle/>
                    <a:p>
                      <a:pPr algn="l"/>
                      <a:r>
                        <a:rPr sz="980" b="0" i="0">
                          <a:solidFill>
                            <a:srgbClr val="334155"/>
                          </a:solidFill>
                          <a:latin typeface="Poppins"/>
                        </a:rPr>
                        <a:t>High compute demands at the edge</a:t>
                      </a:r>
                    </a:p>
                  </a:txBody>
                  <a:tcPr marL="128016" marR="128016" marT="54864" marB="54864" anchor="ctr">
                    <a:solidFill>
                      <a:srgbClr val="F8FAFC"/>
                    </a:solidFill>
                  </a:tcPr>
                </a:tc>
                <a:extLst>
                  <a:ext uri="{0D108BD9-81ED-4DB2-BD59-A6C34878D82A}">
                    <a16:rowId xmlns:a16="http://schemas.microsoft.com/office/drawing/2014/main" val="10002"/>
                  </a:ext>
                </a:extLst>
              </a:tr>
              <a:tr h="800100">
                <a:tc>
                  <a:txBody>
                    <a:bodyPr/>
                    <a:lstStyle/>
                    <a:p>
                      <a:pPr algn="l"/>
                      <a:r>
                        <a:rPr sz="980" b="1" i="0">
                          <a:solidFill>
                            <a:srgbClr val="0F172A"/>
                          </a:solidFill>
                          <a:latin typeface="Poppins"/>
                        </a:rPr>
                        <a:t>Bia et al. (2026)
IEEE IRASET
DOI: 10.1109/IRASET68627.2026.11538548</a:t>
                      </a:r>
                    </a:p>
                  </a:txBody>
                  <a:tcPr marL="128016" marR="128016" marT="54864" marB="54864" anchor="ctr">
                    <a:solidFill>
                      <a:srgbClr val="FFFFFF"/>
                    </a:solidFill>
                  </a:tcPr>
                </a:tc>
                <a:tc>
                  <a:txBody>
                    <a:bodyPr/>
                    <a:lstStyle/>
                    <a:p>
                      <a:pPr algn="l"/>
                      <a:r>
                        <a:rPr sz="980" b="0" i="0">
                          <a:solidFill>
                            <a:srgbClr val="334155"/>
                          </a:solidFill>
                          <a:latin typeface="Poppins"/>
                        </a:rPr>
                        <a:t>Review of AI defect detection and multi-level fault taxonomy.</a:t>
                      </a:r>
                    </a:p>
                  </a:txBody>
                  <a:tcPr marL="128016" marR="128016" marT="54864" marB="54864" anchor="ctr">
                    <a:solidFill>
                      <a:srgbClr val="FFFFFF"/>
                    </a:solidFill>
                  </a:tcPr>
                </a:tc>
                <a:tc>
                  <a:txBody>
                    <a:bodyPr/>
                    <a:lstStyle/>
                    <a:p>
                      <a:pPr algn="l"/>
                      <a:r>
                        <a:rPr sz="980" b="0" i="0">
                          <a:solidFill>
                            <a:srgbClr val="334155"/>
                          </a:solidFill>
                          <a:latin typeface="Poppins"/>
                        </a:rPr>
                        <a:t>Establishes structured multi-level taxonomy; surveys drone and sensor monitoring streams.</a:t>
                      </a:r>
                    </a:p>
                  </a:txBody>
                  <a:tcPr marL="128016" marR="128016" marT="54864" marB="54864" anchor="ctr">
                    <a:solidFill>
                      <a:srgbClr val="FFFFFF"/>
                    </a:solidFill>
                  </a:tcPr>
                </a:tc>
                <a:tc>
                  <a:txBody>
                    <a:bodyPr/>
                    <a:lstStyle/>
                    <a:p>
                      <a:pPr algn="l"/>
                      <a:r>
                        <a:rPr sz="980" b="0" i="0">
                          <a:solidFill>
                            <a:srgbClr val="334155"/>
                          </a:solidFill>
                          <a:latin typeface="Poppins"/>
                        </a:rPr>
                        <a:t>Notes that surveyed literature focuses primarily on software/cloud processing with scarce on-device accelerator implementations.</a:t>
                      </a:r>
                    </a:p>
                  </a:txBody>
                  <a:tcPr marL="128016" marR="128016" marT="54864" marB="54864" anchor="ctr">
                    <a:solidFill>
                      <a:srgbClr val="FFFFFF"/>
                    </a:solidFill>
                  </a:tcPr>
                </a:tc>
                <a:tc>
                  <a:txBody>
                    <a:bodyPr/>
                    <a:lstStyle/>
                    <a:p>
                      <a:pPr algn="l"/>
                      <a:r>
                        <a:rPr sz="980" b="0" i="0">
                          <a:solidFill>
                            <a:srgbClr val="334155"/>
                          </a:solidFill>
                          <a:latin typeface="Poppins"/>
                        </a:rPr>
                        <a:t>Scarce on-device hardware literature</a:t>
                      </a:r>
                    </a:p>
                  </a:txBody>
                  <a:tcPr marL="128016" marR="128016" marT="54864" marB="54864" anchor="ctr">
                    <a:solidFill>
                      <a:srgbClr val="FFFFFF"/>
                    </a:solidFill>
                  </a:tcPr>
                </a:tc>
                <a:extLst>
                  <a:ext uri="{0D108BD9-81ED-4DB2-BD59-A6C34878D82A}">
                    <a16:rowId xmlns:a16="http://schemas.microsoft.com/office/drawing/2014/main" val="10003"/>
                  </a:ext>
                </a:extLst>
              </a:tr>
              <a:tr h="800100">
                <a:tc>
                  <a:txBody>
                    <a:bodyPr/>
                    <a:lstStyle/>
                    <a:p>
                      <a:pPr algn="l"/>
                      <a:r>
                        <a:rPr sz="980" b="1" i="0">
                          <a:solidFill>
                            <a:srgbClr val="0F172A"/>
                          </a:solidFill>
                          <a:latin typeface="Poppins"/>
                        </a:rPr>
                        <a:t>Choudhari &amp; Fatima (2026)
IEEE ICSFT
DOI: 10.1109/ICSFT66733.2026.11507025</a:t>
                      </a:r>
                    </a:p>
                  </a:txBody>
                  <a:tcPr marL="128016" marR="128016" marT="54864" marB="54864" anchor="ctr">
                    <a:solidFill>
                      <a:srgbClr val="F8FAFC"/>
                    </a:solidFill>
                  </a:tcPr>
                </a:tc>
                <a:tc>
                  <a:txBody>
                    <a:bodyPr/>
                    <a:lstStyle/>
                    <a:p>
                      <a:pPr algn="l"/>
                      <a:r>
                        <a:rPr sz="980" b="0" i="0">
                          <a:solidFill>
                            <a:srgbClr val="334155"/>
                          </a:solidFill>
                          <a:latin typeface="Poppins"/>
                        </a:rPr>
                        <a:t>Traditional ML classifiers (Decision Tree, RF, SVM) on electrical telemetry.</a:t>
                      </a:r>
                    </a:p>
                  </a:txBody>
                  <a:tcPr marL="128016" marR="128016" marT="54864" marB="54864" anchor="ctr">
                    <a:solidFill>
                      <a:srgbClr val="F8FAFC"/>
                    </a:solidFill>
                  </a:tcPr>
                </a:tc>
                <a:tc>
                  <a:txBody>
                    <a:bodyPr/>
                    <a:lstStyle/>
                    <a:p>
                      <a:pPr algn="l"/>
                      <a:r>
                        <a:rPr sz="980" b="0" i="0">
                          <a:solidFill>
                            <a:srgbClr val="334155"/>
                          </a:solidFill>
                          <a:latin typeface="Poppins"/>
                        </a:rPr>
                        <a:t>Fast training; low memory footprint; Decision Trees achieve 95% accuracy on tabular telemetry.</a:t>
                      </a:r>
                    </a:p>
                  </a:txBody>
                  <a:tcPr marL="128016" marR="128016" marT="54864" marB="54864" anchor="ctr">
                    <a:solidFill>
                      <a:srgbClr val="F8FAFC"/>
                    </a:solidFill>
                  </a:tcPr>
                </a:tc>
                <a:tc>
                  <a:txBody>
                    <a:bodyPr/>
                    <a:lstStyle/>
                    <a:p>
                      <a:pPr algn="l"/>
                      <a:r>
                        <a:rPr sz="980" b="0" i="0">
                          <a:solidFill>
                            <a:srgbClr val="334155"/>
                          </a:solidFill>
                          <a:latin typeface="Poppins"/>
                        </a:rPr>
                        <a:t>Limited detection of visible surface faults; cannot pinpoint bird droppings or cracked glass.</a:t>
                      </a:r>
                    </a:p>
                  </a:txBody>
                  <a:tcPr marL="128016" marR="128016" marT="54864" marB="54864" anchor="ctr">
                    <a:solidFill>
                      <a:srgbClr val="F8FAFC"/>
                    </a:solidFill>
                  </a:tcPr>
                </a:tc>
                <a:tc>
                  <a:txBody>
                    <a:bodyPr/>
                    <a:lstStyle/>
                    <a:p>
                      <a:pPr algn="l"/>
                      <a:r>
                        <a:rPr sz="980" b="0" i="0">
                          <a:solidFill>
                            <a:srgbClr val="334155"/>
                          </a:solidFill>
                          <a:latin typeface="Poppins"/>
                        </a:rPr>
                        <a:t>Cannot resolve localized surface faults</a:t>
                      </a:r>
                    </a:p>
                  </a:txBody>
                  <a:tcPr marL="128016" marR="128016" marT="54864" marB="54864" anchor="ctr">
                    <a:solidFill>
                      <a:srgbClr val="F8FAFC"/>
                    </a:solidFill>
                  </a:tcPr>
                </a:tc>
                <a:extLst>
                  <a:ext uri="{0D108BD9-81ED-4DB2-BD59-A6C34878D82A}">
                    <a16:rowId xmlns:a16="http://schemas.microsoft.com/office/drawing/2014/main" val="10004"/>
                  </a:ext>
                </a:extLst>
              </a:tr>
              <a:tr h="800100">
                <a:tc>
                  <a:txBody>
                    <a:bodyPr/>
                    <a:lstStyle/>
                    <a:p>
                      <a:pPr algn="l"/>
                      <a:r>
                        <a:rPr sz="980" b="1" i="0">
                          <a:solidFill>
                            <a:srgbClr val="0F172A"/>
                          </a:solidFill>
                          <a:latin typeface="Poppins"/>
                        </a:rPr>
                        <a:t>Nasri et al. (2026)
IEEE Access
DOI: 10.1109/ACCESS.2026.3675686</a:t>
                      </a:r>
                    </a:p>
                  </a:txBody>
                  <a:tcPr marL="128016" marR="128016" marT="54864" marB="54864" anchor="ctr">
                    <a:solidFill>
                      <a:srgbClr val="FFFFFF"/>
                    </a:solidFill>
                  </a:tcPr>
                </a:tc>
                <a:tc>
                  <a:txBody>
                    <a:bodyPr/>
                    <a:lstStyle/>
                    <a:p>
                      <a:pPr algn="l"/>
                      <a:r>
                        <a:rPr sz="980" b="0" i="0">
                          <a:solidFill>
                            <a:srgbClr val="334155"/>
                          </a:solidFill>
                          <a:latin typeface="Poppins"/>
                        </a:rPr>
                        <a:t>Multimodal fusion &amp; attention mechanisms for PV fault diagnosis.</a:t>
                      </a:r>
                    </a:p>
                  </a:txBody>
                  <a:tcPr marL="128016" marR="128016" marT="54864" marB="54864" anchor="ctr">
                    <a:solidFill>
                      <a:srgbClr val="FFFFFF"/>
                    </a:solidFill>
                  </a:tcPr>
                </a:tc>
                <a:tc>
                  <a:txBody>
                    <a:bodyPr/>
                    <a:lstStyle/>
                    <a:p>
                      <a:pPr algn="l"/>
                      <a:r>
                        <a:rPr sz="980" b="0" i="0">
                          <a:solidFill>
                            <a:srgbClr val="334155"/>
                          </a:solidFill>
                          <a:latin typeface="Poppins"/>
                        </a:rPr>
                        <a:t>Cross-modal attention boosts sensitivity across electrical, thermal, and visual streams.</a:t>
                      </a:r>
                    </a:p>
                  </a:txBody>
                  <a:tcPr marL="128016" marR="128016" marT="54864" marB="54864" anchor="ctr">
                    <a:solidFill>
                      <a:srgbClr val="FFFFFF"/>
                    </a:solidFill>
                  </a:tcPr>
                </a:tc>
                <a:tc>
                  <a:txBody>
                    <a:bodyPr/>
                    <a:lstStyle/>
                    <a:p>
                      <a:pPr algn="l"/>
                      <a:r>
                        <a:rPr sz="980" b="0" i="0">
                          <a:solidFill>
                            <a:srgbClr val="334155"/>
                          </a:solidFill>
                          <a:latin typeface="Poppins"/>
                        </a:rPr>
                        <a:t>High multi-sensor compute complexity; emphasizes the need for model compression and dedicated hardware.</a:t>
                      </a:r>
                    </a:p>
                  </a:txBody>
                  <a:tcPr marL="128016" marR="128016" marT="54864" marB="54864" anchor="ctr">
                    <a:solidFill>
                      <a:srgbClr val="FFFFFF"/>
                    </a:solidFill>
                  </a:tcPr>
                </a:tc>
                <a:tc>
                  <a:txBody>
                    <a:bodyPr/>
                    <a:lstStyle/>
                    <a:p>
                      <a:pPr algn="l"/>
                      <a:r>
                        <a:rPr sz="980" b="0" i="0">
                          <a:solidFill>
                            <a:srgbClr val="334155"/>
                          </a:solidFill>
                          <a:latin typeface="Poppins"/>
                        </a:rPr>
                        <a:t>Calls for compression &amp; hardware</a:t>
                      </a:r>
                    </a:p>
                  </a:txBody>
                  <a:tcPr marL="128016" marR="128016"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6" name="Rounded Rectangle 5"/>
          <p:cNvSpPr/>
          <p:nvPr/>
        </p:nvSpPr>
        <p:spPr>
          <a:xfrm>
            <a:off x="914400" y="6355080"/>
            <a:ext cx="8046720" cy="3063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56032" tIns="182880" rIns="256032" rtlCol="0" anchor="t"/>
          <a:lstStyle/>
          <a:p>
            <a:pPr algn="ctr"/>
            <a:r>
              <a:rPr b="1" i="0">
                <a:solidFill>
                  <a:srgbClr val="0284C7"/>
                </a:solidFill>
                <a:latin typeface="Poppins"/>
              </a:rPr>
              <a:t>Foundational Architectural Grounding</a:t>
            </a:r>
          </a:p>
          <a:p>
            <a:pPr>
              <a:spcBef>
                <a:spcPts val="500"/>
              </a:spcBef>
            </a:pPr>
            <a:r>
              <a:rPr sz="1400" b="1" i="0">
                <a:solidFill>
                  <a:srgbClr val="0F172A"/>
                </a:solidFill>
                <a:latin typeface="Poppins"/>
              </a:rPr>
              <a:t>• Howard et al. (ICCV 2019): </a:t>
            </a:r>
            <a:r>
              <a:rPr sz="1200" b="0" i="0">
                <a:solidFill>
                  <a:srgbClr val="334155"/>
                </a:solidFill>
                <a:latin typeface="Poppins"/>
              </a:rPr>
              <a:t>MobileNetV3 introduced hardware-aware NAS and inverted residual bottlenecks (1.09M params), creating a viable edge backbone.</a:t>
            </a:r>
          </a:p>
          <a:p>
            <a:pPr>
              <a:spcBef>
                <a:spcPts val="400"/>
              </a:spcBef>
            </a:pPr>
            <a:r>
              <a:rPr sz="1400" b="1" i="0">
                <a:solidFill>
                  <a:srgbClr val="0F172A"/>
                </a:solidFill>
                <a:latin typeface="Poppins"/>
              </a:rPr>
              <a:t>• Tan &amp; Le (ICML 2021): </a:t>
            </a:r>
            <a:r>
              <a:rPr sz="1200" b="0" i="0">
                <a:solidFill>
                  <a:srgbClr val="334155"/>
                </a:solidFill>
                <a:latin typeface="Poppins"/>
              </a:rPr>
              <a:t>EfficientNetV2 progressive learning yields high representation capacity (92.36% on 23,144 dataset), ideal as a distillation teacher but exceeds edge BRAM.</a:t>
            </a:r>
          </a:p>
          <a:p>
            <a:pPr>
              <a:spcBef>
                <a:spcPts val="400"/>
              </a:spcBef>
            </a:pPr>
            <a:r>
              <a:rPr sz="1400" b="1" i="0">
                <a:solidFill>
                  <a:srgbClr val="0F172A"/>
                </a:solidFill>
                <a:latin typeface="Poppins"/>
              </a:rPr>
              <a:t>• Parashar et al. (ISCA 2017) / Han et al. (ICLR 2016): </a:t>
            </a:r>
            <a:r>
              <a:rPr sz="1200" b="0" i="0">
                <a:solidFill>
                  <a:srgbClr val="334155"/>
                </a:solidFill>
                <a:latin typeface="Poppins"/>
              </a:rPr>
              <a:t>SCNN and Deep Compression established sparse CNN execution, but highlighted that CSR/CSC pointer decoding negates energy benefits at modest sparsity (&lt;20%).</a:t>
            </a:r>
          </a:p>
        </p:txBody>
      </p:sp>
      <p:sp>
        <p:nvSpPr>
          <p:cNvPr id="7" name="Rounded Rectangle 6"/>
          <p:cNvSpPr/>
          <p:nvPr/>
        </p:nvSpPr>
        <p:spPr>
          <a:xfrm>
            <a:off x="9326880" y="6355080"/>
            <a:ext cx="8046720" cy="3063240"/>
          </a:xfrm>
          <a:prstGeom prst="roundRect">
            <a:avLst/>
          </a:prstGeom>
          <a:solidFill>
            <a:srgbClr val="182538"/>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square" lIns="256032" tIns="182880" rIns="256032" rtlCol="0" anchor="t"/>
          <a:lstStyle/>
          <a:p>
            <a:pPr algn="ctr"/>
            <a:r>
              <a:rPr b="1" i="0">
                <a:solidFill>
                  <a:srgbClr val="38BDF8"/>
                </a:solidFill>
                <a:latin typeface="Poppins"/>
              </a:rPr>
              <a:t>Core Research Gap Synthesis</a:t>
            </a:r>
          </a:p>
          <a:p>
            <a:pPr>
              <a:spcBef>
                <a:spcPts val="500"/>
              </a:spcBef>
            </a:pPr>
            <a:r>
              <a:rPr sz="1400" b="1" i="0">
                <a:solidFill>
                  <a:srgbClr val="FFFFFF"/>
                </a:solidFill>
                <a:latin typeface="Poppins"/>
              </a:rPr>
              <a:t>1. Spatial Visual Blindness: </a:t>
            </a:r>
            <a:r>
              <a:rPr sz="1200" b="0" i="0">
                <a:solidFill>
                  <a:srgbClr val="CBD5E1"/>
                </a:solidFill>
                <a:latin typeface="Poppins"/>
              </a:rPr>
              <a:t>Electrical-only methods cannot distinguish harmless uniform dust from localized pigeon hotspots or hairline cracked glass.</a:t>
            </a:r>
          </a:p>
          <a:p>
            <a:pPr>
              <a:spcBef>
                <a:spcPts val="500"/>
              </a:spcBef>
            </a:pPr>
            <a:r>
              <a:rPr sz="1400" b="1" i="0">
                <a:solidFill>
                  <a:srgbClr val="FFFFFF"/>
                </a:solidFill>
                <a:latin typeface="Poppins"/>
              </a:rPr>
              <a:t>2. Computational Barrier: </a:t>
            </a:r>
            <a:r>
              <a:rPr sz="1200" b="0" i="0">
                <a:solidFill>
                  <a:srgbClr val="CBD5E1"/>
                </a:solidFill>
                <a:latin typeface="Poppins"/>
              </a:rPr>
              <a:t>Accurate CNN backbones demand 50W–100W GPUs; domestic rooftop inverters require sub-watt edge processors.</a:t>
            </a:r>
          </a:p>
          <a:p>
            <a:pPr>
              <a:spcBef>
                <a:spcPts val="500"/>
              </a:spcBef>
            </a:pPr>
            <a:r>
              <a:rPr sz="1400" b="1" i="0">
                <a:solidFill>
                  <a:srgbClr val="FFFFFF"/>
                </a:solidFill>
                <a:latin typeface="Poppins"/>
              </a:rPr>
              <a:t>3. Lack of Hardware-Aware Co-Design: </a:t>
            </a:r>
            <a:r>
              <a:rPr sz="1200" b="0" i="0">
                <a:solidFill>
                  <a:srgbClr val="CBD5E1"/>
                </a:solidFill>
                <a:latin typeface="Poppins"/>
              </a:rPr>
              <a:t>Existing sparse hardware introduces heavy CSR/CSC indexing overhead, negating energy benefits at modest sparsity levels (&lt;20%).</a:t>
            </a:r>
          </a:p>
        </p:txBody>
      </p:sp>
      <p:pic>
        <p:nvPicPr>
          <p:cNvPr id="10" name="Picture 9">
            <a:extLst>
              <a:ext uri="{FF2B5EF4-FFF2-40B4-BE49-F238E27FC236}">
                <a16:creationId xmlns:a16="http://schemas.microsoft.com/office/drawing/2014/main" id="{2548881A-539D-19DA-C147-DFA6AE0F6D30}"/>
              </a:ext>
            </a:extLst>
          </p:cNvPr>
          <p:cNvPicPr>
            <a:picLocks noChangeAspect="1"/>
          </p:cNvPicPr>
          <p:nvPr/>
        </p:nvPicPr>
        <p:blipFill>
          <a:blip r:embed="rId2"/>
          <a:stretch>
            <a:fillRect/>
          </a:stretch>
        </p:blipFill>
        <p:spPr>
          <a:xfrm>
            <a:off x="609600" y="131446"/>
            <a:ext cx="16809720" cy="945546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B6A03A-DD34-A048-E59C-28D3DB928755}"/>
            </a:ext>
          </a:extLst>
        </p:cNvPr>
        <p:cNvGrpSpPr/>
        <p:nvPr/>
      </p:nvGrpSpPr>
      <p:grpSpPr>
        <a:xfrm>
          <a:off x="0" y="0"/>
          <a:ext cx="0" cy="0"/>
          <a:chOff x="0" y="0"/>
          <a:chExt cx="0" cy="0"/>
        </a:xfrm>
      </p:grpSpPr>
      <p:sp>
        <p:nvSpPr>
          <p:cNvPr id="2" name="TextBox 1"/>
          <p:cNvSpPr txBox="1"/>
          <p:nvPr/>
        </p:nvSpPr>
        <p:spPr>
          <a:xfrm>
            <a:off x="914400" y="475488"/>
            <a:ext cx="16459200" cy="492443"/>
          </a:xfrm>
          <a:prstGeom prst="rect">
            <a:avLst/>
          </a:prstGeom>
          <a:noFill/>
        </p:spPr>
        <p:txBody>
          <a:bodyPr wrap="square" lIns="0" tIns="0" rIns="0" bIns="0">
            <a:spAutoFit/>
          </a:bodyPr>
          <a:lstStyle/>
          <a:p>
            <a:r>
              <a:rPr sz="3200" b="1" i="0">
                <a:solidFill>
                  <a:srgbClr val="0F172A"/>
                </a:solidFill>
                <a:latin typeface="Poppins"/>
              </a:rPr>
              <a:t>Research Gaps and Proposed Engineering Solutions</a:t>
            </a:r>
          </a:p>
        </p:txBody>
      </p:sp>
      <p:sp>
        <p:nvSpPr>
          <p:cNvPr id="3" name="Rectangle 2"/>
          <p:cNvSpPr/>
          <p:nvPr/>
        </p:nvSpPr>
        <p:spPr>
          <a:xfrm>
            <a:off x="914400" y="9646920"/>
            <a:ext cx="16459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 name="TextBox 3"/>
          <p:cNvSpPr txBox="1"/>
          <p:nvPr/>
        </p:nvSpPr>
        <p:spPr>
          <a:xfrm>
            <a:off x="914400" y="9738360"/>
            <a:ext cx="12004889" cy="169277"/>
          </a:xfrm>
          <a:prstGeom prst="rect">
            <a:avLst/>
          </a:prstGeom>
          <a:noFill/>
        </p:spPr>
        <p:txBody>
          <a:bodyPr wrap="none" lIns="0" tIns="0" rIns="0" bIns="0">
            <a:spAutoFit/>
          </a:bodyPr>
          <a:lstStyle/>
          <a:p>
            <a:r>
              <a:rPr sz="1100" b="0" i="0">
                <a:solidFill>
                  <a:srgbClr val="64748B"/>
                </a:solidFill>
                <a:latin typeface="Poppins"/>
              </a:rPr>
              <a:t>Project-1 Review-2  |  MNE_PANEL_3  |  Venue: TT-237-A  |  SENSE, VIT Vellore                        Department of Electronics and Communication Engineering                        </a:t>
            </a:r>
            <a:r>
              <a:rPr sz="1100" b="1" i="0">
                <a:solidFill>
                  <a:srgbClr val="0284C7"/>
                </a:solidFill>
                <a:latin typeface="Poppins"/>
              </a:rPr>
              <a:t>Slide 5 of 18</a:t>
            </a:r>
          </a:p>
        </p:txBody>
      </p:sp>
      <p:graphicFrame>
        <p:nvGraphicFramePr>
          <p:cNvPr id="5" name="Table 4"/>
          <p:cNvGraphicFramePr>
            <a:graphicFrameLocks noGrp="1"/>
          </p:cNvGraphicFramePr>
          <p:nvPr/>
        </p:nvGraphicFramePr>
        <p:xfrm>
          <a:off x="914400" y="1325880"/>
          <a:ext cx="16459200" cy="5166360"/>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gridCol w="4754880">
                  <a:extLst>
                    <a:ext uri="{9D8B030D-6E8A-4147-A177-3AD203B41FA5}">
                      <a16:colId xmlns:a16="http://schemas.microsoft.com/office/drawing/2014/main" val="20003"/>
                    </a:ext>
                  </a:extLst>
                </a:gridCol>
                <a:gridCol w="4572000">
                  <a:extLst>
                    <a:ext uri="{9D8B030D-6E8A-4147-A177-3AD203B41FA5}">
                      <a16:colId xmlns:a16="http://schemas.microsoft.com/office/drawing/2014/main" val="20004"/>
                    </a:ext>
                  </a:extLst>
                </a:gridCol>
              </a:tblGrid>
              <a:tr h="738051">
                <a:tc>
                  <a:txBody>
                    <a:bodyPr/>
                    <a:lstStyle/>
                    <a:p>
                      <a:pPr algn="l"/>
                      <a:r>
                        <a:rPr sz="1050" b="1" i="0">
                          <a:solidFill>
                            <a:srgbClr val="FFFFFF"/>
                          </a:solidFill>
                          <a:latin typeface="Poppins"/>
                        </a:rPr>
                        <a:t>#</a:t>
                      </a:r>
                    </a:p>
                  </a:txBody>
                  <a:tcPr marL="128016" marR="128016" marT="73152" marB="73152" anchor="ctr">
                    <a:solidFill>
                      <a:srgbClr val="0F172A"/>
                    </a:solidFill>
                  </a:tcPr>
                </a:tc>
                <a:tc>
                  <a:txBody>
                    <a:bodyPr/>
                    <a:lstStyle/>
                    <a:p>
                      <a:pPr algn="l"/>
                      <a:r>
                        <a:rPr sz="1050" b="1" i="0">
                          <a:solidFill>
                            <a:srgbClr val="FFFFFF"/>
                          </a:solidFill>
                          <a:latin typeface="Poppins"/>
                        </a:rPr>
                        <a:t>Identified Research Gap</a:t>
                      </a:r>
                    </a:p>
                  </a:txBody>
                  <a:tcPr marL="128016" marR="128016" marT="73152" marB="73152" anchor="ctr">
                    <a:solidFill>
                      <a:srgbClr val="0F172A"/>
                    </a:solidFill>
                  </a:tcPr>
                </a:tc>
                <a:tc>
                  <a:txBody>
                    <a:bodyPr/>
                    <a:lstStyle/>
                    <a:p>
                      <a:pPr algn="l"/>
                      <a:r>
                        <a:rPr sz="1050" b="1" i="0">
                          <a:solidFill>
                            <a:srgbClr val="FFFFFF"/>
                          </a:solidFill>
                          <a:latin typeface="Poppins"/>
                        </a:rPr>
                        <a:t>Limitation in Existing Work</a:t>
                      </a:r>
                    </a:p>
                  </a:txBody>
                  <a:tcPr marL="128016" marR="128016" marT="73152" marB="73152" anchor="ctr">
                    <a:solidFill>
                      <a:srgbClr val="0F172A"/>
                    </a:solidFill>
                  </a:tcPr>
                </a:tc>
                <a:tc>
                  <a:txBody>
                    <a:bodyPr/>
                    <a:lstStyle/>
                    <a:p>
                      <a:pPr algn="l"/>
                      <a:r>
                        <a:rPr sz="1050" b="1" i="0">
                          <a:solidFill>
                            <a:srgbClr val="FFFFFF"/>
                          </a:solidFill>
                          <a:latin typeface="Poppins"/>
                        </a:rPr>
                        <a:t>Proposed Solution in This Project</a:t>
                      </a:r>
                    </a:p>
                  </a:txBody>
                  <a:tcPr marL="128016" marR="128016" marT="73152" marB="73152" anchor="ctr">
                    <a:solidFill>
                      <a:srgbClr val="0F172A"/>
                    </a:solidFill>
                  </a:tcPr>
                </a:tc>
                <a:tc>
                  <a:txBody>
                    <a:bodyPr/>
                    <a:lstStyle/>
                    <a:p>
                      <a:pPr algn="l"/>
                      <a:r>
                        <a:rPr sz="1050" b="1" i="0">
                          <a:solidFill>
                            <a:srgbClr val="FFFFFF"/>
                          </a:solidFill>
                          <a:latin typeface="Poppins"/>
                        </a:rPr>
                        <a:t>Expected Outcome &amp; Validation Status</a:t>
                      </a:r>
                    </a:p>
                  </a:txBody>
                  <a:tcPr marL="128016" marR="128016" marT="73152" marB="73152" anchor="ctr">
                    <a:solidFill>
                      <a:srgbClr val="0F172A"/>
                    </a:solidFill>
                  </a:tcPr>
                </a:tc>
                <a:extLst>
                  <a:ext uri="{0D108BD9-81ED-4DB2-BD59-A6C34878D82A}">
                    <a16:rowId xmlns:a16="http://schemas.microsoft.com/office/drawing/2014/main" val="10000"/>
                  </a:ext>
                </a:extLst>
              </a:tr>
              <a:tr h="738051">
                <a:tc>
                  <a:txBody>
                    <a:bodyPr/>
                    <a:lstStyle/>
                    <a:p>
                      <a:pPr algn="l"/>
                      <a:r>
                        <a:rPr sz="980" b="1" i="0">
                          <a:solidFill>
                            <a:srgbClr val="0F172A"/>
                          </a:solidFill>
                          <a:latin typeface="Poppins"/>
                        </a:rPr>
                        <a:t>1</a:t>
                      </a:r>
                    </a:p>
                  </a:txBody>
                  <a:tcPr marL="128016" marR="128016" marT="54864" marB="54864" anchor="ctr">
                    <a:solidFill>
                      <a:srgbClr val="FFFFFF"/>
                    </a:solidFill>
                  </a:tcPr>
                </a:tc>
                <a:tc>
                  <a:txBody>
                    <a:bodyPr/>
                    <a:lstStyle/>
                    <a:p>
                      <a:pPr algn="l"/>
                      <a:r>
                        <a:rPr sz="980" b="0" i="0">
                          <a:solidFill>
                            <a:srgbClr val="334155"/>
                          </a:solidFill>
                          <a:latin typeface="Poppins"/>
                        </a:rPr>
                        <a:t>Limited visual fault discrimination</a:t>
                      </a:r>
                    </a:p>
                  </a:txBody>
                  <a:tcPr marL="128016" marR="128016" marT="54864" marB="54864" anchor="ctr">
                    <a:solidFill>
                      <a:srgbClr val="FFFFFF"/>
                    </a:solidFill>
                  </a:tcPr>
                </a:tc>
                <a:tc>
                  <a:txBody>
                    <a:bodyPr/>
                    <a:lstStyle/>
                    <a:p>
                      <a:pPr algn="l"/>
                      <a:r>
                        <a:rPr sz="980" b="0" i="0">
                          <a:solidFill>
                            <a:srgbClr val="334155"/>
                          </a:solidFill>
                          <a:latin typeface="Poppins"/>
                        </a:rPr>
                        <a:t>Electrical telemetry alone cannot differentiate dust, bird fouling, and cracks.</a:t>
                      </a:r>
                    </a:p>
                  </a:txBody>
                  <a:tcPr marL="128016" marR="128016" marT="54864" marB="54864" anchor="ctr">
                    <a:solidFill>
                      <a:srgbClr val="FFFFFF"/>
                    </a:solidFill>
                  </a:tcPr>
                </a:tc>
                <a:tc>
                  <a:txBody>
                    <a:bodyPr/>
                    <a:lstStyle/>
                    <a:p>
                      <a:pPr algn="l"/>
                      <a:r>
                        <a:rPr sz="980" b="0" i="0">
                          <a:solidFill>
                            <a:srgbClr val="334155"/>
                          </a:solidFill>
                          <a:latin typeface="Poppins"/>
                        </a:rPr>
                        <a:t>Four-Class CNN Classification: Clean, Dusty, Bird-drop, and Physical-Damage.</a:t>
                      </a:r>
                    </a:p>
                  </a:txBody>
                  <a:tcPr marL="128016" marR="128016" marT="54864" marB="54864" anchor="ctr">
                    <a:solidFill>
                      <a:srgbClr val="FFFFFF"/>
                    </a:solidFill>
                  </a:tcPr>
                </a:tc>
                <a:tc>
                  <a:txBody>
                    <a:bodyPr/>
                    <a:lstStyle/>
                    <a:p>
                      <a:pPr algn="l"/>
                      <a:r>
                        <a:rPr sz="980" b="0" i="0">
                          <a:solidFill>
                            <a:srgbClr val="334155"/>
                          </a:solidFill>
                          <a:latin typeface="Poppins"/>
                        </a:rPr>
                        <a:t>🎯 High Diagnostic Fidelity: Identifies 4 distinct surface states; verified on 23,144 RGB solar-panel images (Completed).</a:t>
                      </a:r>
                    </a:p>
                  </a:txBody>
                  <a:tcPr marL="128016" marR="128016" marT="54864" marB="54864" anchor="ctr">
                    <a:solidFill>
                      <a:srgbClr val="FFFFFF"/>
                    </a:solidFill>
                  </a:tcPr>
                </a:tc>
                <a:extLst>
                  <a:ext uri="{0D108BD9-81ED-4DB2-BD59-A6C34878D82A}">
                    <a16:rowId xmlns:a16="http://schemas.microsoft.com/office/drawing/2014/main" val="10001"/>
                  </a:ext>
                </a:extLst>
              </a:tr>
              <a:tr h="738051">
                <a:tc>
                  <a:txBody>
                    <a:bodyPr/>
                    <a:lstStyle/>
                    <a:p>
                      <a:pPr algn="l"/>
                      <a:r>
                        <a:rPr sz="980" b="1" i="0">
                          <a:solidFill>
                            <a:srgbClr val="0F172A"/>
                          </a:solidFill>
                          <a:latin typeface="Poppins"/>
                        </a:rPr>
                        <a:t>2</a:t>
                      </a:r>
                    </a:p>
                  </a:txBody>
                  <a:tcPr marL="128016" marR="128016" marT="54864" marB="54864" anchor="ctr">
                    <a:solidFill>
                      <a:srgbClr val="F8FAFC"/>
                    </a:solidFill>
                  </a:tcPr>
                </a:tc>
                <a:tc>
                  <a:txBody>
                    <a:bodyPr/>
                    <a:lstStyle/>
                    <a:p>
                      <a:pPr algn="l"/>
                      <a:r>
                        <a:rPr sz="980" b="0" i="0">
                          <a:solidFill>
                            <a:srgbClr val="334155"/>
                          </a:solidFill>
                          <a:latin typeface="Poppins"/>
                        </a:rPr>
                        <a:t>High computational requirements</a:t>
                      </a:r>
                    </a:p>
                  </a:txBody>
                  <a:tcPr marL="128016" marR="128016" marT="54864" marB="54864" anchor="ctr">
                    <a:solidFill>
                      <a:srgbClr val="F8FAFC"/>
                    </a:solidFill>
                  </a:tcPr>
                </a:tc>
                <a:tc>
                  <a:txBody>
                    <a:bodyPr/>
                    <a:lstStyle/>
                    <a:p>
                      <a:pPr algn="l"/>
                      <a:r>
                        <a:rPr sz="980" b="0" i="0">
                          <a:solidFill>
                            <a:srgbClr val="334155"/>
                          </a:solidFill>
                          <a:latin typeface="Poppins"/>
                        </a:rPr>
                        <a:t>Heavy CNN backbones require 50W–100W GPUs; infeasible for solar inverters.</a:t>
                      </a:r>
                    </a:p>
                  </a:txBody>
                  <a:tcPr marL="128016" marR="128016" marT="54864" marB="54864" anchor="ctr">
                    <a:solidFill>
                      <a:srgbClr val="F8FAFC"/>
                    </a:solidFill>
                  </a:tcPr>
                </a:tc>
                <a:tc>
                  <a:txBody>
                    <a:bodyPr/>
                    <a:lstStyle/>
                    <a:p>
                      <a:pPr algn="l"/>
                      <a:r>
                        <a:rPr sz="980" b="0" i="0">
                          <a:solidFill>
                            <a:srgbClr val="334155"/>
                          </a:solidFill>
                          <a:latin typeface="Poppins"/>
                        </a:rPr>
                        <a:t>Teacher–Student Knowledge Distillation: EfficientNetV2-B0 (6.29M) → MobileNetV3-S (1.09M).</a:t>
                      </a:r>
                    </a:p>
                  </a:txBody>
                  <a:tcPr marL="128016" marR="128016" marT="54864" marB="54864" anchor="ctr">
                    <a:solidFill>
                      <a:srgbClr val="F8FAFC"/>
                    </a:solidFill>
                  </a:tcPr>
                </a:tc>
                <a:tc>
                  <a:txBody>
                    <a:bodyPr/>
                    <a:lstStyle/>
                    <a:p>
                      <a:pPr algn="l"/>
                      <a:r>
                        <a:rPr sz="980" b="0" i="0">
                          <a:solidFill>
                            <a:srgbClr val="334155"/>
                          </a:solidFill>
                          <a:latin typeface="Poppins"/>
                        </a:rPr>
                        <a:t>⚡ 5.76× Parameter Compression: 82.6% reduction (4.16 MB FP32); +8.11 pp Val Acc boost to 94.92% (Completed).</a:t>
                      </a:r>
                    </a:p>
                  </a:txBody>
                  <a:tcPr marL="128016" marR="128016" marT="54864" marB="54864" anchor="ctr">
                    <a:solidFill>
                      <a:srgbClr val="F8FAFC"/>
                    </a:solidFill>
                  </a:tcPr>
                </a:tc>
                <a:extLst>
                  <a:ext uri="{0D108BD9-81ED-4DB2-BD59-A6C34878D82A}">
                    <a16:rowId xmlns:a16="http://schemas.microsoft.com/office/drawing/2014/main" val="10002"/>
                  </a:ext>
                </a:extLst>
              </a:tr>
              <a:tr h="738051">
                <a:tc>
                  <a:txBody>
                    <a:bodyPr/>
                    <a:lstStyle/>
                    <a:p>
                      <a:pPr algn="l"/>
                      <a:r>
                        <a:rPr sz="980" b="1" i="0">
                          <a:solidFill>
                            <a:srgbClr val="0F172A"/>
                          </a:solidFill>
                          <a:latin typeface="Poppins"/>
                        </a:rPr>
                        <a:t>3</a:t>
                      </a:r>
                    </a:p>
                  </a:txBody>
                  <a:tcPr marL="128016" marR="128016" marT="54864" marB="54864" anchor="ctr">
                    <a:solidFill>
                      <a:srgbClr val="FFFFFF"/>
                    </a:solidFill>
                  </a:tcPr>
                </a:tc>
                <a:tc>
                  <a:txBody>
                    <a:bodyPr/>
                    <a:lstStyle/>
                    <a:p>
                      <a:pPr algn="l"/>
                      <a:r>
                        <a:rPr sz="980" b="0" i="0">
                          <a:solidFill>
                            <a:srgbClr val="334155"/>
                          </a:solidFill>
                          <a:latin typeface="Poppins"/>
                        </a:rPr>
                        <a:t>Lack of hardware energy efficiency</a:t>
                      </a:r>
                    </a:p>
                  </a:txBody>
                  <a:tcPr marL="128016" marR="128016" marT="54864" marB="54864" anchor="ctr">
                    <a:solidFill>
                      <a:srgbClr val="FFFFFF"/>
                    </a:solidFill>
                  </a:tcPr>
                </a:tc>
                <a:tc>
                  <a:txBody>
                    <a:bodyPr/>
                    <a:lstStyle/>
                    <a:p>
                      <a:pPr algn="l"/>
                      <a:r>
                        <a:rPr sz="980" b="0" i="0">
                          <a:solidFill>
                            <a:srgbClr val="334155"/>
                          </a:solidFill>
                          <a:latin typeface="Poppins"/>
                        </a:rPr>
                        <a:t>Dense multiplier switching activity dominates accelerator power dissipation.</a:t>
                      </a:r>
                    </a:p>
                  </a:txBody>
                  <a:tcPr marL="128016" marR="128016" marT="54864" marB="54864" anchor="ctr">
                    <a:solidFill>
                      <a:srgbClr val="FFFFFF"/>
                    </a:solidFill>
                  </a:tcPr>
                </a:tc>
                <a:tc>
                  <a:txBody>
                    <a:bodyPr/>
                    <a:lstStyle/>
                    <a:p>
                      <a:pPr algn="l"/>
                      <a:r>
                        <a:rPr sz="980" b="0" i="0">
                          <a:solidFill>
                            <a:srgbClr val="334155"/>
                          </a:solidFill>
                          <a:latin typeface="Poppins"/>
                        </a:rPr>
                        <a:t>Proposed Zero-Aware Systolic PE: 1-cycle comparator to clock-gate multiplier on zero weights.</a:t>
                      </a:r>
                    </a:p>
                  </a:txBody>
                  <a:tcPr marL="128016" marR="128016" marT="54864" marB="54864" anchor="ctr">
                    <a:solidFill>
                      <a:srgbClr val="FFFFFF"/>
                    </a:solidFill>
                  </a:tcPr>
                </a:tc>
                <a:tc>
                  <a:txBody>
                    <a:bodyPr/>
                    <a:lstStyle/>
                    <a:p>
                      <a:pPr algn="l"/>
                      <a:r>
                        <a:rPr sz="980" b="0" i="0">
                          <a:solidFill>
                            <a:srgbClr val="334155"/>
                          </a:solidFill>
                          <a:latin typeface="Poppins"/>
                        </a:rPr>
                        <a:t>🔋 Target Dynamic Power Suppression: Designed to eliminate multiplier toggling; RTL &amp; power validation are future work.</a:t>
                      </a:r>
                    </a:p>
                  </a:txBody>
                  <a:tcPr marL="128016" marR="128016" marT="54864" marB="54864" anchor="ctr">
                    <a:solidFill>
                      <a:srgbClr val="FFFFFF"/>
                    </a:solidFill>
                  </a:tcPr>
                </a:tc>
                <a:extLst>
                  <a:ext uri="{0D108BD9-81ED-4DB2-BD59-A6C34878D82A}">
                    <a16:rowId xmlns:a16="http://schemas.microsoft.com/office/drawing/2014/main" val="10003"/>
                  </a:ext>
                </a:extLst>
              </a:tr>
              <a:tr h="738051">
                <a:tc>
                  <a:txBody>
                    <a:bodyPr/>
                    <a:lstStyle/>
                    <a:p>
                      <a:pPr algn="l"/>
                      <a:r>
                        <a:rPr sz="980" b="1" i="0">
                          <a:solidFill>
                            <a:srgbClr val="0F172A"/>
                          </a:solidFill>
                          <a:latin typeface="Poppins"/>
                        </a:rPr>
                        <a:t>4</a:t>
                      </a:r>
                    </a:p>
                  </a:txBody>
                  <a:tcPr marL="128016" marR="128016" marT="54864" marB="54864" anchor="ctr">
                    <a:solidFill>
                      <a:srgbClr val="F8FAFC"/>
                    </a:solidFill>
                  </a:tcPr>
                </a:tc>
                <a:tc>
                  <a:txBody>
                    <a:bodyPr/>
                    <a:lstStyle/>
                    <a:p>
                      <a:pPr algn="l"/>
                      <a:r>
                        <a:rPr sz="980" b="0" i="0">
                          <a:solidFill>
                            <a:srgbClr val="334155"/>
                          </a:solidFill>
                          <a:latin typeface="Poppins"/>
                        </a:rPr>
                        <a:t>Overhead of irregular sparse decoders</a:t>
                      </a:r>
                    </a:p>
                  </a:txBody>
                  <a:tcPr marL="128016" marR="128016" marT="54864" marB="54864" anchor="ctr">
                    <a:solidFill>
                      <a:srgbClr val="F8FAFC"/>
                    </a:solidFill>
                  </a:tcPr>
                </a:tc>
                <a:tc>
                  <a:txBody>
                    <a:bodyPr/>
                    <a:lstStyle/>
                    <a:p>
                      <a:pPr algn="l"/>
                      <a:r>
                        <a:rPr sz="980" b="0" i="0">
                          <a:solidFill>
                            <a:srgbClr val="334155"/>
                          </a:solidFill>
                          <a:latin typeface="Poppins"/>
                        </a:rPr>
                        <a:t>Conventional CSR/CSC decoders require heavy pointer logic, negating savings at &lt;20%.</a:t>
                      </a:r>
                    </a:p>
                  </a:txBody>
                  <a:tcPr marL="128016" marR="128016" marT="54864" marB="54864" anchor="ctr">
                    <a:solidFill>
                      <a:srgbClr val="F8FAFC"/>
                    </a:solidFill>
                  </a:tcPr>
                </a:tc>
                <a:tc>
                  <a:txBody>
                    <a:bodyPr/>
                    <a:lstStyle/>
                    <a:p>
                      <a:pPr algn="l"/>
                      <a:r>
                        <a:rPr sz="980" b="0" i="0">
                          <a:solidFill>
                            <a:srgbClr val="334155"/>
                          </a:solidFill>
                          <a:latin typeface="Poppins"/>
                        </a:rPr>
                        <a:t>Numerical Weight Zeroing (W → 0 if |W| ≤ τ) while preserving standard dense tensor layout.</a:t>
                      </a:r>
                    </a:p>
                  </a:txBody>
                  <a:tcPr marL="128016" marR="128016" marT="54864" marB="54864" anchor="ctr">
                    <a:solidFill>
                      <a:srgbClr val="F8FAFC"/>
                    </a:solidFill>
                  </a:tcPr>
                </a:tc>
                <a:tc>
                  <a:txBody>
                    <a:bodyPr/>
                    <a:lstStyle/>
                    <a:p>
                      <a:pPr algn="l"/>
                      <a:r>
                        <a:rPr sz="980" b="0" i="0">
                          <a:solidFill>
                            <a:srgbClr val="334155"/>
                          </a:solidFill>
                          <a:latin typeface="Poppins"/>
                        </a:rPr>
                        <a:t>⚙️ Zero Indexing Overhead: Eliminates pointer tables and FIFO queues; deterministic sequential memory access.</a:t>
                      </a:r>
                    </a:p>
                  </a:txBody>
                  <a:tcPr marL="128016" marR="128016" marT="54864" marB="54864" anchor="ctr">
                    <a:solidFill>
                      <a:srgbClr val="F8FAFC"/>
                    </a:solidFill>
                  </a:tcPr>
                </a:tc>
                <a:extLst>
                  <a:ext uri="{0D108BD9-81ED-4DB2-BD59-A6C34878D82A}">
                    <a16:rowId xmlns:a16="http://schemas.microsoft.com/office/drawing/2014/main" val="10004"/>
                  </a:ext>
                </a:extLst>
              </a:tr>
              <a:tr h="738051">
                <a:tc>
                  <a:txBody>
                    <a:bodyPr/>
                    <a:lstStyle/>
                    <a:p>
                      <a:pPr algn="l"/>
                      <a:r>
                        <a:rPr sz="980" b="1" i="0">
                          <a:solidFill>
                            <a:srgbClr val="0F172A"/>
                          </a:solidFill>
                          <a:latin typeface="Poppins"/>
                        </a:rPr>
                        <a:t>5</a:t>
                      </a:r>
                    </a:p>
                  </a:txBody>
                  <a:tcPr marL="128016" marR="128016" marT="54864" marB="54864" anchor="ctr">
                    <a:solidFill>
                      <a:srgbClr val="FFFFFF"/>
                    </a:solidFill>
                  </a:tcPr>
                </a:tc>
                <a:tc>
                  <a:txBody>
                    <a:bodyPr/>
                    <a:lstStyle/>
                    <a:p>
                      <a:pPr algn="l"/>
                      <a:r>
                        <a:rPr sz="980" b="0" i="0">
                          <a:solidFill>
                            <a:srgbClr val="334155"/>
                          </a:solidFill>
                          <a:latin typeface="Poppins"/>
                        </a:rPr>
                        <a:t>Uncertain accuracy under weight zeroing</a:t>
                      </a:r>
                    </a:p>
                  </a:txBody>
                  <a:tcPr marL="128016" marR="128016" marT="54864" marB="54864" anchor="ctr">
                    <a:solidFill>
                      <a:srgbClr val="FFFFFF"/>
                    </a:solidFill>
                  </a:tcPr>
                </a:tc>
                <a:tc>
                  <a:txBody>
                    <a:bodyPr/>
                    <a:lstStyle/>
                    <a:p>
                      <a:pPr algn="l"/>
                      <a:r>
                        <a:rPr sz="980" b="0" i="0">
                          <a:solidFill>
                            <a:srgbClr val="334155"/>
                          </a:solidFill>
                          <a:latin typeface="Poppins"/>
                        </a:rPr>
                        <a:t>Aggressive zeroing damages critical filters; safe threshold cannot be guessed.</a:t>
                      </a:r>
                    </a:p>
                  </a:txBody>
                  <a:tcPr marL="128016" marR="128016" marT="54864" marB="54864" anchor="ctr">
                    <a:solidFill>
                      <a:srgbClr val="FFFFFF"/>
                    </a:solidFill>
                  </a:tcPr>
                </a:tc>
                <a:tc>
                  <a:txBody>
                    <a:bodyPr/>
                    <a:lstStyle/>
                    <a:p>
                      <a:pPr algn="l"/>
                      <a:r>
                        <a:rPr sz="980" b="0" i="0">
                          <a:solidFill>
                            <a:srgbClr val="334155"/>
                          </a:solidFill>
                          <a:latin typeface="Poppins"/>
                        </a:rPr>
                        <a:t>Rigorous Sensitivity Sweeps: Evaluation across thresholds (10⁻²⁰ to 10⁻¹) + 21-point zoom (τ = 10⁻³).</a:t>
                      </a:r>
                    </a:p>
                  </a:txBody>
                  <a:tcPr marL="128016" marR="128016" marT="54864" marB="54864" anchor="ctr">
                    <a:solidFill>
                      <a:srgbClr val="FFFFFF"/>
                    </a:solidFill>
                  </a:tcPr>
                </a:tc>
                <a:tc>
                  <a:txBody>
                    <a:bodyPr/>
                    <a:lstStyle/>
                    <a:p>
                      <a:pPr algn="l"/>
                      <a:r>
                        <a:rPr sz="980" b="0" i="0">
                          <a:solidFill>
                            <a:srgbClr val="334155"/>
                          </a:solidFill>
                          <a:latin typeface="Poppins"/>
                        </a:rPr>
                        <a:t>🛡️ Invariance Verified: 0 prediction changes across 3,551 test images on evaluated MobileNetV3-S checkpoint (88.54% test acc).</a:t>
                      </a:r>
                    </a:p>
                  </a:txBody>
                  <a:tcPr marL="128016" marR="128016" marT="54864" marB="54864" anchor="ctr">
                    <a:solidFill>
                      <a:srgbClr val="FFFFFF"/>
                    </a:solidFill>
                  </a:tcPr>
                </a:tc>
                <a:extLst>
                  <a:ext uri="{0D108BD9-81ED-4DB2-BD59-A6C34878D82A}">
                    <a16:rowId xmlns:a16="http://schemas.microsoft.com/office/drawing/2014/main" val="10005"/>
                  </a:ext>
                </a:extLst>
              </a:tr>
              <a:tr h="738054">
                <a:tc>
                  <a:txBody>
                    <a:bodyPr/>
                    <a:lstStyle/>
                    <a:p>
                      <a:pPr algn="l"/>
                      <a:r>
                        <a:rPr sz="980" b="1" i="0">
                          <a:solidFill>
                            <a:srgbClr val="0F172A"/>
                          </a:solidFill>
                          <a:latin typeface="Poppins"/>
                        </a:rPr>
                        <a:t>6</a:t>
                      </a:r>
                    </a:p>
                  </a:txBody>
                  <a:tcPr marL="128016" marR="128016" marT="54864" marB="54864" anchor="ctr">
                    <a:solidFill>
                      <a:srgbClr val="F8FAFC"/>
                    </a:solidFill>
                  </a:tcPr>
                </a:tc>
                <a:tc>
                  <a:txBody>
                    <a:bodyPr/>
                    <a:lstStyle/>
                    <a:p>
                      <a:pPr algn="l"/>
                      <a:r>
                        <a:rPr sz="980" b="0" i="0">
                          <a:solidFill>
                            <a:srgbClr val="334155"/>
                          </a:solidFill>
                          <a:latin typeface="Poppins"/>
                        </a:rPr>
                        <a:t>Lack of end-to-end co-design validation</a:t>
                      </a:r>
                    </a:p>
                  </a:txBody>
                  <a:tcPr marL="128016" marR="128016" marT="54864" marB="54864" anchor="ctr">
                    <a:solidFill>
                      <a:srgbClr val="F8FAFC"/>
                    </a:solidFill>
                  </a:tcPr>
                </a:tc>
                <a:tc>
                  <a:txBody>
                    <a:bodyPr/>
                    <a:lstStyle/>
                    <a:p>
                      <a:pPr algn="l"/>
                      <a:r>
                        <a:rPr sz="980" b="0" i="0">
                          <a:solidFill>
                            <a:srgbClr val="334155"/>
                          </a:solidFill>
                          <a:latin typeface="Poppins"/>
                        </a:rPr>
                        <a:t>Prior works stop at software simulations; lack synthesizable hardware proof.</a:t>
                      </a:r>
                    </a:p>
                  </a:txBody>
                  <a:tcPr marL="128016" marR="128016" marT="54864" marB="54864" anchor="ctr">
                    <a:solidFill>
                      <a:srgbClr val="F8FAFC"/>
                    </a:solidFill>
                  </a:tcPr>
                </a:tc>
                <a:tc>
                  <a:txBody>
                    <a:bodyPr/>
                    <a:lstStyle/>
                    <a:p>
                      <a:pPr algn="l"/>
                      <a:r>
                        <a:rPr sz="980" b="0" i="0">
                          <a:solidFill>
                            <a:srgbClr val="334155"/>
                          </a:solidFill>
                          <a:latin typeface="Poppins"/>
                        </a:rPr>
                        <a:t>Staged Co-Design Pipeline: 23,144 Images → KD Student → Software Zeroing → Proposed Verilog RTL PE.</a:t>
                      </a:r>
                    </a:p>
                  </a:txBody>
                  <a:tcPr marL="128016" marR="128016" marT="54864" marB="54864" anchor="ctr">
                    <a:solidFill>
                      <a:srgbClr val="F8FAFC"/>
                    </a:solidFill>
                  </a:tcPr>
                </a:tc>
                <a:tc>
                  <a:txBody>
                    <a:bodyPr/>
                    <a:lstStyle/>
                    <a:p>
                      <a:pPr algn="l"/>
                      <a:r>
                        <a:rPr sz="980" b="0" i="0" dirty="0">
                          <a:solidFill>
                            <a:srgbClr val="334155"/>
                          </a:solidFill>
                          <a:latin typeface="Poppins"/>
                        </a:rPr>
                        <a:t>🏆 40% Review-2 Milestone: Software ML pipeline complete &amp; verified (July W4 – Oct W2); remaining 60% targeted for Review-3 (100% completion).</a:t>
                      </a:r>
                    </a:p>
                  </a:txBody>
                  <a:tcPr marL="128016" marR="128016" marT="54864" marB="54864" anchor="ctr">
                    <a:solidFill>
                      <a:srgbClr val="F8FAFC"/>
                    </a:solidFill>
                  </a:tcPr>
                </a:tc>
                <a:extLst>
                  <a:ext uri="{0D108BD9-81ED-4DB2-BD59-A6C34878D82A}">
                    <a16:rowId xmlns:a16="http://schemas.microsoft.com/office/drawing/2014/main" val="10006"/>
                  </a:ext>
                </a:extLst>
              </a:tr>
            </a:tbl>
          </a:graphicData>
        </a:graphic>
      </p:graphicFrame>
      <p:sp>
        <p:nvSpPr>
          <p:cNvPr id="6" name="Rounded Rectangle 5"/>
          <p:cNvSpPr/>
          <p:nvPr/>
        </p:nvSpPr>
        <p:spPr>
          <a:xfrm>
            <a:off x="914400" y="6720840"/>
            <a:ext cx="16459200" cy="2697480"/>
          </a:xfrm>
          <a:prstGeom prst="roundRect">
            <a:avLst/>
          </a:prstGeom>
          <a:solidFill>
            <a:srgbClr val="182538"/>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square" lIns="274320" tIns="164592" rIns="274320" rtlCol="0" anchor="t"/>
          <a:lstStyle/>
          <a:p>
            <a:pPr algn="ctr"/>
            <a:r>
              <a:rPr sz="1600" b="1" i="0">
                <a:solidFill>
                  <a:srgbClr val="38BDF8"/>
                </a:solidFill>
                <a:latin typeface="Poppins"/>
              </a:rPr>
              <a:t>💡 Integrated Co-Design Paradigm &amp; Validation Scope</a:t>
            </a:r>
          </a:p>
          <a:p>
            <a:pPr>
              <a:spcBef>
                <a:spcPts val="400"/>
              </a:spcBef>
            </a:pPr>
            <a:r>
              <a:rPr sz="1200" b="1" i="0">
                <a:solidFill>
                  <a:srgbClr val="FFFFFF"/>
                </a:solidFill>
                <a:latin typeface="Poppins"/>
              </a:rPr>
              <a:t>• Completed Software Foundation (40% Milestone): </a:t>
            </a:r>
            <a:r>
              <a:rPr sz="1100" b="0" i="0">
                <a:solidFill>
                  <a:srgbClr val="E2E8F0"/>
                </a:solidFill>
                <a:latin typeface="Poppins"/>
              </a:rPr>
              <a:t>Knowledge-distilled lightweight student (1,091,188 parameters), curated 23,144 RGB solar-panel image dataset, and numerical weight zeroing (τ = 10⁻³, 20,086 weights zeroed, 1.8407% sparsity) with 0 prediction changes verified across all 3,551 held-out test images on the evaluated checkpoint (88.54% test accuracy).</a:t>
            </a:r>
          </a:p>
          <a:p>
            <a:pPr>
              <a:spcBef>
                <a:spcPts val="300"/>
              </a:spcBef>
            </a:pPr>
            <a:r>
              <a:rPr sz="1200" b="1" i="0">
                <a:solidFill>
                  <a:srgbClr val="38BDF8"/>
                </a:solidFill>
                <a:latin typeface="Poppins"/>
              </a:rPr>
              <a:t>• Proposed Hardware Implementation (Review-3 Scope / Remaining 60%): </a:t>
            </a:r>
            <a:r>
              <a:rPr sz="1100" b="0" i="0">
                <a:solidFill>
                  <a:srgbClr val="CBD5E1"/>
                </a:solidFill>
                <a:latin typeface="Poppins"/>
              </a:rPr>
              <a:t>Zero-aware systolic processing element with operand clock-gating to suppress multiplier switching without sparse coordinate tables. Full RTL implementation, FPGA synthesis, and physical power measurements form the remaining 60% scope for Review-3 (100% project completion).</a:t>
            </a:r>
          </a:p>
        </p:txBody>
      </p:sp>
      <p:pic>
        <p:nvPicPr>
          <p:cNvPr id="8" name="Picture 7">
            <a:extLst>
              <a:ext uri="{FF2B5EF4-FFF2-40B4-BE49-F238E27FC236}">
                <a16:creationId xmlns:a16="http://schemas.microsoft.com/office/drawing/2014/main" id="{75E7EDE7-E24B-FDE7-184C-8BA4CBC4E3FA}"/>
              </a:ext>
            </a:extLst>
          </p:cNvPr>
          <p:cNvPicPr>
            <a:picLocks noChangeAspect="1"/>
          </p:cNvPicPr>
          <p:nvPr/>
        </p:nvPicPr>
        <p:blipFill>
          <a:blip r:embed="rId2"/>
          <a:stretch>
            <a:fillRect/>
          </a:stretch>
        </p:blipFill>
        <p:spPr>
          <a:xfrm>
            <a:off x="762000" y="3981"/>
            <a:ext cx="16764000" cy="9429750"/>
          </a:xfrm>
          <a:prstGeom prst="rect">
            <a:avLst/>
          </a:prstGeom>
        </p:spPr>
      </p:pic>
    </p:spTree>
    <p:extLst>
      <p:ext uri="{BB962C8B-B14F-4D97-AF65-F5344CB8AC3E}">
        <p14:creationId xmlns:p14="http://schemas.microsoft.com/office/powerpoint/2010/main" val="41545193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8BDB8E-E381-0574-D237-588390477499}"/>
            </a:ext>
          </a:extLst>
        </p:cNvPr>
        <p:cNvGrpSpPr/>
        <p:nvPr/>
      </p:nvGrpSpPr>
      <p:grpSpPr>
        <a:xfrm>
          <a:off x="0" y="0"/>
          <a:ext cx="0" cy="0"/>
          <a:chOff x="0" y="0"/>
          <a:chExt cx="0" cy="0"/>
        </a:xfrm>
      </p:grpSpPr>
      <p:sp>
        <p:nvSpPr>
          <p:cNvPr id="2" name="TextBox 1"/>
          <p:cNvSpPr txBox="1"/>
          <p:nvPr/>
        </p:nvSpPr>
        <p:spPr>
          <a:xfrm>
            <a:off x="914400" y="475488"/>
            <a:ext cx="16459200" cy="553998"/>
          </a:xfrm>
          <a:prstGeom prst="rect">
            <a:avLst/>
          </a:prstGeom>
          <a:noFill/>
        </p:spPr>
        <p:txBody>
          <a:bodyPr wrap="square" lIns="0" tIns="0" rIns="0" bIns="0">
            <a:spAutoFit/>
          </a:bodyPr>
          <a:lstStyle/>
          <a:p>
            <a:r>
              <a:rPr sz="3600" b="1" i="0">
                <a:solidFill>
                  <a:srgbClr val="0F172A"/>
                </a:solidFill>
                <a:latin typeface="Poppins"/>
              </a:rPr>
              <a:t>Project Overview &amp; Formal Research Objectives</a:t>
            </a:r>
          </a:p>
        </p:txBody>
      </p:sp>
      <p:sp>
        <p:nvSpPr>
          <p:cNvPr id="3" name="Rectangle 2"/>
          <p:cNvSpPr/>
          <p:nvPr/>
        </p:nvSpPr>
        <p:spPr>
          <a:xfrm>
            <a:off x="914400" y="9646920"/>
            <a:ext cx="16459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 name="TextBox 3"/>
          <p:cNvSpPr txBox="1"/>
          <p:nvPr/>
        </p:nvSpPr>
        <p:spPr>
          <a:xfrm>
            <a:off x="914400" y="9738360"/>
            <a:ext cx="13191112" cy="184666"/>
          </a:xfrm>
          <a:prstGeom prst="rect">
            <a:avLst/>
          </a:prstGeom>
          <a:noFill/>
        </p:spPr>
        <p:txBody>
          <a:bodyPr wrap="none" lIns="0" tIns="0" rIns="0" bIns="0">
            <a:spAutoFit/>
          </a:bodyPr>
          <a:lstStyle/>
          <a:p>
            <a:r>
              <a:rPr sz="1200" b="0" i="0" dirty="0">
                <a:solidFill>
                  <a:srgbClr val="64748B"/>
                </a:solidFill>
                <a:latin typeface="Poppins"/>
              </a:rPr>
              <a:t>Project-1 Review-2  |  MNE_PANEL_3  |  Venue: TT-237-A  |  SENSE, VIT Vellore                        Department of Electronics and Communication Engineering                        </a:t>
            </a:r>
            <a:r>
              <a:rPr sz="1200" b="1" i="0" dirty="0">
                <a:solidFill>
                  <a:srgbClr val="0284C7"/>
                </a:solidFill>
                <a:latin typeface="Poppins"/>
              </a:rPr>
              <a:t>Slide 6 of 18</a:t>
            </a:r>
          </a:p>
        </p:txBody>
      </p:sp>
      <p:sp>
        <p:nvSpPr>
          <p:cNvPr id="5" name="Rounded Rectangle 4"/>
          <p:cNvSpPr/>
          <p:nvPr/>
        </p:nvSpPr>
        <p:spPr>
          <a:xfrm>
            <a:off x="780143" y="1366266"/>
            <a:ext cx="16764000" cy="3685794"/>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219456" rIns="274320" rtlCol="0" anchor="t"/>
          <a:lstStyle/>
          <a:p>
            <a:pPr algn="ctr"/>
            <a:r>
              <a:rPr sz="2000" b="1" i="0" dirty="0">
                <a:solidFill>
                  <a:srgbClr val="0F172A"/>
                </a:solidFill>
                <a:latin typeface="Poppins"/>
              </a:rPr>
              <a:t>Formal Problem Formulation</a:t>
            </a:r>
          </a:p>
          <a:p>
            <a:pPr marL="342900" indent="-342900">
              <a:spcBef>
                <a:spcPts val="800"/>
              </a:spcBef>
              <a:buAutoNum type="arabicPeriod"/>
            </a:pPr>
            <a:r>
              <a:rPr lang="en-US" sz="1600" b="1" dirty="0">
                <a:solidFill>
                  <a:srgbClr val="0284C7"/>
                </a:solidFill>
                <a:latin typeface="Poppins"/>
              </a:rPr>
              <a:t>Limited Fault Detection in Conventional Solar Monitoring : </a:t>
            </a:r>
            <a:r>
              <a:rPr lang="en-US" sz="1600" dirty="0">
                <a:solidFill>
                  <a:schemeClr val="tx1"/>
                </a:solidFill>
                <a:latin typeface="Poppins"/>
              </a:rPr>
              <a:t>Conventional solar inverters mainly monitor electrical parameters such as voltage and current. They cannot directly identify visible panel conditions such as dust accumulation, bird droppings, or physical damage, making fault-specific maintenance difficult.</a:t>
            </a:r>
          </a:p>
          <a:p>
            <a:pPr marL="342900" indent="-342900">
              <a:spcBef>
                <a:spcPts val="800"/>
              </a:spcBef>
              <a:buAutoNum type="arabicPeriod"/>
            </a:pPr>
            <a:r>
              <a:rPr lang="en-US" sz="1600" b="1" dirty="0">
                <a:solidFill>
                  <a:srgbClr val="0284C7"/>
                </a:solidFill>
                <a:latin typeface="Poppins"/>
              </a:rPr>
              <a:t>Computational and Memory Constraints of CNNs : </a:t>
            </a:r>
            <a:r>
              <a:rPr lang="en-US" sz="1600" dirty="0">
                <a:solidFill>
                  <a:schemeClr val="tx1"/>
                </a:solidFill>
                <a:latin typeface="Poppins"/>
              </a:rPr>
              <a:t>CNN-based image classification requires multiple multiply-accumulate (MAC) operations and memory access. Deploying complex CNN models on low-power embedded devices is challenging due to limited processing resources and energy budgets.</a:t>
            </a:r>
          </a:p>
          <a:p>
            <a:pPr marL="342900" indent="-342900">
              <a:spcBef>
                <a:spcPts val="800"/>
              </a:spcBef>
              <a:buAutoNum type="arabicPeriod"/>
            </a:pPr>
            <a:r>
              <a:rPr lang="en-US" sz="1600" b="1" dirty="0">
                <a:solidFill>
                  <a:srgbClr val="0284C7"/>
                </a:solidFill>
                <a:latin typeface="Poppins"/>
              </a:rPr>
              <a:t>Hardware Overhead of Conventional Sparse Accelerators : </a:t>
            </a:r>
            <a:r>
              <a:rPr lang="en-US" sz="1600" dirty="0">
                <a:solidFill>
                  <a:schemeClr val="tx1"/>
                </a:solidFill>
                <a:latin typeface="Poppins"/>
              </a:rPr>
              <a:t>Sparse accelerators such as SCNN, and storage formats such as CSR/CSC, can reduce unnecessary computations but introduce indexing, memory-access, and control overhead. At low sparsity levels, these overheads may limit the achievable efficiency gains.</a:t>
            </a:r>
          </a:p>
        </p:txBody>
      </p:sp>
      <p:pic>
        <p:nvPicPr>
          <p:cNvPr id="9" name="Picture 8">
            <a:extLst>
              <a:ext uri="{FF2B5EF4-FFF2-40B4-BE49-F238E27FC236}">
                <a16:creationId xmlns:a16="http://schemas.microsoft.com/office/drawing/2014/main" id="{5A91B874-99B3-7FB1-EB01-9A451AE148E9}"/>
              </a:ext>
            </a:extLst>
          </p:cNvPr>
          <p:cNvPicPr>
            <a:picLocks noChangeAspect="1"/>
          </p:cNvPicPr>
          <p:nvPr/>
        </p:nvPicPr>
        <p:blipFill>
          <a:blip r:embed="rId2"/>
          <a:srcRect t="6944" b="45797"/>
          <a:stretch>
            <a:fillRect/>
          </a:stretch>
        </p:blipFill>
        <p:spPr>
          <a:xfrm>
            <a:off x="910771" y="5234940"/>
            <a:ext cx="16459200" cy="4375404"/>
          </a:xfrm>
          <a:prstGeom prst="rect">
            <a:avLst/>
          </a:prstGeom>
        </p:spPr>
      </p:pic>
    </p:spTree>
    <p:extLst>
      <p:ext uri="{BB962C8B-B14F-4D97-AF65-F5344CB8AC3E}">
        <p14:creationId xmlns:p14="http://schemas.microsoft.com/office/powerpoint/2010/main" val="1837376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4286">
              <a:srgbClr val="FFFFFF">
                <a:alpha val="100000"/>
              </a:srgbClr>
            </a:gs>
            <a:gs pos="28571">
              <a:srgbClr val="FFFFFF">
                <a:alpha val="100000"/>
              </a:srgbClr>
            </a:gs>
            <a:gs pos="42857">
              <a:srgbClr val="FFFFFF">
                <a:alpha val="100000"/>
              </a:srgbClr>
            </a:gs>
            <a:gs pos="57143">
              <a:srgbClr val="FFFFFF">
                <a:alpha val="100000"/>
              </a:srgbClr>
            </a:gs>
            <a:gs pos="71429">
              <a:srgbClr val="DAF9FF">
                <a:alpha val="100000"/>
              </a:srgbClr>
            </a:gs>
            <a:gs pos="85714">
              <a:srgbClr val="89EAFE">
                <a:alpha val="100000"/>
              </a:srgbClr>
            </a:gs>
            <a:gs pos="100000">
              <a:srgbClr val="3B97EC">
                <a:alpha val="100000"/>
              </a:srgbClr>
            </a:gs>
          </a:gsLst>
          <a:lin ang="2700000"/>
        </a:gradFill>
        <a:effectLst/>
      </p:bgPr>
    </p:bg>
    <p:spTree>
      <p:nvGrpSpPr>
        <p:cNvPr id="1" name=""/>
        <p:cNvGrpSpPr/>
        <p:nvPr/>
      </p:nvGrpSpPr>
      <p:grpSpPr>
        <a:xfrm>
          <a:off x="0" y="0"/>
          <a:ext cx="0" cy="0"/>
          <a:chOff x="0" y="0"/>
          <a:chExt cx="0" cy="0"/>
        </a:xfrm>
      </p:grpSpPr>
      <p:sp>
        <p:nvSpPr>
          <p:cNvPr id="2" name="TextBox 1"/>
          <p:cNvSpPr txBox="1"/>
          <p:nvPr/>
        </p:nvSpPr>
        <p:spPr>
          <a:xfrm>
            <a:off x="914400" y="475488"/>
            <a:ext cx="16459200" cy="553998"/>
          </a:xfrm>
          <a:prstGeom prst="rect">
            <a:avLst/>
          </a:prstGeom>
          <a:noFill/>
        </p:spPr>
        <p:txBody>
          <a:bodyPr wrap="square" lIns="0" tIns="0" rIns="0" bIns="0">
            <a:spAutoFit/>
          </a:bodyPr>
          <a:lstStyle/>
          <a:p>
            <a:r>
              <a:rPr sz="3600" b="1" i="0">
                <a:solidFill>
                  <a:srgbClr val="0F172A"/>
                </a:solidFill>
                <a:latin typeface="Poppins"/>
              </a:rPr>
              <a:t>Dataset Evolution &amp; Stratification Protocol</a:t>
            </a:r>
          </a:p>
        </p:txBody>
      </p:sp>
      <p:sp>
        <p:nvSpPr>
          <p:cNvPr id="3" name="Rectangle 2"/>
          <p:cNvSpPr/>
          <p:nvPr/>
        </p:nvSpPr>
        <p:spPr>
          <a:xfrm>
            <a:off x="914400" y="9646920"/>
            <a:ext cx="16459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 name="TextBox 3"/>
          <p:cNvSpPr txBox="1"/>
          <p:nvPr/>
        </p:nvSpPr>
        <p:spPr>
          <a:xfrm>
            <a:off x="914400" y="9738360"/>
            <a:ext cx="13175082" cy="184666"/>
          </a:xfrm>
          <a:prstGeom prst="rect">
            <a:avLst/>
          </a:prstGeom>
          <a:noFill/>
        </p:spPr>
        <p:txBody>
          <a:bodyPr wrap="none" lIns="0" tIns="0" rIns="0" bIns="0">
            <a:spAutoFit/>
          </a:bodyPr>
          <a:lstStyle/>
          <a:p>
            <a:r>
              <a:rPr sz="1200" b="0" i="0">
                <a:solidFill>
                  <a:srgbClr val="64748B"/>
                </a:solidFill>
                <a:latin typeface="Poppins"/>
              </a:rPr>
              <a:t>Project-1 Review-2  |  MNE_PANEL_3  |  Venue: TT-237-A  |  SENSE, VIT Vellore                        Department of Electronics and Communication Engineering                        </a:t>
            </a:r>
            <a:r>
              <a:rPr sz="1200" b="1" i="0">
                <a:solidFill>
                  <a:srgbClr val="0284C7"/>
                </a:solidFill>
                <a:latin typeface="Poppins"/>
              </a:rPr>
              <a:t>Slide 7 of 18</a:t>
            </a:r>
          </a:p>
        </p:txBody>
      </p:sp>
      <p:sp>
        <p:nvSpPr>
          <p:cNvPr id="5" name="Rounded Rectangle 4"/>
          <p:cNvSpPr/>
          <p:nvPr/>
        </p:nvSpPr>
        <p:spPr>
          <a:xfrm>
            <a:off x="914400" y="1325880"/>
            <a:ext cx="7498079" cy="51206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219456" rIns="274320" rtlCol="0" anchor="t"/>
          <a:lstStyle/>
          <a:p>
            <a:pPr algn="ctr"/>
            <a:r>
              <a:rPr sz="2400" b="1" i="0" dirty="0">
                <a:solidFill>
                  <a:srgbClr val="0F172A"/>
                </a:solidFill>
                <a:latin typeface="Poppins"/>
              </a:rPr>
              <a:t>Three-Stage Dataset Progression</a:t>
            </a:r>
          </a:p>
          <a:p>
            <a:pPr>
              <a:spcBef>
                <a:spcPts val="800"/>
              </a:spcBef>
            </a:pPr>
            <a:r>
              <a:rPr b="1" i="0" dirty="0">
                <a:solidFill>
                  <a:srgbClr val="0284C7"/>
                </a:solidFill>
                <a:latin typeface="Poppins"/>
              </a:rPr>
              <a:t>Stage 1: Dataset V1 (~731 Images, 5 Classes)</a:t>
            </a:r>
          </a:p>
          <a:p>
            <a:pPr>
              <a:spcBef>
                <a:spcPts val="250"/>
              </a:spcBef>
            </a:pPr>
            <a:r>
              <a:rPr sz="1600" b="0" i="0" dirty="0">
                <a:solidFill>
                  <a:srgbClr val="334155"/>
                </a:solidFill>
                <a:latin typeface="Poppins"/>
              </a:rPr>
              <a:t>Initial raw collection (Bird 128, Clean 199, Dust 247, Electrical 62, Damage 96). Suffered severe class imbalance and background label noise; accuracy stalled at 73.97%–75.34%.</a:t>
            </a:r>
          </a:p>
          <a:p>
            <a:pPr>
              <a:spcBef>
                <a:spcPts val="800"/>
              </a:spcBef>
            </a:pPr>
            <a:r>
              <a:rPr b="1" i="0" dirty="0">
                <a:solidFill>
                  <a:srgbClr val="0284C7"/>
                </a:solidFill>
                <a:latin typeface="Poppins"/>
              </a:rPr>
              <a:t>Stage 2: Dataset V2 (997 Images, 4 Classes)</a:t>
            </a:r>
          </a:p>
          <a:p>
            <a:pPr>
              <a:spcBef>
                <a:spcPts val="250"/>
              </a:spcBef>
            </a:pPr>
            <a:r>
              <a:rPr sz="1600" b="0" i="0" dirty="0">
                <a:solidFill>
                  <a:srgbClr val="334155"/>
                </a:solidFill>
                <a:latin typeface="Poppins"/>
              </a:rPr>
              <a:t>Rigorous manual cleaning: combined electrical/physical damage into unified Damage (240) alongside Bird (260), Clean (259), Dust (238). Used for controlled augmentation ablation studies.</a:t>
            </a:r>
            <a:r>
              <a:rPr lang="en-US" sz="1600" dirty="0">
                <a:solidFill>
                  <a:srgbClr val="334155"/>
                </a:solidFill>
                <a:latin typeface="Poppins"/>
              </a:rPr>
              <a:t> accuracy stalled at 80.71%–83.24%.</a:t>
            </a:r>
            <a:endParaRPr sz="1600" b="0" i="0" dirty="0">
              <a:solidFill>
                <a:srgbClr val="334155"/>
              </a:solidFill>
              <a:latin typeface="Poppins"/>
            </a:endParaRPr>
          </a:p>
          <a:p>
            <a:pPr>
              <a:spcBef>
                <a:spcPts val="800"/>
              </a:spcBef>
            </a:pPr>
            <a:r>
              <a:rPr b="1" i="0" dirty="0">
                <a:solidFill>
                  <a:srgbClr val="0284C7"/>
                </a:solidFill>
                <a:latin typeface="Poppins"/>
              </a:rPr>
              <a:t>Stage 3: Expanded Benchmark (23,144 Images, 4 Classes)</a:t>
            </a:r>
          </a:p>
          <a:p>
            <a:pPr>
              <a:spcBef>
                <a:spcPts val="250"/>
              </a:spcBef>
            </a:pPr>
            <a:r>
              <a:rPr sz="1600" b="0" i="0" dirty="0">
                <a:solidFill>
                  <a:srgbClr val="334155"/>
                </a:solidFill>
                <a:latin typeface="Poppins"/>
              </a:rPr>
              <a:t>Final high-diversity RGB solar-panel image dataset establishing the benchmark for knowledge distillation, weight zeroing, and sensitivity sweeps across diverse solar micro-climates.</a:t>
            </a:r>
          </a:p>
        </p:txBody>
      </p:sp>
      <p:sp>
        <p:nvSpPr>
          <p:cNvPr id="6" name="Rounded Rectangle 5"/>
          <p:cNvSpPr/>
          <p:nvPr/>
        </p:nvSpPr>
        <p:spPr>
          <a:xfrm>
            <a:off x="914400" y="6629400"/>
            <a:ext cx="7498079" cy="2788920"/>
          </a:xfrm>
          <a:prstGeom prst="roundRect">
            <a:avLst/>
          </a:prstGeom>
          <a:solidFill>
            <a:srgbClr val="182538"/>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square" lIns="256032" tIns="164592" rIns="256032" rtlCol="0" anchor="t"/>
          <a:lstStyle/>
          <a:p>
            <a:pPr algn="ctr"/>
            <a:r>
              <a:rPr sz="2000" b="1" i="0" dirty="0">
                <a:solidFill>
                  <a:srgbClr val="38BDF8"/>
                </a:solidFill>
                <a:latin typeface="Poppins"/>
              </a:rPr>
              <a:t>Evaluation Protocol (Held-Out Test Set)</a:t>
            </a:r>
          </a:p>
          <a:p>
            <a:pPr>
              <a:spcBef>
                <a:spcPts val="400"/>
              </a:spcBef>
            </a:pPr>
            <a:r>
              <a:rPr sz="1200" b="0" i="0" dirty="0">
                <a:solidFill>
                  <a:srgbClr val="F1F5F9"/>
                </a:solidFill>
                <a:latin typeface="Poppins"/>
              </a:rPr>
              <a:t>• Threshold Selection Protocol: The validation set (3,442 images) was used to explore sensitivity sweeps and select the operating threshold (τ = 10⁻³).
• Final Evaluation: The selected zeroed model was evaluated on 3,551 independent test images, producing identical predictions on all evaluated samples (88.54% test accuracy).
• Note: Test-set invariance is an observed result for the evaluated checkpoint and dataset, not a guarantee of generalization to unseen environments.</a:t>
            </a:r>
          </a:p>
        </p:txBody>
      </p:sp>
      <p:graphicFrame>
        <p:nvGraphicFramePr>
          <p:cNvPr id="7" name="Table 6"/>
          <p:cNvGraphicFramePr>
            <a:graphicFrameLocks noGrp="1"/>
          </p:cNvGraphicFramePr>
          <p:nvPr/>
        </p:nvGraphicFramePr>
        <p:xfrm>
          <a:off x="8686800" y="1325880"/>
          <a:ext cx="8686800" cy="356616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594360">
                <a:tc>
                  <a:txBody>
                    <a:bodyPr/>
                    <a:lstStyle/>
                    <a:p>
                      <a:pPr algn="l"/>
                      <a:r>
                        <a:rPr sz="1050" b="1" i="0">
                          <a:solidFill>
                            <a:srgbClr val="FFFFFF"/>
                          </a:solidFill>
                          <a:latin typeface="Poppins"/>
                        </a:rPr>
                        <a:t>Operational Class</a:t>
                      </a:r>
                    </a:p>
                  </a:txBody>
                  <a:tcPr marL="128016" marR="128016" marT="73152" marB="73152" anchor="ctr">
                    <a:solidFill>
                      <a:srgbClr val="0F172A"/>
                    </a:solidFill>
                  </a:tcPr>
                </a:tc>
                <a:tc>
                  <a:txBody>
                    <a:bodyPr/>
                    <a:lstStyle/>
                    <a:p>
                      <a:pPr algn="l"/>
                      <a:r>
                        <a:rPr sz="1050" b="1" i="0">
                          <a:solidFill>
                            <a:srgbClr val="FFFFFF"/>
                          </a:solidFill>
                          <a:latin typeface="Poppins"/>
                        </a:rPr>
                        <a:t>Train (70%)</a:t>
                      </a:r>
                    </a:p>
                  </a:txBody>
                  <a:tcPr marL="128016" marR="128016" marT="73152" marB="73152" anchor="ctr">
                    <a:solidFill>
                      <a:srgbClr val="0F172A"/>
                    </a:solidFill>
                  </a:tcPr>
                </a:tc>
                <a:tc>
                  <a:txBody>
                    <a:bodyPr/>
                    <a:lstStyle/>
                    <a:p>
                      <a:pPr algn="l"/>
                      <a:r>
                        <a:rPr sz="1050" b="1" i="0">
                          <a:solidFill>
                            <a:srgbClr val="FFFFFF"/>
                          </a:solidFill>
                          <a:latin typeface="Poppins"/>
                        </a:rPr>
                        <a:t>Val (15%)</a:t>
                      </a:r>
                    </a:p>
                  </a:txBody>
                  <a:tcPr marL="128016" marR="128016" marT="73152" marB="73152" anchor="ctr">
                    <a:solidFill>
                      <a:srgbClr val="0F172A"/>
                    </a:solidFill>
                  </a:tcPr>
                </a:tc>
                <a:tc>
                  <a:txBody>
                    <a:bodyPr/>
                    <a:lstStyle/>
                    <a:p>
                      <a:pPr algn="l"/>
                      <a:r>
                        <a:rPr sz="1050" b="1" i="0">
                          <a:solidFill>
                            <a:srgbClr val="FFFFFF"/>
                          </a:solidFill>
                          <a:latin typeface="Poppins"/>
                        </a:rPr>
                        <a:t>Test (15%)</a:t>
                      </a:r>
                    </a:p>
                  </a:txBody>
                  <a:tcPr marL="128016" marR="128016" marT="73152" marB="73152" anchor="ctr">
                    <a:solidFill>
                      <a:srgbClr val="0F172A"/>
                    </a:solidFill>
                  </a:tcPr>
                </a:tc>
                <a:tc>
                  <a:txBody>
                    <a:bodyPr/>
                    <a:lstStyle/>
                    <a:p>
                      <a:pPr algn="l"/>
                      <a:r>
                        <a:rPr sz="1050" b="1" i="0">
                          <a:solidFill>
                            <a:srgbClr val="FFFFFF"/>
                          </a:solidFill>
                          <a:latin typeface="Poppins"/>
                        </a:rPr>
                        <a:t>Class Total &amp; Stratified Share</a:t>
                      </a:r>
                    </a:p>
                  </a:txBody>
                  <a:tcPr marL="128016" marR="128016" marT="73152" marB="73152" anchor="ctr">
                    <a:solidFill>
                      <a:srgbClr val="0F172A"/>
                    </a:solidFill>
                  </a:tcPr>
                </a:tc>
                <a:extLst>
                  <a:ext uri="{0D108BD9-81ED-4DB2-BD59-A6C34878D82A}">
                    <a16:rowId xmlns:a16="http://schemas.microsoft.com/office/drawing/2014/main" val="10000"/>
                  </a:ext>
                </a:extLst>
              </a:tr>
              <a:tr h="594360">
                <a:tc>
                  <a:txBody>
                    <a:bodyPr/>
                    <a:lstStyle/>
                    <a:p>
                      <a:pPr algn="l"/>
                      <a:r>
                        <a:rPr sz="980" b="1" i="0">
                          <a:solidFill>
                            <a:srgbClr val="0F172A"/>
                          </a:solidFill>
                          <a:latin typeface="Poppins"/>
                        </a:rPr>
                        <a:t>Bird-drop</a:t>
                      </a:r>
                    </a:p>
                  </a:txBody>
                  <a:tcPr marL="128016" marR="128016" marT="54864" marB="54864" anchor="ctr">
                    <a:solidFill>
                      <a:srgbClr val="FFFFFF"/>
                    </a:solidFill>
                  </a:tcPr>
                </a:tc>
                <a:tc>
                  <a:txBody>
                    <a:bodyPr/>
                    <a:lstStyle/>
                    <a:p>
                      <a:pPr algn="l"/>
                      <a:r>
                        <a:rPr sz="980" b="0" i="0">
                          <a:solidFill>
                            <a:srgbClr val="334155"/>
                          </a:solidFill>
                          <a:latin typeface="Poppins"/>
                        </a:rPr>
                        <a:t>3,782</a:t>
                      </a:r>
                    </a:p>
                  </a:txBody>
                  <a:tcPr marL="128016" marR="128016" marT="54864" marB="54864" anchor="ctr">
                    <a:solidFill>
                      <a:srgbClr val="FFFFFF"/>
                    </a:solidFill>
                  </a:tcPr>
                </a:tc>
                <a:tc>
                  <a:txBody>
                    <a:bodyPr/>
                    <a:lstStyle/>
                    <a:p>
                      <a:pPr algn="l"/>
                      <a:r>
                        <a:rPr sz="980" b="0" i="0">
                          <a:solidFill>
                            <a:srgbClr val="334155"/>
                          </a:solidFill>
                          <a:latin typeface="Poppins"/>
                        </a:rPr>
                        <a:t>807</a:t>
                      </a:r>
                    </a:p>
                  </a:txBody>
                  <a:tcPr marL="128016" marR="128016" marT="54864" marB="54864" anchor="ctr">
                    <a:solidFill>
                      <a:srgbClr val="FFFFFF"/>
                    </a:solidFill>
                  </a:tcPr>
                </a:tc>
                <a:tc>
                  <a:txBody>
                    <a:bodyPr/>
                    <a:lstStyle/>
                    <a:p>
                      <a:pPr algn="l"/>
                      <a:r>
                        <a:rPr sz="980" b="0" i="0">
                          <a:solidFill>
                            <a:srgbClr val="334155"/>
                          </a:solidFill>
                          <a:latin typeface="Poppins"/>
                        </a:rPr>
                        <a:t>832</a:t>
                      </a:r>
                    </a:p>
                  </a:txBody>
                  <a:tcPr marL="128016" marR="128016" marT="54864" marB="54864" anchor="ctr">
                    <a:solidFill>
                      <a:srgbClr val="FFFFFF"/>
                    </a:solidFill>
                  </a:tcPr>
                </a:tc>
                <a:tc>
                  <a:txBody>
                    <a:bodyPr/>
                    <a:lstStyle/>
                    <a:p>
                      <a:pPr algn="l"/>
                      <a:r>
                        <a:rPr sz="980" b="0" i="0">
                          <a:solidFill>
                            <a:srgbClr val="334155"/>
                          </a:solidFill>
                          <a:latin typeface="Poppins"/>
                        </a:rPr>
                        <a:t>5,421 (23.4%)</a:t>
                      </a:r>
                    </a:p>
                  </a:txBody>
                  <a:tcPr marL="128016" marR="128016" marT="54864" marB="54864" anchor="ctr">
                    <a:solidFill>
                      <a:srgbClr val="FFFFFF"/>
                    </a:solidFill>
                  </a:tcPr>
                </a:tc>
                <a:extLst>
                  <a:ext uri="{0D108BD9-81ED-4DB2-BD59-A6C34878D82A}">
                    <a16:rowId xmlns:a16="http://schemas.microsoft.com/office/drawing/2014/main" val="10001"/>
                  </a:ext>
                </a:extLst>
              </a:tr>
              <a:tr h="594360">
                <a:tc>
                  <a:txBody>
                    <a:bodyPr/>
                    <a:lstStyle/>
                    <a:p>
                      <a:pPr algn="l"/>
                      <a:r>
                        <a:rPr sz="980" b="1" i="0">
                          <a:solidFill>
                            <a:srgbClr val="0F172A"/>
                          </a:solidFill>
                          <a:latin typeface="Poppins"/>
                        </a:rPr>
                        <a:t>Clean Panel</a:t>
                      </a:r>
                    </a:p>
                  </a:txBody>
                  <a:tcPr marL="128016" marR="128016" marT="54864" marB="54864" anchor="ctr">
                    <a:solidFill>
                      <a:srgbClr val="F8FAFC"/>
                    </a:solidFill>
                  </a:tcPr>
                </a:tc>
                <a:tc>
                  <a:txBody>
                    <a:bodyPr/>
                    <a:lstStyle/>
                    <a:p>
                      <a:pPr algn="l"/>
                      <a:r>
                        <a:rPr sz="980" b="0" i="0">
                          <a:solidFill>
                            <a:srgbClr val="334155"/>
                          </a:solidFill>
                          <a:latin typeface="Poppins"/>
                        </a:rPr>
                        <a:t>5,142</a:t>
                      </a:r>
                    </a:p>
                  </a:txBody>
                  <a:tcPr marL="128016" marR="128016" marT="54864" marB="54864" anchor="ctr">
                    <a:solidFill>
                      <a:srgbClr val="F8FAFC"/>
                    </a:solidFill>
                  </a:tcPr>
                </a:tc>
                <a:tc>
                  <a:txBody>
                    <a:bodyPr/>
                    <a:lstStyle/>
                    <a:p>
                      <a:pPr algn="l"/>
                      <a:r>
                        <a:rPr sz="980" b="0" i="0">
                          <a:solidFill>
                            <a:srgbClr val="334155"/>
                          </a:solidFill>
                          <a:latin typeface="Poppins"/>
                        </a:rPr>
                        <a:t>1,098</a:t>
                      </a:r>
                    </a:p>
                  </a:txBody>
                  <a:tcPr marL="128016" marR="128016" marT="54864" marB="54864" anchor="ctr">
                    <a:solidFill>
                      <a:srgbClr val="F8FAFC"/>
                    </a:solidFill>
                  </a:tcPr>
                </a:tc>
                <a:tc>
                  <a:txBody>
                    <a:bodyPr/>
                    <a:lstStyle/>
                    <a:p>
                      <a:pPr algn="l"/>
                      <a:r>
                        <a:rPr sz="980" b="0" i="0">
                          <a:solidFill>
                            <a:srgbClr val="334155"/>
                          </a:solidFill>
                          <a:latin typeface="Poppins"/>
                        </a:rPr>
                        <a:t>1,130</a:t>
                      </a:r>
                    </a:p>
                  </a:txBody>
                  <a:tcPr marL="128016" marR="128016" marT="54864" marB="54864" anchor="ctr">
                    <a:solidFill>
                      <a:srgbClr val="F8FAFC"/>
                    </a:solidFill>
                  </a:tcPr>
                </a:tc>
                <a:tc>
                  <a:txBody>
                    <a:bodyPr/>
                    <a:lstStyle/>
                    <a:p>
                      <a:pPr algn="l"/>
                      <a:r>
                        <a:rPr sz="980" b="0" i="0">
                          <a:solidFill>
                            <a:srgbClr val="334155"/>
                          </a:solidFill>
                          <a:latin typeface="Poppins"/>
                        </a:rPr>
                        <a:t>7,370 (31.8%)</a:t>
                      </a:r>
                    </a:p>
                  </a:txBody>
                  <a:tcPr marL="128016" marR="128016" marT="54864" marB="54864" anchor="ctr">
                    <a:solidFill>
                      <a:srgbClr val="F8FAFC"/>
                    </a:solidFill>
                  </a:tcPr>
                </a:tc>
                <a:extLst>
                  <a:ext uri="{0D108BD9-81ED-4DB2-BD59-A6C34878D82A}">
                    <a16:rowId xmlns:a16="http://schemas.microsoft.com/office/drawing/2014/main" val="10002"/>
                  </a:ext>
                </a:extLst>
              </a:tr>
              <a:tr h="594360">
                <a:tc>
                  <a:txBody>
                    <a:bodyPr/>
                    <a:lstStyle/>
                    <a:p>
                      <a:pPr algn="l"/>
                      <a:r>
                        <a:rPr sz="980" b="1" i="0">
                          <a:solidFill>
                            <a:srgbClr val="0F172A"/>
                          </a:solidFill>
                          <a:latin typeface="Poppins"/>
                        </a:rPr>
                        <a:t>Dusty Layer</a:t>
                      </a:r>
                    </a:p>
                  </a:txBody>
                  <a:tcPr marL="128016" marR="128016" marT="54864" marB="54864" anchor="ctr">
                    <a:solidFill>
                      <a:srgbClr val="FFFFFF"/>
                    </a:solidFill>
                  </a:tcPr>
                </a:tc>
                <a:tc>
                  <a:txBody>
                    <a:bodyPr/>
                    <a:lstStyle/>
                    <a:p>
                      <a:pPr algn="l"/>
                      <a:r>
                        <a:rPr sz="980" b="0" i="0">
                          <a:solidFill>
                            <a:srgbClr val="334155"/>
                          </a:solidFill>
                          <a:latin typeface="Poppins"/>
                        </a:rPr>
                        <a:t>4,861</a:t>
                      </a:r>
                    </a:p>
                  </a:txBody>
                  <a:tcPr marL="128016" marR="128016" marT="54864" marB="54864" anchor="ctr">
                    <a:solidFill>
                      <a:srgbClr val="FFFFFF"/>
                    </a:solidFill>
                  </a:tcPr>
                </a:tc>
                <a:tc>
                  <a:txBody>
                    <a:bodyPr/>
                    <a:lstStyle/>
                    <a:p>
                      <a:pPr algn="l"/>
                      <a:r>
                        <a:rPr sz="980" b="0" i="0">
                          <a:solidFill>
                            <a:srgbClr val="334155"/>
                          </a:solidFill>
                          <a:latin typeface="Poppins"/>
                        </a:rPr>
                        <a:t>1,036</a:t>
                      </a:r>
                    </a:p>
                  </a:txBody>
                  <a:tcPr marL="128016" marR="128016" marT="54864" marB="54864" anchor="ctr">
                    <a:solidFill>
                      <a:srgbClr val="FFFFFF"/>
                    </a:solidFill>
                  </a:tcPr>
                </a:tc>
                <a:tc>
                  <a:txBody>
                    <a:bodyPr/>
                    <a:lstStyle/>
                    <a:p>
                      <a:pPr algn="l"/>
                      <a:r>
                        <a:rPr sz="980" b="0" i="0">
                          <a:solidFill>
                            <a:srgbClr val="334155"/>
                          </a:solidFill>
                          <a:latin typeface="Poppins"/>
                        </a:rPr>
                        <a:t>1,068</a:t>
                      </a:r>
                    </a:p>
                  </a:txBody>
                  <a:tcPr marL="128016" marR="128016" marT="54864" marB="54864" anchor="ctr">
                    <a:solidFill>
                      <a:srgbClr val="FFFFFF"/>
                    </a:solidFill>
                  </a:tcPr>
                </a:tc>
                <a:tc>
                  <a:txBody>
                    <a:bodyPr/>
                    <a:lstStyle/>
                    <a:p>
                      <a:pPr algn="l"/>
                      <a:r>
                        <a:rPr sz="980" b="0" i="0">
                          <a:solidFill>
                            <a:srgbClr val="334155"/>
                          </a:solidFill>
                          <a:latin typeface="Poppins"/>
                        </a:rPr>
                        <a:t>6,965 (30.1%)</a:t>
                      </a:r>
                    </a:p>
                  </a:txBody>
                  <a:tcPr marL="128016" marR="128016" marT="54864" marB="54864" anchor="ctr">
                    <a:solidFill>
                      <a:srgbClr val="FFFFFF"/>
                    </a:solidFill>
                  </a:tcPr>
                </a:tc>
                <a:extLst>
                  <a:ext uri="{0D108BD9-81ED-4DB2-BD59-A6C34878D82A}">
                    <a16:rowId xmlns:a16="http://schemas.microsoft.com/office/drawing/2014/main" val="10003"/>
                  </a:ext>
                </a:extLst>
              </a:tr>
              <a:tr h="594360">
                <a:tc>
                  <a:txBody>
                    <a:bodyPr/>
                    <a:lstStyle/>
                    <a:p>
                      <a:pPr algn="l"/>
                      <a:r>
                        <a:rPr sz="980" b="1" i="0">
                          <a:solidFill>
                            <a:srgbClr val="0F172A"/>
                          </a:solidFill>
                          <a:latin typeface="Poppins"/>
                        </a:rPr>
                        <a:t>Physical-Damage</a:t>
                      </a:r>
                    </a:p>
                  </a:txBody>
                  <a:tcPr marL="128016" marR="128016" marT="54864" marB="54864" anchor="ctr">
                    <a:solidFill>
                      <a:srgbClr val="F8FAFC"/>
                    </a:solidFill>
                  </a:tcPr>
                </a:tc>
                <a:tc>
                  <a:txBody>
                    <a:bodyPr/>
                    <a:lstStyle/>
                    <a:p>
                      <a:pPr algn="l"/>
                      <a:r>
                        <a:rPr sz="980" b="0" i="0">
                          <a:solidFill>
                            <a:srgbClr val="334155"/>
                          </a:solidFill>
                          <a:latin typeface="Poppins"/>
                        </a:rPr>
                        <a:t>2,366</a:t>
                      </a:r>
                    </a:p>
                  </a:txBody>
                  <a:tcPr marL="128016" marR="128016" marT="54864" marB="54864" anchor="ctr">
                    <a:solidFill>
                      <a:srgbClr val="F8FAFC"/>
                    </a:solidFill>
                  </a:tcPr>
                </a:tc>
                <a:tc>
                  <a:txBody>
                    <a:bodyPr/>
                    <a:lstStyle/>
                    <a:p>
                      <a:pPr algn="l"/>
                      <a:r>
                        <a:rPr sz="980" b="0" i="0">
                          <a:solidFill>
                            <a:srgbClr val="334155"/>
                          </a:solidFill>
                          <a:latin typeface="Poppins"/>
                        </a:rPr>
                        <a:t>501</a:t>
                      </a:r>
                    </a:p>
                  </a:txBody>
                  <a:tcPr marL="128016" marR="128016" marT="54864" marB="54864" anchor="ctr">
                    <a:solidFill>
                      <a:srgbClr val="F8FAFC"/>
                    </a:solidFill>
                  </a:tcPr>
                </a:tc>
                <a:tc>
                  <a:txBody>
                    <a:bodyPr/>
                    <a:lstStyle/>
                    <a:p>
                      <a:pPr algn="l"/>
                      <a:r>
                        <a:rPr sz="980" b="0" i="0">
                          <a:solidFill>
                            <a:srgbClr val="334155"/>
                          </a:solidFill>
                          <a:latin typeface="Poppins"/>
                        </a:rPr>
                        <a:t>521</a:t>
                      </a:r>
                    </a:p>
                  </a:txBody>
                  <a:tcPr marL="128016" marR="128016" marT="54864" marB="54864" anchor="ctr">
                    <a:solidFill>
                      <a:srgbClr val="F8FAFC"/>
                    </a:solidFill>
                  </a:tcPr>
                </a:tc>
                <a:tc>
                  <a:txBody>
                    <a:bodyPr/>
                    <a:lstStyle/>
                    <a:p>
                      <a:pPr algn="l"/>
                      <a:r>
                        <a:rPr sz="980" b="0" i="0">
                          <a:solidFill>
                            <a:srgbClr val="334155"/>
                          </a:solidFill>
                          <a:latin typeface="Poppins"/>
                        </a:rPr>
                        <a:t>3,388 (14.6%)</a:t>
                      </a:r>
                    </a:p>
                  </a:txBody>
                  <a:tcPr marL="128016" marR="128016" marT="54864" marB="54864" anchor="ctr">
                    <a:solidFill>
                      <a:srgbClr val="F8FAFC"/>
                    </a:solidFill>
                  </a:tcPr>
                </a:tc>
                <a:extLst>
                  <a:ext uri="{0D108BD9-81ED-4DB2-BD59-A6C34878D82A}">
                    <a16:rowId xmlns:a16="http://schemas.microsoft.com/office/drawing/2014/main" val="10004"/>
                  </a:ext>
                </a:extLst>
              </a:tr>
              <a:tr h="594360">
                <a:tc>
                  <a:txBody>
                    <a:bodyPr/>
                    <a:lstStyle/>
                    <a:p>
                      <a:pPr algn="l"/>
                      <a:r>
                        <a:rPr sz="980" b="1" i="0">
                          <a:solidFill>
                            <a:srgbClr val="0284C7"/>
                          </a:solidFill>
                          <a:latin typeface="Poppins"/>
                        </a:rPr>
                        <a:t>Total Dataset</a:t>
                      </a:r>
                    </a:p>
                  </a:txBody>
                  <a:tcPr marL="128016" marR="128016" marT="54864" marB="54864" anchor="ctr">
                    <a:solidFill>
                      <a:srgbClr val="F1F5F9"/>
                    </a:solidFill>
                  </a:tcPr>
                </a:tc>
                <a:tc>
                  <a:txBody>
                    <a:bodyPr/>
                    <a:lstStyle/>
                    <a:p>
                      <a:pPr algn="l"/>
                      <a:r>
                        <a:rPr sz="980" b="1" i="0">
                          <a:solidFill>
                            <a:srgbClr val="0F172A"/>
                          </a:solidFill>
                          <a:latin typeface="Poppins"/>
                        </a:rPr>
                        <a:t>16,151</a:t>
                      </a:r>
                    </a:p>
                  </a:txBody>
                  <a:tcPr marL="128016" marR="128016" marT="54864" marB="54864" anchor="ctr">
                    <a:solidFill>
                      <a:srgbClr val="F1F5F9"/>
                    </a:solidFill>
                  </a:tcPr>
                </a:tc>
                <a:tc>
                  <a:txBody>
                    <a:bodyPr/>
                    <a:lstStyle/>
                    <a:p>
                      <a:pPr algn="l"/>
                      <a:r>
                        <a:rPr sz="980" b="1" i="0">
                          <a:solidFill>
                            <a:srgbClr val="0F172A"/>
                          </a:solidFill>
                          <a:latin typeface="Poppins"/>
                        </a:rPr>
                        <a:t>3,442</a:t>
                      </a:r>
                    </a:p>
                  </a:txBody>
                  <a:tcPr marL="128016" marR="128016" marT="54864" marB="54864" anchor="ctr">
                    <a:solidFill>
                      <a:srgbClr val="F1F5F9"/>
                    </a:solidFill>
                  </a:tcPr>
                </a:tc>
                <a:tc>
                  <a:txBody>
                    <a:bodyPr/>
                    <a:lstStyle/>
                    <a:p>
                      <a:pPr algn="l"/>
                      <a:r>
                        <a:rPr sz="980" b="1" i="0">
                          <a:solidFill>
                            <a:srgbClr val="0F172A"/>
                          </a:solidFill>
                          <a:latin typeface="Poppins"/>
                        </a:rPr>
                        <a:t>3,551</a:t>
                      </a:r>
                    </a:p>
                  </a:txBody>
                  <a:tcPr marL="128016" marR="128016" marT="54864" marB="54864" anchor="ctr">
                    <a:solidFill>
                      <a:srgbClr val="F1F5F9"/>
                    </a:solidFill>
                  </a:tcPr>
                </a:tc>
                <a:tc>
                  <a:txBody>
                    <a:bodyPr/>
                    <a:lstStyle/>
                    <a:p>
                      <a:pPr algn="l"/>
                      <a:r>
                        <a:rPr sz="980" b="1" i="0">
                          <a:solidFill>
                            <a:srgbClr val="0F172A"/>
                          </a:solidFill>
                          <a:latin typeface="Poppins"/>
                        </a:rPr>
                        <a:t>23,144 (100.0%)</a:t>
                      </a:r>
                    </a:p>
                  </a:txBody>
                  <a:tcPr marL="128016" marR="128016" marT="54864" marB="54864" anchor="ctr">
                    <a:solidFill>
                      <a:srgbClr val="F1F5F9"/>
                    </a:solidFill>
                  </a:tcPr>
                </a:tc>
                <a:extLst>
                  <a:ext uri="{0D108BD9-81ED-4DB2-BD59-A6C34878D82A}">
                    <a16:rowId xmlns:a16="http://schemas.microsoft.com/office/drawing/2014/main" val="10005"/>
                  </a:ext>
                </a:extLst>
              </a:tr>
            </a:tbl>
          </a:graphicData>
        </a:graphic>
      </p:graphicFrame>
      <p:sp>
        <p:nvSpPr>
          <p:cNvPr id="8" name="Rounded Rectangle 7"/>
          <p:cNvSpPr/>
          <p:nvPr/>
        </p:nvSpPr>
        <p:spPr>
          <a:xfrm>
            <a:off x="8686800" y="5074920"/>
            <a:ext cx="2743200" cy="1874519"/>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ctr"/>
            <a:r>
              <a:rPr sz="3600" b="1" i="0">
                <a:solidFill>
                  <a:srgbClr val="0284C7"/>
                </a:solidFill>
                <a:latin typeface="Poppins"/>
              </a:rPr>
              <a:t>16,151</a:t>
            </a:r>
          </a:p>
          <a:p>
            <a:pPr algn="ctr">
              <a:spcBef>
                <a:spcPts val="300"/>
              </a:spcBef>
            </a:pPr>
            <a:r>
              <a:rPr sz="1600" b="1" i="0">
                <a:solidFill>
                  <a:srgbClr val="0F172A"/>
                </a:solidFill>
                <a:latin typeface="Poppins"/>
              </a:rPr>
              <a:t>Training Split (70%)</a:t>
            </a:r>
          </a:p>
          <a:p>
            <a:pPr algn="ctr">
              <a:spcBef>
                <a:spcPts val="200"/>
              </a:spcBef>
            </a:pPr>
            <a:r>
              <a:rPr sz="1100" b="0" i="0">
                <a:solidFill>
                  <a:srgbClr val="64748B"/>
                </a:solidFill>
                <a:latin typeface="Poppins"/>
              </a:rPr>
              <a:t>Backpropagation &amp; KD loss</a:t>
            </a:r>
          </a:p>
        </p:txBody>
      </p:sp>
      <p:sp>
        <p:nvSpPr>
          <p:cNvPr id="9" name="Rounded Rectangle 8"/>
          <p:cNvSpPr/>
          <p:nvPr/>
        </p:nvSpPr>
        <p:spPr>
          <a:xfrm>
            <a:off x="11658600" y="5074920"/>
            <a:ext cx="2743200" cy="1874519"/>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ctr"/>
            <a:r>
              <a:rPr sz="3600" b="1" i="0">
                <a:solidFill>
                  <a:srgbClr val="0284C7"/>
                </a:solidFill>
                <a:latin typeface="Poppins"/>
              </a:rPr>
              <a:t>3,442</a:t>
            </a:r>
          </a:p>
          <a:p>
            <a:pPr algn="ctr">
              <a:spcBef>
                <a:spcPts val="300"/>
              </a:spcBef>
            </a:pPr>
            <a:r>
              <a:rPr sz="1600" b="1" i="0">
                <a:solidFill>
                  <a:srgbClr val="0F172A"/>
                </a:solidFill>
                <a:latin typeface="Poppins"/>
              </a:rPr>
              <a:t>Validation Split (15%)</a:t>
            </a:r>
          </a:p>
          <a:p>
            <a:pPr algn="ctr">
              <a:spcBef>
                <a:spcPts val="200"/>
              </a:spcBef>
            </a:pPr>
            <a:r>
              <a:rPr sz="1100" b="0" i="0">
                <a:solidFill>
                  <a:srgbClr val="64748B"/>
                </a:solidFill>
                <a:latin typeface="Poppins"/>
              </a:rPr>
              <a:t>Macro &amp; 21-pt sweeps</a:t>
            </a:r>
          </a:p>
        </p:txBody>
      </p:sp>
      <p:sp>
        <p:nvSpPr>
          <p:cNvPr id="10" name="Rounded Rectangle 9"/>
          <p:cNvSpPr/>
          <p:nvPr/>
        </p:nvSpPr>
        <p:spPr>
          <a:xfrm>
            <a:off x="14630400" y="5074920"/>
            <a:ext cx="2743200" cy="1874519"/>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ctr"/>
            <a:r>
              <a:rPr sz="3600" b="1" i="0">
                <a:solidFill>
                  <a:srgbClr val="0284C7"/>
                </a:solidFill>
                <a:latin typeface="Poppins"/>
              </a:rPr>
              <a:t>3,551</a:t>
            </a:r>
          </a:p>
          <a:p>
            <a:pPr algn="ctr">
              <a:spcBef>
                <a:spcPts val="300"/>
              </a:spcBef>
            </a:pPr>
            <a:r>
              <a:rPr sz="1600" b="1" i="0">
                <a:solidFill>
                  <a:srgbClr val="0F172A"/>
                </a:solidFill>
                <a:latin typeface="Poppins"/>
              </a:rPr>
              <a:t>Independent Test (15%)</a:t>
            </a:r>
          </a:p>
          <a:p>
            <a:pPr algn="ctr">
              <a:spcBef>
                <a:spcPts val="200"/>
              </a:spcBef>
            </a:pPr>
            <a:r>
              <a:rPr sz="1100" b="0" i="0">
                <a:solidFill>
                  <a:srgbClr val="64748B"/>
                </a:solidFill>
                <a:latin typeface="Poppins"/>
              </a:rPr>
              <a:t>Held-out invariance audit</a:t>
            </a:r>
          </a:p>
        </p:txBody>
      </p:sp>
      <p:sp>
        <p:nvSpPr>
          <p:cNvPr id="11" name="Rounded Rectangle 10"/>
          <p:cNvSpPr/>
          <p:nvPr/>
        </p:nvSpPr>
        <p:spPr>
          <a:xfrm>
            <a:off x="8686800" y="7132320"/>
            <a:ext cx="8686800" cy="2286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2" name="TextBox 11"/>
          <p:cNvSpPr txBox="1"/>
          <p:nvPr/>
        </p:nvSpPr>
        <p:spPr>
          <a:xfrm>
            <a:off x="8869680" y="7223760"/>
            <a:ext cx="6682920" cy="246221"/>
          </a:xfrm>
          <a:prstGeom prst="rect">
            <a:avLst/>
          </a:prstGeom>
          <a:noFill/>
        </p:spPr>
        <p:txBody>
          <a:bodyPr wrap="none" lIns="0" tIns="0" rIns="0" bIns="0">
            <a:spAutoFit/>
          </a:bodyPr>
          <a:lstStyle/>
          <a:p>
            <a:r>
              <a:rPr sz="1600" b="1" i="0">
                <a:solidFill>
                  <a:srgbClr val="0F172A"/>
                </a:solidFill>
                <a:latin typeface="Poppins"/>
              </a:rPr>
              <a:t>Verified Surface Defect Categories (RGB Camera Inverter Input)</a:t>
            </a:r>
          </a:p>
        </p:txBody>
      </p:sp>
      <p:pic>
        <p:nvPicPr>
          <p:cNvPr id="13" name="Picture 12" descr="image.png"/>
          <p:cNvPicPr>
            <a:picLocks noChangeAspect="1"/>
          </p:cNvPicPr>
          <p:nvPr/>
        </p:nvPicPr>
        <p:blipFill>
          <a:blip r:embed="rId2"/>
          <a:stretch>
            <a:fillRect/>
          </a:stretch>
        </p:blipFill>
        <p:spPr>
          <a:xfrm>
            <a:off x="8961120" y="7589520"/>
            <a:ext cx="1645920" cy="1097280"/>
          </a:xfrm>
          <a:prstGeom prst="rect">
            <a:avLst/>
          </a:prstGeom>
        </p:spPr>
      </p:pic>
      <p:sp>
        <p:nvSpPr>
          <p:cNvPr id="14" name="TextBox 13"/>
          <p:cNvSpPr txBox="1"/>
          <p:nvPr/>
        </p:nvSpPr>
        <p:spPr>
          <a:xfrm>
            <a:off x="9513172" y="8778240"/>
            <a:ext cx="541816" cy="215444"/>
          </a:xfrm>
          <a:prstGeom prst="rect">
            <a:avLst/>
          </a:prstGeom>
          <a:noFill/>
        </p:spPr>
        <p:txBody>
          <a:bodyPr wrap="none" lIns="0" tIns="0" rIns="0" bIns="0">
            <a:spAutoFit/>
          </a:bodyPr>
          <a:lstStyle/>
          <a:p>
            <a:pPr algn="ctr"/>
            <a:r>
              <a:rPr sz="1400" b="1" i="0">
                <a:solidFill>
                  <a:srgbClr val="0284C7"/>
                </a:solidFill>
                <a:latin typeface="Poppins"/>
              </a:rPr>
              <a:t>Clean</a:t>
            </a:r>
          </a:p>
        </p:txBody>
      </p:sp>
      <p:pic>
        <p:nvPicPr>
          <p:cNvPr id="15" name="Picture 14" descr="image.png"/>
          <p:cNvPicPr>
            <a:picLocks noChangeAspect="1"/>
          </p:cNvPicPr>
          <p:nvPr/>
        </p:nvPicPr>
        <p:blipFill>
          <a:blip r:embed="rId3"/>
          <a:stretch>
            <a:fillRect/>
          </a:stretch>
        </p:blipFill>
        <p:spPr>
          <a:xfrm>
            <a:off x="11064240" y="7589520"/>
            <a:ext cx="1645920" cy="1097280"/>
          </a:xfrm>
          <a:prstGeom prst="rect">
            <a:avLst/>
          </a:prstGeom>
        </p:spPr>
      </p:pic>
      <p:sp>
        <p:nvSpPr>
          <p:cNvPr id="16" name="TextBox 15"/>
          <p:cNvSpPr txBox="1"/>
          <p:nvPr/>
        </p:nvSpPr>
        <p:spPr>
          <a:xfrm>
            <a:off x="11619498" y="8778240"/>
            <a:ext cx="535404" cy="215444"/>
          </a:xfrm>
          <a:prstGeom prst="rect">
            <a:avLst/>
          </a:prstGeom>
          <a:noFill/>
        </p:spPr>
        <p:txBody>
          <a:bodyPr wrap="none" lIns="0" tIns="0" rIns="0" bIns="0">
            <a:spAutoFit/>
          </a:bodyPr>
          <a:lstStyle/>
          <a:p>
            <a:pPr algn="ctr"/>
            <a:r>
              <a:rPr sz="1400" b="1" i="0">
                <a:solidFill>
                  <a:srgbClr val="0284C7"/>
                </a:solidFill>
                <a:latin typeface="Poppins"/>
              </a:rPr>
              <a:t>Dusty</a:t>
            </a:r>
          </a:p>
        </p:txBody>
      </p:sp>
      <p:pic>
        <p:nvPicPr>
          <p:cNvPr id="17" name="Picture 16" descr="image.png"/>
          <p:cNvPicPr>
            <a:picLocks noChangeAspect="1"/>
          </p:cNvPicPr>
          <p:nvPr/>
        </p:nvPicPr>
        <p:blipFill>
          <a:blip r:embed="rId4"/>
          <a:stretch>
            <a:fillRect/>
          </a:stretch>
        </p:blipFill>
        <p:spPr>
          <a:xfrm>
            <a:off x="13167360" y="7589520"/>
            <a:ext cx="1645920" cy="1097280"/>
          </a:xfrm>
          <a:prstGeom prst="rect">
            <a:avLst/>
          </a:prstGeom>
        </p:spPr>
      </p:pic>
      <p:sp>
        <p:nvSpPr>
          <p:cNvPr id="18" name="TextBox 17"/>
          <p:cNvSpPr txBox="1"/>
          <p:nvPr/>
        </p:nvSpPr>
        <p:spPr>
          <a:xfrm>
            <a:off x="13535868" y="8778240"/>
            <a:ext cx="908903" cy="215444"/>
          </a:xfrm>
          <a:prstGeom prst="rect">
            <a:avLst/>
          </a:prstGeom>
          <a:noFill/>
        </p:spPr>
        <p:txBody>
          <a:bodyPr wrap="none" lIns="0" tIns="0" rIns="0" bIns="0">
            <a:spAutoFit/>
          </a:bodyPr>
          <a:lstStyle/>
          <a:p>
            <a:pPr algn="ctr"/>
            <a:r>
              <a:rPr sz="1400" b="1" i="0">
                <a:solidFill>
                  <a:srgbClr val="0284C7"/>
                </a:solidFill>
                <a:latin typeface="Poppins"/>
              </a:rPr>
              <a:t>Bird-drop</a:t>
            </a:r>
          </a:p>
        </p:txBody>
      </p:sp>
      <p:pic>
        <p:nvPicPr>
          <p:cNvPr id="19" name="Picture 18" descr="image.png"/>
          <p:cNvPicPr>
            <a:picLocks noChangeAspect="1"/>
          </p:cNvPicPr>
          <p:nvPr/>
        </p:nvPicPr>
        <p:blipFill>
          <a:blip r:embed="rId5"/>
          <a:stretch>
            <a:fillRect/>
          </a:stretch>
        </p:blipFill>
        <p:spPr>
          <a:xfrm>
            <a:off x="15270480" y="7589520"/>
            <a:ext cx="1645920" cy="1097280"/>
          </a:xfrm>
          <a:prstGeom prst="rect">
            <a:avLst/>
          </a:prstGeom>
        </p:spPr>
      </p:pic>
      <p:sp>
        <p:nvSpPr>
          <p:cNvPr id="20" name="TextBox 19"/>
          <p:cNvSpPr txBox="1"/>
          <p:nvPr/>
        </p:nvSpPr>
        <p:spPr>
          <a:xfrm>
            <a:off x="15695093" y="8778240"/>
            <a:ext cx="796693" cy="215444"/>
          </a:xfrm>
          <a:prstGeom prst="rect">
            <a:avLst/>
          </a:prstGeom>
          <a:noFill/>
        </p:spPr>
        <p:txBody>
          <a:bodyPr wrap="none" lIns="0" tIns="0" rIns="0" bIns="0">
            <a:spAutoFit/>
          </a:bodyPr>
          <a:lstStyle/>
          <a:p>
            <a:pPr algn="ctr"/>
            <a:r>
              <a:rPr sz="1400" b="1" i="0">
                <a:solidFill>
                  <a:srgbClr val="0284C7"/>
                </a:solidFill>
                <a:latin typeface="Poppins"/>
              </a:rPr>
              <a:t>Damage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4286">
              <a:srgbClr val="FFFFFF">
                <a:alpha val="100000"/>
              </a:srgbClr>
            </a:gs>
            <a:gs pos="28571">
              <a:srgbClr val="FFFFFF">
                <a:alpha val="100000"/>
              </a:srgbClr>
            </a:gs>
            <a:gs pos="42857">
              <a:srgbClr val="FFFFFF">
                <a:alpha val="100000"/>
              </a:srgbClr>
            </a:gs>
            <a:gs pos="57143">
              <a:srgbClr val="FFFFFF">
                <a:alpha val="100000"/>
              </a:srgbClr>
            </a:gs>
            <a:gs pos="71429">
              <a:srgbClr val="DAF9FF">
                <a:alpha val="100000"/>
              </a:srgbClr>
            </a:gs>
            <a:gs pos="85714">
              <a:srgbClr val="89EAFE">
                <a:alpha val="100000"/>
              </a:srgbClr>
            </a:gs>
            <a:gs pos="100000">
              <a:srgbClr val="3B97EC">
                <a:alpha val="100000"/>
              </a:srgbClr>
            </a:gs>
          </a:gsLst>
          <a:lin ang="2700000"/>
        </a:gradFill>
        <a:effectLst/>
      </p:bgPr>
    </p:bg>
    <p:spTree>
      <p:nvGrpSpPr>
        <p:cNvPr id="1" name=""/>
        <p:cNvGrpSpPr/>
        <p:nvPr/>
      </p:nvGrpSpPr>
      <p:grpSpPr>
        <a:xfrm>
          <a:off x="0" y="0"/>
          <a:ext cx="0" cy="0"/>
          <a:chOff x="0" y="0"/>
          <a:chExt cx="0" cy="0"/>
        </a:xfrm>
      </p:grpSpPr>
      <p:sp>
        <p:nvSpPr>
          <p:cNvPr id="2" name="TextBox 1"/>
          <p:cNvSpPr txBox="1"/>
          <p:nvPr/>
        </p:nvSpPr>
        <p:spPr>
          <a:xfrm>
            <a:off x="914400" y="475488"/>
            <a:ext cx="16459200" cy="492443"/>
          </a:xfrm>
          <a:prstGeom prst="rect">
            <a:avLst/>
          </a:prstGeom>
          <a:noFill/>
        </p:spPr>
        <p:txBody>
          <a:bodyPr wrap="square" lIns="0" tIns="0" rIns="0" bIns="0">
            <a:spAutoFit/>
          </a:bodyPr>
          <a:lstStyle/>
          <a:p>
            <a:r>
              <a:rPr sz="3200" b="1" i="0">
                <a:solidFill>
                  <a:srgbClr val="0F172A"/>
                </a:solidFill>
                <a:latin typeface="Poppins"/>
              </a:rPr>
              <a:t>Architecture Benchmarking &amp; Controlled Ablation Studies</a:t>
            </a:r>
          </a:p>
        </p:txBody>
      </p:sp>
      <p:sp>
        <p:nvSpPr>
          <p:cNvPr id="3" name="Rectangle 2"/>
          <p:cNvSpPr/>
          <p:nvPr/>
        </p:nvSpPr>
        <p:spPr>
          <a:xfrm>
            <a:off x="914400" y="9646920"/>
            <a:ext cx="16459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 name="TextBox 3"/>
          <p:cNvSpPr txBox="1"/>
          <p:nvPr/>
        </p:nvSpPr>
        <p:spPr>
          <a:xfrm>
            <a:off x="914400" y="9738360"/>
            <a:ext cx="12004889" cy="169277"/>
          </a:xfrm>
          <a:prstGeom prst="rect">
            <a:avLst/>
          </a:prstGeom>
          <a:noFill/>
        </p:spPr>
        <p:txBody>
          <a:bodyPr wrap="none" lIns="0" tIns="0" rIns="0" bIns="0">
            <a:spAutoFit/>
          </a:bodyPr>
          <a:lstStyle/>
          <a:p>
            <a:r>
              <a:rPr sz="1100" b="0" i="0">
                <a:solidFill>
                  <a:srgbClr val="64748B"/>
                </a:solidFill>
                <a:latin typeface="Poppins"/>
              </a:rPr>
              <a:t>Project-1 Review-2  |  MNE_PANEL_3  |  Venue: TT-237-A  |  SENSE, VIT Vellore                        Department of Electronics and Communication Engineering                        </a:t>
            </a:r>
            <a:r>
              <a:rPr sz="1100" b="1" i="0">
                <a:solidFill>
                  <a:srgbClr val="0284C7"/>
                </a:solidFill>
                <a:latin typeface="Poppins"/>
              </a:rPr>
              <a:t>Slide 8 of 18</a:t>
            </a:r>
          </a:p>
        </p:txBody>
      </p:sp>
      <p:graphicFrame>
        <p:nvGraphicFramePr>
          <p:cNvPr id="5" name="Table 4"/>
          <p:cNvGraphicFramePr>
            <a:graphicFrameLocks noGrp="1"/>
          </p:cNvGraphicFramePr>
          <p:nvPr>
            <p:extLst>
              <p:ext uri="{D42A27DB-BD31-4B8C-83A1-F6EECF244321}">
                <p14:modId xmlns:p14="http://schemas.microsoft.com/office/powerpoint/2010/main" val="3983448417"/>
              </p:ext>
            </p:extLst>
          </p:nvPr>
        </p:nvGraphicFramePr>
        <p:xfrm>
          <a:off x="914400" y="1325880"/>
          <a:ext cx="16459200" cy="2974848"/>
        </p:xfrm>
        <a:graphic>
          <a:graphicData uri="http://schemas.openxmlformats.org/drawingml/2006/table">
            <a:tbl>
              <a:tblPr firstRow="1" bandRow="1">
                <a:tableStyleId>{5C22544A-7EE6-4342-B048-85BDC9FD1C3A}</a:tableStyleId>
              </a:tblPr>
              <a:tblGrid>
                <a:gridCol w="32918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gridCol w="5852160">
                  <a:extLst>
                    <a:ext uri="{9D8B030D-6E8A-4147-A177-3AD203B41FA5}">
                      <a16:colId xmlns:a16="http://schemas.microsoft.com/office/drawing/2014/main" val="20005"/>
                    </a:ext>
                  </a:extLst>
                </a:gridCol>
              </a:tblGrid>
              <a:tr h="585216">
                <a:tc>
                  <a:txBody>
                    <a:bodyPr/>
                    <a:lstStyle/>
                    <a:p>
                      <a:pPr algn="l"/>
                      <a:r>
                        <a:rPr sz="1800" b="1" i="0" dirty="0">
                          <a:solidFill>
                            <a:srgbClr val="FFFFFF"/>
                          </a:solidFill>
                          <a:latin typeface="Poppins"/>
                        </a:rPr>
                        <a:t>Evaluated Architecture</a:t>
                      </a:r>
                    </a:p>
                  </a:txBody>
                  <a:tcPr marL="128016" marR="128016" marT="73152" marB="73152" anchor="ctr">
                    <a:solidFill>
                      <a:srgbClr val="0F172A"/>
                    </a:solidFill>
                  </a:tcPr>
                </a:tc>
                <a:tc>
                  <a:txBody>
                    <a:bodyPr/>
                    <a:lstStyle/>
                    <a:p>
                      <a:pPr algn="l"/>
                      <a:r>
                        <a:rPr sz="1600" b="1" i="0">
                          <a:solidFill>
                            <a:srgbClr val="FFFFFF"/>
                          </a:solidFill>
                          <a:latin typeface="Poppins"/>
                        </a:rPr>
                        <a:t>Parameters</a:t>
                      </a:r>
                    </a:p>
                  </a:txBody>
                  <a:tcPr marL="128016" marR="128016" marT="73152" marB="73152" anchor="ctr">
                    <a:solidFill>
                      <a:srgbClr val="0F172A"/>
                    </a:solidFill>
                  </a:tcPr>
                </a:tc>
                <a:tc>
                  <a:txBody>
                    <a:bodyPr/>
                    <a:lstStyle/>
                    <a:p>
                      <a:pPr algn="l"/>
                      <a:r>
                        <a:rPr sz="1600" b="1" i="0">
                          <a:solidFill>
                            <a:srgbClr val="FFFFFF"/>
                          </a:solidFill>
                          <a:latin typeface="Poppins"/>
                        </a:rPr>
                        <a:t>FP32 Size</a:t>
                      </a:r>
                    </a:p>
                  </a:txBody>
                  <a:tcPr marL="128016" marR="128016" marT="73152" marB="73152" anchor="ctr">
                    <a:solidFill>
                      <a:srgbClr val="0F172A"/>
                    </a:solidFill>
                  </a:tcPr>
                </a:tc>
                <a:tc>
                  <a:txBody>
                    <a:bodyPr/>
                    <a:lstStyle/>
                    <a:p>
                      <a:pPr algn="l"/>
                      <a:r>
                        <a:rPr sz="1600" b="1" i="0">
                          <a:solidFill>
                            <a:srgbClr val="FFFFFF"/>
                          </a:solidFill>
                          <a:latin typeface="Poppins"/>
                        </a:rPr>
                        <a:t>Validation Accuracy</a:t>
                      </a:r>
                    </a:p>
                  </a:txBody>
                  <a:tcPr marL="128016" marR="128016" marT="73152" marB="73152" anchor="ctr">
                    <a:solidFill>
                      <a:srgbClr val="0F172A"/>
                    </a:solidFill>
                  </a:tcPr>
                </a:tc>
                <a:tc>
                  <a:txBody>
                    <a:bodyPr/>
                    <a:lstStyle/>
                    <a:p>
                      <a:pPr algn="l"/>
                      <a:r>
                        <a:rPr sz="1600" b="1" i="0">
                          <a:solidFill>
                            <a:srgbClr val="FFFFFF"/>
                          </a:solidFill>
                          <a:latin typeface="Poppins"/>
                        </a:rPr>
                        <a:t>Test Accuracy</a:t>
                      </a:r>
                    </a:p>
                  </a:txBody>
                  <a:tcPr marL="128016" marR="128016" marT="73152" marB="73152" anchor="ctr">
                    <a:solidFill>
                      <a:srgbClr val="0F172A"/>
                    </a:solidFill>
                  </a:tcPr>
                </a:tc>
                <a:tc>
                  <a:txBody>
                    <a:bodyPr/>
                    <a:lstStyle/>
                    <a:p>
                      <a:pPr algn="l"/>
                      <a:r>
                        <a:rPr sz="1600" b="1" i="0">
                          <a:solidFill>
                            <a:srgbClr val="FFFFFF"/>
                          </a:solidFill>
                          <a:latin typeface="Poppins"/>
                        </a:rPr>
                        <a:t>Edge Feasibility Verdict</a:t>
                      </a:r>
                    </a:p>
                  </a:txBody>
                  <a:tcPr marL="128016" marR="128016" marT="73152" marB="73152" anchor="ctr">
                    <a:solidFill>
                      <a:srgbClr val="0F172A"/>
                    </a:solidFill>
                  </a:tcPr>
                </a:tc>
                <a:extLst>
                  <a:ext uri="{0D108BD9-81ED-4DB2-BD59-A6C34878D82A}">
                    <a16:rowId xmlns:a16="http://schemas.microsoft.com/office/drawing/2014/main" val="10000"/>
                  </a:ext>
                </a:extLst>
              </a:tr>
              <a:tr h="585216">
                <a:tc>
                  <a:txBody>
                    <a:bodyPr/>
                    <a:lstStyle/>
                    <a:p>
                      <a:pPr algn="l"/>
                      <a:r>
                        <a:rPr sz="1200" b="1" i="0">
                          <a:solidFill>
                            <a:srgbClr val="0F172A"/>
                          </a:solidFill>
                          <a:latin typeface="Poppins"/>
                        </a:rPr>
                        <a:t>MobileNetV3-Small (Baseline)</a:t>
                      </a:r>
                    </a:p>
                  </a:txBody>
                  <a:tcPr marL="128016" marR="128016" marT="54864" marB="54864" anchor="ctr">
                    <a:solidFill>
                      <a:srgbClr val="FFFFFF"/>
                    </a:solidFill>
                  </a:tcPr>
                </a:tc>
                <a:tc>
                  <a:txBody>
                    <a:bodyPr/>
                    <a:lstStyle/>
                    <a:p>
                      <a:pPr algn="l"/>
                      <a:r>
                        <a:rPr sz="1200" b="0" i="0">
                          <a:solidFill>
                            <a:srgbClr val="334155"/>
                          </a:solidFill>
                          <a:latin typeface="Poppins"/>
                        </a:rPr>
                        <a:t>1.12M</a:t>
                      </a:r>
                    </a:p>
                  </a:txBody>
                  <a:tcPr marL="128016" marR="128016" marT="54864" marB="54864" anchor="ctr">
                    <a:solidFill>
                      <a:srgbClr val="FFFFFF"/>
                    </a:solidFill>
                  </a:tcPr>
                </a:tc>
                <a:tc>
                  <a:txBody>
                    <a:bodyPr/>
                    <a:lstStyle/>
                    <a:p>
                      <a:pPr algn="l"/>
                      <a:r>
                        <a:rPr sz="1200" b="0" i="0">
                          <a:solidFill>
                            <a:srgbClr val="334155"/>
                          </a:solidFill>
                          <a:latin typeface="Poppins"/>
                        </a:rPr>
                        <a:t>4.29 MB</a:t>
                      </a:r>
                    </a:p>
                  </a:txBody>
                  <a:tcPr marL="128016" marR="128016" marT="54864" marB="54864" anchor="ctr">
                    <a:solidFill>
                      <a:srgbClr val="FFFFFF"/>
                    </a:solidFill>
                  </a:tcPr>
                </a:tc>
                <a:tc>
                  <a:txBody>
                    <a:bodyPr/>
                    <a:lstStyle/>
                    <a:p>
                      <a:pPr algn="l"/>
                      <a:r>
                        <a:rPr sz="1200" b="0" i="0">
                          <a:solidFill>
                            <a:srgbClr val="334155"/>
                          </a:solidFill>
                          <a:latin typeface="Poppins"/>
                        </a:rPr>
                        <a:t>86.81%</a:t>
                      </a:r>
                    </a:p>
                  </a:txBody>
                  <a:tcPr marL="128016" marR="128016" marT="54864" marB="54864" anchor="ctr">
                    <a:solidFill>
                      <a:srgbClr val="FFFFFF"/>
                    </a:solidFill>
                  </a:tcPr>
                </a:tc>
                <a:tc>
                  <a:txBody>
                    <a:bodyPr/>
                    <a:lstStyle/>
                    <a:p>
                      <a:pPr algn="l"/>
                      <a:r>
                        <a:rPr sz="1200" b="0" i="0">
                          <a:solidFill>
                            <a:srgbClr val="334155"/>
                          </a:solidFill>
                          <a:latin typeface="Poppins"/>
                        </a:rPr>
                        <a:t>81.24%</a:t>
                      </a:r>
                    </a:p>
                  </a:txBody>
                  <a:tcPr marL="128016" marR="128016" marT="54864" marB="54864" anchor="ctr">
                    <a:solidFill>
                      <a:srgbClr val="FFFFFF"/>
                    </a:solidFill>
                  </a:tcPr>
                </a:tc>
                <a:tc>
                  <a:txBody>
                    <a:bodyPr/>
                    <a:lstStyle/>
                    <a:p>
                      <a:pPr algn="l"/>
                      <a:r>
                        <a:rPr sz="1200" b="0" i="0">
                          <a:solidFill>
                            <a:srgbClr val="334155"/>
                          </a:solidFill>
                          <a:latin typeface="Poppins"/>
                        </a:rPr>
                        <a:t>Compact footprint; baseline accuracy plateau</a:t>
                      </a:r>
                    </a:p>
                  </a:txBody>
                  <a:tcPr marL="128016" marR="128016" marT="54864" marB="54864" anchor="ctr">
                    <a:solidFill>
                      <a:srgbClr val="FFFFFF"/>
                    </a:solidFill>
                  </a:tcPr>
                </a:tc>
                <a:extLst>
                  <a:ext uri="{0D108BD9-81ED-4DB2-BD59-A6C34878D82A}">
                    <a16:rowId xmlns:a16="http://schemas.microsoft.com/office/drawing/2014/main" val="10001"/>
                  </a:ext>
                </a:extLst>
              </a:tr>
              <a:tr h="585216">
                <a:tc>
                  <a:txBody>
                    <a:bodyPr/>
                    <a:lstStyle/>
                    <a:p>
                      <a:pPr algn="l"/>
                      <a:r>
                        <a:rPr sz="1200" b="1" i="0">
                          <a:solidFill>
                            <a:srgbClr val="0F172A"/>
                          </a:solidFill>
                          <a:latin typeface="Poppins"/>
                        </a:rPr>
                        <a:t>MobileNetV2 (Baseline)</a:t>
                      </a:r>
                    </a:p>
                  </a:txBody>
                  <a:tcPr marL="128016" marR="128016" marT="54864" marB="54864" anchor="ctr">
                    <a:solidFill>
                      <a:srgbClr val="F8FAFC"/>
                    </a:solidFill>
                  </a:tcPr>
                </a:tc>
                <a:tc>
                  <a:txBody>
                    <a:bodyPr/>
                    <a:lstStyle/>
                    <a:p>
                      <a:pPr algn="l"/>
                      <a:r>
                        <a:rPr sz="1200" b="0" i="0">
                          <a:solidFill>
                            <a:srgbClr val="334155"/>
                          </a:solidFill>
                          <a:latin typeface="Poppins"/>
                        </a:rPr>
                        <a:t>2.63M</a:t>
                      </a:r>
                    </a:p>
                  </a:txBody>
                  <a:tcPr marL="128016" marR="128016" marT="54864" marB="54864" anchor="ctr">
                    <a:solidFill>
                      <a:srgbClr val="F8FAFC"/>
                    </a:solidFill>
                  </a:tcPr>
                </a:tc>
                <a:tc>
                  <a:txBody>
                    <a:bodyPr/>
                    <a:lstStyle/>
                    <a:p>
                      <a:pPr algn="l"/>
                      <a:r>
                        <a:rPr sz="1200" b="0" i="0">
                          <a:solidFill>
                            <a:srgbClr val="334155"/>
                          </a:solidFill>
                          <a:latin typeface="Poppins"/>
                        </a:rPr>
                        <a:t>10.02 MB</a:t>
                      </a:r>
                    </a:p>
                  </a:txBody>
                  <a:tcPr marL="128016" marR="128016" marT="54864" marB="54864" anchor="ctr">
                    <a:solidFill>
                      <a:srgbClr val="F8FAFC"/>
                    </a:solidFill>
                  </a:tcPr>
                </a:tc>
                <a:tc>
                  <a:txBody>
                    <a:bodyPr/>
                    <a:lstStyle/>
                    <a:p>
                      <a:pPr algn="l"/>
                      <a:r>
                        <a:rPr sz="1200" b="0" i="0">
                          <a:solidFill>
                            <a:srgbClr val="334155"/>
                          </a:solidFill>
                          <a:latin typeface="Poppins"/>
                        </a:rPr>
                        <a:t>89.92%</a:t>
                      </a:r>
                    </a:p>
                  </a:txBody>
                  <a:tcPr marL="128016" marR="128016" marT="54864" marB="54864" anchor="ctr">
                    <a:solidFill>
                      <a:srgbClr val="F8FAFC"/>
                    </a:solidFill>
                  </a:tcPr>
                </a:tc>
                <a:tc>
                  <a:txBody>
                    <a:bodyPr/>
                    <a:lstStyle/>
                    <a:p>
                      <a:pPr algn="l"/>
                      <a:r>
                        <a:rPr sz="1200" b="0" i="0">
                          <a:solidFill>
                            <a:srgbClr val="334155"/>
                          </a:solidFill>
                          <a:latin typeface="Poppins"/>
                        </a:rPr>
                        <a:t>86.01%</a:t>
                      </a:r>
                    </a:p>
                  </a:txBody>
                  <a:tcPr marL="128016" marR="128016" marT="54864" marB="54864" anchor="ctr">
                    <a:solidFill>
                      <a:srgbClr val="F8FAFC"/>
                    </a:solidFill>
                  </a:tcPr>
                </a:tc>
                <a:tc>
                  <a:txBody>
                    <a:bodyPr/>
                    <a:lstStyle/>
                    <a:p>
                      <a:pPr algn="l"/>
                      <a:r>
                        <a:rPr sz="1200" b="0" i="0">
                          <a:solidFill>
                            <a:srgbClr val="334155"/>
                          </a:solidFill>
                          <a:latin typeface="Poppins"/>
                        </a:rPr>
                        <a:t>Moderate footprint; higher latency for edge deployment</a:t>
                      </a:r>
                    </a:p>
                  </a:txBody>
                  <a:tcPr marL="128016" marR="128016" marT="54864" marB="54864" anchor="ctr">
                    <a:solidFill>
                      <a:srgbClr val="F8FAFC"/>
                    </a:solidFill>
                  </a:tcPr>
                </a:tc>
                <a:extLst>
                  <a:ext uri="{0D108BD9-81ED-4DB2-BD59-A6C34878D82A}">
                    <a16:rowId xmlns:a16="http://schemas.microsoft.com/office/drawing/2014/main" val="10002"/>
                  </a:ext>
                </a:extLst>
              </a:tr>
              <a:tr h="585216">
                <a:tc>
                  <a:txBody>
                    <a:bodyPr/>
                    <a:lstStyle/>
                    <a:p>
                      <a:pPr algn="l"/>
                      <a:r>
                        <a:rPr sz="1200" b="1" i="0">
                          <a:solidFill>
                            <a:srgbClr val="0F172A"/>
                          </a:solidFill>
                          <a:latin typeface="Poppins"/>
                        </a:rPr>
                        <a:t>EfficientNetV2-B0 (Teacher)</a:t>
                      </a:r>
                    </a:p>
                  </a:txBody>
                  <a:tcPr marL="128016" marR="128016" marT="54864" marB="54864" anchor="ctr">
                    <a:solidFill>
                      <a:srgbClr val="FFFFFF"/>
                    </a:solidFill>
                  </a:tcPr>
                </a:tc>
                <a:tc>
                  <a:txBody>
                    <a:bodyPr/>
                    <a:lstStyle/>
                    <a:p>
                      <a:pPr algn="l"/>
                      <a:r>
                        <a:rPr sz="1200" b="0" i="0">
                          <a:solidFill>
                            <a:srgbClr val="334155"/>
                          </a:solidFill>
                          <a:latin typeface="Poppins"/>
                        </a:rPr>
                        <a:t>6.29M</a:t>
                      </a:r>
                    </a:p>
                  </a:txBody>
                  <a:tcPr marL="128016" marR="128016" marT="54864" marB="54864" anchor="ctr">
                    <a:solidFill>
                      <a:srgbClr val="FFFFFF"/>
                    </a:solidFill>
                  </a:tcPr>
                </a:tc>
                <a:tc>
                  <a:txBody>
                    <a:bodyPr/>
                    <a:lstStyle/>
                    <a:p>
                      <a:pPr algn="l"/>
                      <a:r>
                        <a:rPr sz="1200" b="0" i="0">
                          <a:solidFill>
                            <a:srgbClr val="334155"/>
                          </a:solidFill>
                          <a:latin typeface="Poppins"/>
                        </a:rPr>
                        <a:t>23.98 MB</a:t>
                      </a:r>
                    </a:p>
                  </a:txBody>
                  <a:tcPr marL="128016" marR="128016" marT="54864" marB="54864" anchor="ctr">
                    <a:solidFill>
                      <a:srgbClr val="FFFFFF"/>
                    </a:solidFill>
                  </a:tcPr>
                </a:tc>
                <a:tc>
                  <a:txBody>
                    <a:bodyPr/>
                    <a:lstStyle/>
                    <a:p>
                      <a:pPr algn="l"/>
                      <a:r>
                        <a:rPr sz="1200" b="0" i="0">
                          <a:solidFill>
                            <a:srgbClr val="334155"/>
                          </a:solidFill>
                          <a:latin typeface="Poppins"/>
                        </a:rPr>
                        <a:t>92.36%</a:t>
                      </a:r>
                    </a:p>
                  </a:txBody>
                  <a:tcPr marL="128016" marR="128016" marT="54864" marB="54864" anchor="ctr">
                    <a:solidFill>
                      <a:srgbClr val="FFFFFF"/>
                    </a:solidFill>
                  </a:tcPr>
                </a:tc>
                <a:tc>
                  <a:txBody>
                    <a:bodyPr/>
                    <a:lstStyle/>
                    <a:p>
                      <a:pPr algn="l"/>
                      <a:r>
                        <a:rPr sz="1200" b="0" i="0">
                          <a:solidFill>
                            <a:srgbClr val="334155"/>
                          </a:solidFill>
                          <a:latin typeface="Poppins"/>
                        </a:rPr>
                        <a:t>84.91%</a:t>
                      </a:r>
                    </a:p>
                  </a:txBody>
                  <a:tcPr marL="128016" marR="128016" marT="54864" marB="54864" anchor="ctr">
                    <a:solidFill>
                      <a:srgbClr val="FFFFFF"/>
                    </a:solidFill>
                  </a:tcPr>
                </a:tc>
                <a:tc>
                  <a:txBody>
                    <a:bodyPr/>
                    <a:lstStyle/>
                    <a:p>
                      <a:pPr algn="l"/>
                      <a:r>
                        <a:rPr sz="1200" b="0" i="0">
                          <a:solidFill>
                            <a:srgbClr val="334155"/>
                          </a:solidFill>
                          <a:latin typeface="Poppins"/>
                        </a:rPr>
                        <a:t>Exceeds edge BRAM limits; severe memory bandwidth bottleneck</a:t>
                      </a:r>
                    </a:p>
                  </a:txBody>
                  <a:tcPr marL="128016" marR="128016" marT="54864" marB="54864" anchor="ctr">
                    <a:solidFill>
                      <a:srgbClr val="FFFFFF"/>
                    </a:solidFill>
                  </a:tcPr>
                </a:tc>
                <a:extLst>
                  <a:ext uri="{0D108BD9-81ED-4DB2-BD59-A6C34878D82A}">
                    <a16:rowId xmlns:a16="http://schemas.microsoft.com/office/drawing/2014/main" val="10003"/>
                  </a:ext>
                </a:extLst>
              </a:tr>
              <a:tr h="585216">
                <a:tc>
                  <a:txBody>
                    <a:bodyPr/>
                    <a:lstStyle/>
                    <a:p>
                      <a:pPr algn="l"/>
                      <a:r>
                        <a:rPr sz="1200" b="1" i="0">
                          <a:solidFill>
                            <a:srgbClr val="0F172A"/>
                          </a:solidFill>
                          <a:latin typeface="Poppins"/>
                        </a:rPr>
                        <a:t>MobileNetV3-Small (KD V5 Proposed)</a:t>
                      </a:r>
                    </a:p>
                  </a:txBody>
                  <a:tcPr marL="128016" marR="128016" marT="54864" marB="54864" anchor="ctr">
                    <a:solidFill>
                      <a:srgbClr val="F8FAFC"/>
                    </a:solidFill>
                  </a:tcPr>
                </a:tc>
                <a:tc>
                  <a:txBody>
                    <a:bodyPr/>
                    <a:lstStyle/>
                    <a:p>
                      <a:pPr algn="l"/>
                      <a:r>
                        <a:rPr sz="1200" b="0" i="0">
                          <a:solidFill>
                            <a:srgbClr val="334155"/>
                          </a:solidFill>
                          <a:latin typeface="Poppins"/>
                        </a:rPr>
                        <a:t>1.09M</a:t>
                      </a:r>
                    </a:p>
                  </a:txBody>
                  <a:tcPr marL="128016" marR="128016" marT="54864" marB="54864" anchor="ctr">
                    <a:solidFill>
                      <a:srgbClr val="F8FAFC"/>
                    </a:solidFill>
                  </a:tcPr>
                </a:tc>
                <a:tc>
                  <a:txBody>
                    <a:bodyPr/>
                    <a:lstStyle/>
                    <a:p>
                      <a:pPr algn="l"/>
                      <a:r>
                        <a:rPr sz="1200" b="0" i="0">
                          <a:solidFill>
                            <a:srgbClr val="334155"/>
                          </a:solidFill>
                          <a:latin typeface="Poppins"/>
                        </a:rPr>
                        <a:t>4.16 MB</a:t>
                      </a:r>
                    </a:p>
                  </a:txBody>
                  <a:tcPr marL="128016" marR="128016" marT="54864" marB="54864" anchor="ctr">
                    <a:solidFill>
                      <a:srgbClr val="F8FAFC"/>
                    </a:solidFill>
                  </a:tcPr>
                </a:tc>
                <a:tc>
                  <a:txBody>
                    <a:bodyPr/>
                    <a:lstStyle/>
                    <a:p>
                      <a:pPr algn="l"/>
                      <a:r>
                        <a:rPr sz="1200" b="0" i="0">
                          <a:solidFill>
                            <a:srgbClr val="334155"/>
                          </a:solidFill>
                          <a:latin typeface="Poppins"/>
                        </a:rPr>
                        <a:t>94.92%</a:t>
                      </a:r>
                    </a:p>
                  </a:txBody>
                  <a:tcPr marL="128016" marR="128016" marT="54864" marB="54864" anchor="ctr">
                    <a:solidFill>
                      <a:srgbClr val="F8FAFC"/>
                    </a:solidFill>
                  </a:tcPr>
                </a:tc>
                <a:tc>
                  <a:txBody>
                    <a:bodyPr/>
                    <a:lstStyle/>
                    <a:p>
                      <a:pPr algn="l"/>
                      <a:r>
                        <a:rPr sz="1200" b="0" i="0">
                          <a:solidFill>
                            <a:srgbClr val="334155"/>
                          </a:solidFill>
                          <a:latin typeface="Poppins"/>
                        </a:rPr>
                        <a:t>88.54%</a:t>
                      </a:r>
                    </a:p>
                  </a:txBody>
                  <a:tcPr marL="128016" marR="128016" marT="54864" marB="54864" anchor="ctr">
                    <a:solidFill>
                      <a:srgbClr val="F8FAFC"/>
                    </a:solidFill>
                  </a:tcPr>
                </a:tc>
                <a:tc>
                  <a:txBody>
                    <a:bodyPr/>
                    <a:lstStyle/>
                    <a:p>
                      <a:pPr algn="l"/>
                      <a:r>
                        <a:rPr sz="1200" b="0" i="0" dirty="0">
                          <a:solidFill>
                            <a:srgbClr val="334155"/>
                          </a:solidFill>
                          <a:latin typeface="Poppins"/>
                        </a:rPr>
                        <a:t>5.76× smaller; memory feasibility targeting INT8 (~1.05 MB); +8.11 pp Val Acc!</a:t>
                      </a:r>
                    </a:p>
                  </a:txBody>
                  <a:tcPr marL="128016" marR="128016" marT="54864" marB="54864" anchor="ctr">
                    <a:solidFill>
                      <a:srgbClr val="F8FAFC"/>
                    </a:solidFill>
                  </a:tcPr>
                </a:tc>
                <a:extLst>
                  <a:ext uri="{0D108BD9-81ED-4DB2-BD59-A6C34878D82A}">
                    <a16:rowId xmlns:a16="http://schemas.microsoft.com/office/drawing/2014/main" val="1000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070908147"/>
              </p:ext>
            </p:extLst>
          </p:nvPr>
        </p:nvGraphicFramePr>
        <p:xfrm>
          <a:off x="914400" y="4434840"/>
          <a:ext cx="16459200" cy="3486912"/>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gridCol w="6583680">
                  <a:extLst>
                    <a:ext uri="{9D8B030D-6E8A-4147-A177-3AD203B41FA5}">
                      <a16:colId xmlns:a16="http://schemas.microsoft.com/office/drawing/2014/main" val="20006"/>
                    </a:ext>
                  </a:extLst>
                </a:gridCol>
              </a:tblGrid>
              <a:tr h="411480">
                <a:tc>
                  <a:txBody>
                    <a:bodyPr/>
                    <a:lstStyle/>
                    <a:p>
                      <a:pPr algn="l"/>
                      <a:r>
                        <a:rPr sz="1400" b="1" i="0" dirty="0">
                          <a:solidFill>
                            <a:srgbClr val="FFFFFF"/>
                          </a:solidFill>
                          <a:latin typeface="Poppins"/>
                        </a:rPr>
                        <a:t>ID</a:t>
                      </a:r>
                    </a:p>
                  </a:txBody>
                  <a:tcPr marL="128016" marR="128016" marT="73152" marB="73152" anchor="ctr">
                    <a:solidFill>
                      <a:srgbClr val="0284C7"/>
                    </a:solidFill>
                  </a:tcPr>
                </a:tc>
                <a:tc>
                  <a:txBody>
                    <a:bodyPr/>
                    <a:lstStyle/>
                    <a:p>
                      <a:pPr algn="l"/>
                      <a:r>
                        <a:rPr sz="1400" b="1" i="0">
                          <a:solidFill>
                            <a:srgbClr val="FFFFFF"/>
                          </a:solidFill>
                          <a:latin typeface="Poppins"/>
                        </a:rPr>
                        <a:t>Category</a:t>
                      </a:r>
                    </a:p>
                  </a:txBody>
                  <a:tcPr marL="128016" marR="128016" marT="73152" marB="73152" anchor="ctr">
                    <a:solidFill>
                      <a:srgbClr val="0284C7"/>
                    </a:solidFill>
                  </a:tcPr>
                </a:tc>
                <a:tc>
                  <a:txBody>
                    <a:bodyPr/>
                    <a:lstStyle/>
                    <a:p>
                      <a:pPr algn="l"/>
                      <a:r>
                        <a:rPr sz="1400" b="1" i="0">
                          <a:solidFill>
                            <a:srgbClr val="FFFFFF"/>
                          </a:solidFill>
                          <a:latin typeface="Poppins"/>
                        </a:rPr>
                        <a:t>Experimental Augmentation Configuration</a:t>
                      </a:r>
                    </a:p>
                  </a:txBody>
                  <a:tcPr marL="128016" marR="128016" marT="73152" marB="73152" anchor="ctr">
                    <a:solidFill>
                      <a:srgbClr val="0284C7"/>
                    </a:solidFill>
                  </a:tcPr>
                </a:tc>
                <a:tc>
                  <a:txBody>
                    <a:bodyPr/>
                    <a:lstStyle/>
                    <a:p>
                      <a:pPr algn="l"/>
                      <a:r>
                        <a:rPr sz="1400" b="1" i="0">
                          <a:solidFill>
                            <a:srgbClr val="FFFFFF"/>
                          </a:solidFill>
                          <a:latin typeface="Poppins"/>
                        </a:rPr>
                        <a:t>Val Acc</a:t>
                      </a:r>
                    </a:p>
                  </a:txBody>
                  <a:tcPr marL="128016" marR="128016" marT="73152" marB="73152" anchor="ctr">
                    <a:solidFill>
                      <a:srgbClr val="0284C7"/>
                    </a:solidFill>
                  </a:tcPr>
                </a:tc>
                <a:tc>
                  <a:txBody>
                    <a:bodyPr/>
                    <a:lstStyle/>
                    <a:p>
                      <a:pPr algn="l"/>
                      <a:r>
                        <a:rPr sz="1400" b="1" i="0">
                          <a:solidFill>
                            <a:srgbClr val="FFFFFF"/>
                          </a:solidFill>
                          <a:latin typeface="Poppins"/>
                        </a:rPr>
                        <a:t>Gen. Gap</a:t>
                      </a:r>
                    </a:p>
                  </a:txBody>
                  <a:tcPr marL="128016" marR="128016" marT="73152" marB="73152" anchor="ctr">
                    <a:solidFill>
                      <a:srgbClr val="0284C7"/>
                    </a:solidFill>
                  </a:tcPr>
                </a:tc>
                <a:tc>
                  <a:txBody>
                    <a:bodyPr/>
                    <a:lstStyle/>
                    <a:p>
                      <a:pPr algn="l"/>
                      <a:r>
                        <a:rPr sz="1400" b="1" i="0">
                          <a:solidFill>
                            <a:srgbClr val="FFFFFF"/>
                          </a:solidFill>
                          <a:latin typeface="Poppins"/>
                        </a:rPr>
                        <a:t>Weighted F1</a:t>
                      </a:r>
                    </a:p>
                  </a:txBody>
                  <a:tcPr marL="128016" marR="128016" marT="73152" marB="73152" anchor="ctr">
                    <a:solidFill>
                      <a:srgbClr val="0284C7"/>
                    </a:solidFill>
                  </a:tcPr>
                </a:tc>
                <a:tc>
                  <a:txBody>
                    <a:bodyPr/>
                    <a:lstStyle/>
                    <a:p>
                      <a:pPr algn="l"/>
                      <a:r>
                        <a:rPr sz="1400" b="1" i="0">
                          <a:solidFill>
                            <a:srgbClr val="FFFFFF"/>
                          </a:solidFill>
                          <a:latin typeface="Poppins"/>
                        </a:rPr>
                        <a:t>Observation &amp; Impact</a:t>
                      </a:r>
                    </a:p>
                  </a:txBody>
                  <a:tcPr marL="128016" marR="128016" marT="73152" marB="73152" anchor="ctr">
                    <a:solidFill>
                      <a:srgbClr val="0284C7"/>
                    </a:solidFill>
                  </a:tcPr>
                </a:tc>
                <a:extLst>
                  <a:ext uri="{0D108BD9-81ED-4DB2-BD59-A6C34878D82A}">
                    <a16:rowId xmlns:a16="http://schemas.microsoft.com/office/drawing/2014/main" val="10000"/>
                  </a:ext>
                </a:extLst>
              </a:tr>
              <a:tr h="411480">
                <a:tc>
                  <a:txBody>
                    <a:bodyPr/>
                    <a:lstStyle/>
                    <a:p>
                      <a:pPr algn="l"/>
                      <a:r>
                        <a:rPr sz="1100" b="1" i="0">
                          <a:solidFill>
                            <a:srgbClr val="0F172A"/>
                          </a:solidFill>
                          <a:latin typeface="Poppins"/>
                        </a:rPr>
                        <a:t>A0</a:t>
                      </a:r>
                    </a:p>
                  </a:txBody>
                  <a:tcPr marL="128016" marR="128016" marT="54864" marB="54864" anchor="ctr">
                    <a:solidFill>
                      <a:srgbClr val="FFFFFF"/>
                    </a:solidFill>
                  </a:tcPr>
                </a:tc>
                <a:tc>
                  <a:txBody>
                    <a:bodyPr/>
                    <a:lstStyle/>
                    <a:p>
                      <a:pPr algn="l"/>
                      <a:r>
                        <a:rPr sz="1100" b="0" i="0">
                          <a:solidFill>
                            <a:srgbClr val="334155"/>
                          </a:solidFill>
                          <a:latin typeface="Poppins"/>
                        </a:rPr>
                        <a:t>Baseline</a:t>
                      </a:r>
                    </a:p>
                  </a:txBody>
                  <a:tcPr marL="128016" marR="128016" marT="54864" marB="54864" anchor="ctr">
                    <a:solidFill>
                      <a:srgbClr val="FFFFFF"/>
                    </a:solidFill>
                  </a:tcPr>
                </a:tc>
                <a:tc>
                  <a:txBody>
                    <a:bodyPr/>
                    <a:lstStyle/>
                    <a:p>
                      <a:pPr algn="l"/>
                      <a:r>
                        <a:rPr sz="1100" b="0" i="0">
                          <a:solidFill>
                            <a:srgbClr val="334155"/>
                          </a:solidFill>
                          <a:latin typeface="Poppins"/>
                        </a:rPr>
                        <a:t>Full Standard Augmentation (Rotation, Jitter, Flip)</a:t>
                      </a:r>
                    </a:p>
                  </a:txBody>
                  <a:tcPr marL="128016" marR="128016" marT="54864" marB="54864" anchor="ctr">
                    <a:solidFill>
                      <a:srgbClr val="FFFFFF"/>
                    </a:solidFill>
                  </a:tcPr>
                </a:tc>
                <a:tc>
                  <a:txBody>
                    <a:bodyPr/>
                    <a:lstStyle/>
                    <a:p>
                      <a:pPr algn="l"/>
                      <a:r>
                        <a:rPr sz="1100" b="0" i="0">
                          <a:solidFill>
                            <a:srgbClr val="334155"/>
                          </a:solidFill>
                          <a:latin typeface="Poppins"/>
                        </a:rPr>
                        <a:t>81.91%</a:t>
                      </a:r>
                    </a:p>
                  </a:txBody>
                  <a:tcPr marL="128016" marR="128016" marT="54864" marB="54864" anchor="ctr">
                    <a:solidFill>
                      <a:srgbClr val="FFFFFF"/>
                    </a:solidFill>
                  </a:tcPr>
                </a:tc>
                <a:tc>
                  <a:txBody>
                    <a:bodyPr/>
                    <a:lstStyle/>
                    <a:p>
                      <a:pPr algn="l"/>
                      <a:r>
                        <a:rPr sz="1100" b="0" i="0">
                          <a:solidFill>
                            <a:srgbClr val="334155"/>
                          </a:solidFill>
                          <a:latin typeface="Poppins"/>
                        </a:rPr>
                        <a:t>7.44 pp</a:t>
                      </a:r>
                    </a:p>
                  </a:txBody>
                  <a:tcPr marL="128016" marR="128016" marT="54864" marB="54864" anchor="ctr">
                    <a:solidFill>
                      <a:srgbClr val="FFFFFF"/>
                    </a:solidFill>
                  </a:tcPr>
                </a:tc>
                <a:tc>
                  <a:txBody>
                    <a:bodyPr/>
                    <a:lstStyle/>
                    <a:p>
                      <a:pPr algn="l"/>
                      <a:r>
                        <a:rPr sz="1100" b="0" i="0">
                          <a:solidFill>
                            <a:srgbClr val="334155"/>
                          </a:solidFill>
                          <a:latin typeface="Poppins"/>
                        </a:rPr>
                        <a:t>0.8189</a:t>
                      </a:r>
                    </a:p>
                  </a:txBody>
                  <a:tcPr marL="128016" marR="128016" marT="54864" marB="54864" anchor="ctr">
                    <a:solidFill>
                      <a:srgbClr val="FFFFFF"/>
                    </a:solidFill>
                  </a:tcPr>
                </a:tc>
                <a:tc>
                  <a:txBody>
                    <a:bodyPr/>
                    <a:lstStyle/>
                    <a:p>
                      <a:pPr algn="l"/>
                      <a:r>
                        <a:rPr sz="1100" b="0" i="0">
                          <a:solidFill>
                            <a:srgbClr val="334155"/>
                          </a:solidFill>
                          <a:latin typeface="Poppins"/>
                        </a:rPr>
                        <a:t>Over-regularized; cracks partially distorted</a:t>
                      </a:r>
                    </a:p>
                  </a:txBody>
                  <a:tcPr marL="128016" marR="128016" marT="54864" marB="54864" anchor="ctr">
                    <a:solidFill>
                      <a:srgbClr val="FFFFFF"/>
                    </a:solidFill>
                  </a:tcPr>
                </a:tc>
                <a:extLst>
                  <a:ext uri="{0D108BD9-81ED-4DB2-BD59-A6C34878D82A}">
                    <a16:rowId xmlns:a16="http://schemas.microsoft.com/office/drawing/2014/main" val="10001"/>
                  </a:ext>
                </a:extLst>
              </a:tr>
              <a:tr h="411480">
                <a:tc>
                  <a:txBody>
                    <a:bodyPr/>
                    <a:lstStyle/>
                    <a:p>
                      <a:pPr algn="l"/>
                      <a:r>
                        <a:rPr sz="1100" b="1" i="0">
                          <a:solidFill>
                            <a:srgbClr val="0F172A"/>
                          </a:solidFill>
                          <a:latin typeface="Poppins"/>
                        </a:rPr>
                        <a:t>A1</a:t>
                      </a:r>
                    </a:p>
                  </a:txBody>
                  <a:tcPr marL="128016" marR="128016" marT="54864" marB="54864" anchor="ctr">
                    <a:solidFill>
                      <a:srgbClr val="F8FAFC"/>
                    </a:solidFill>
                  </a:tcPr>
                </a:tc>
                <a:tc>
                  <a:txBody>
                    <a:bodyPr/>
                    <a:lstStyle/>
                    <a:p>
                      <a:pPr algn="l"/>
                      <a:r>
                        <a:rPr sz="1100" b="0" i="0">
                          <a:solidFill>
                            <a:srgbClr val="334155"/>
                          </a:solidFill>
                          <a:latin typeface="Poppins"/>
                        </a:rPr>
                        <a:t>Augment</a:t>
                      </a:r>
                    </a:p>
                  </a:txBody>
                  <a:tcPr marL="128016" marR="128016" marT="54864" marB="54864" anchor="ctr">
                    <a:solidFill>
                      <a:srgbClr val="F8FAFC"/>
                    </a:solidFill>
                  </a:tcPr>
                </a:tc>
                <a:tc>
                  <a:txBody>
                    <a:bodyPr/>
                    <a:lstStyle/>
                    <a:p>
                      <a:pPr algn="l"/>
                      <a:r>
                        <a:rPr sz="1100" b="0" i="0">
                          <a:solidFill>
                            <a:srgbClr val="334155"/>
                          </a:solidFill>
                          <a:latin typeface="Poppins"/>
                        </a:rPr>
                        <a:t>Minimal Rotation (±10%) + Horizontal Flip</a:t>
                      </a:r>
                    </a:p>
                  </a:txBody>
                  <a:tcPr marL="128016" marR="128016" marT="54864" marB="54864" anchor="ctr">
                    <a:solidFill>
                      <a:srgbClr val="F8FAFC"/>
                    </a:solidFill>
                  </a:tcPr>
                </a:tc>
                <a:tc>
                  <a:txBody>
                    <a:bodyPr/>
                    <a:lstStyle/>
                    <a:p>
                      <a:pPr algn="l"/>
                      <a:r>
                        <a:rPr sz="1100" b="0" i="0">
                          <a:solidFill>
                            <a:srgbClr val="334155"/>
                          </a:solidFill>
                          <a:latin typeface="Poppins"/>
                        </a:rPr>
                        <a:t>84.42%</a:t>
                      </a:r>
                    </a:p>
                  </a:txBody>
                  <a:tcPr marL="128016" marR="128016" marT="54864" marB="54864" anchor="ctr">
                    <a:solidFill>
                      <a:srgbClr val="F8FAFC"/>
                    </a:solidFill>
                  </a:tcPr>
                </a:tc>
                <a:tc>
                  <a:txBody>
                    <a:bodyPr/>
                    <a:lstStyle/>
                    <a:p>
                      <a:pPr algn="l"/>
                      <a:r>
                        <a:rPr sz="1100" b="0" i="0">
                          <a:solidFill>
                            <a:srgbClr val="334155"/>
                          </a:solidFill>
                          <a:latin typeface="Poppins"/>
                        </a:rPr>
                        <a:t>12.57 pp</a:t>
                      </a:r>
                    </a:p>
                  </a:txBody>
                  <a:tcPr marL="128016" marR="128016" marT="54864" marB="54864" anchor="ctr">
                    <a:solidFill>
                      <a:srgbClr val="F8FAFC"/>
                    </a:solidFill>
                  </a:tcPr>
                </a:tc>
                <a:tc>
                  <a:txBody>
                    <a:bodyPr/>
                    <a:lstStyle/>
                    <a:p>
                      <a:pPr algn="l"/>
                      <a:r>
                        <a:rPr sz="1100" b="0" i="0">
                          <a:solidFill>
                            <a:srgbClr val="334155"/>
                          </a:solidFill>
                          <a:latin typeface="Poppins"/>
                        </a:rPr>
                        <a:t>0.8442</a:t>
                      </a:r>
                    </a:p>
                  </a:txBody>
                  <a:tcPr marL="128016" marR="128016" marT="54864" marB="54864" anchor="ctr">
                    <a:solidFill>
                      <a:srgbClr val="F8FAFC"/>
                    </a:solidFill>
                  </a:tcPr>
                </a:tc>
                <a:tc>
                  <a:txBody>
                    <a:bodyPr/>
                    <a:lstStyle/>
                    <a:p>
                      <a:pPr algn="l"/>
                      <a:r>
                        <a:rPr sz="1100" b="0" i="0">
                          <a:solidFill>
                            <a:srgbClr val="334155"/>
                          </a:solidFill>
                          <a:latin typeface="Poppins"/>
                        </a:rPr>
                        <a:t>Preserves hairline cell cracks and subtle dust films</a:t>
                      </a:r>
                    </a:p>
                  </a:txBody>
                  <a:tcPr marL="128016" marR="128016" marT="54864" marB="54864" anchor="ctr">
                    <a:solidFill>
                      <a:srgbClr val="F8FAFC"/>
                    </a:solidFill>
                  </a:tcPr>
                </a:tc>
                <a:extLst>
                  <a:ext uri="{0D108BD9-81ED-4DB2-BD59-A6C34878D82A}">
                    <a16:rowId xmlns:a16="http://schemas.microsoft.com/office/drawing/2014/main" val="10002"/>
                  </a:ext>
                </a:extLst>
              </a:tr>
              <a:tr h="411480">
                <a:tc>
                  <a:txBody>
                    <a:bodyPr/>
                    <a:lstStyle/>
                    <a:p>
                      <a:pPr algn="l"/>
                      <a:r>
                        <a:rPr sz="1100" b="1" i="0">
                          <a:solidFill>
                            <a:srgbClr val="0F172A"/>
                          </a:solidFill>
                          <a:latin typeface="Poppins"/>
                        </a:rPr>
                        <a:t>A2</a:t>
                      </a:r>
                    </a:p>
                  </a:txBody>
                  <a:tcPr marL="128016" marR="128016" marT="54864" marB="54864" anchor="ctr">
                    <a:solidFill>
                      <a:srgbClr val="FFFFFF"/>
                    </a:solidFill>
                  </a:tcPr>
                </a:tc>
                <a:tc>
                  <a:txBody>
                    <a:bodyPr/>
                    <a:lstStyle/>
                    <a:p>
                      <a:pPr algn="l"/>
                      <a:r>
                        <a:rPr sz="1100" b="0" i="0">
                          <a:solidFill>
                            <a:srgbClr val="334155"/>
                          </a:solidFill>
                          <a:latin typeface="Poppins"/>
                        </a:rPr>
                        <a:t>Augment</a:t>
                      </a:r>
                    </a:p>
                  </a:txBody>
                  <a:tcPr marL="128016" marR="128016" marT="54864" marB="54864" anchor="ctr">
                    <a:solidFill>
                      <a:srgbClr val="FFFFFF"/>
                    </a:solidFill>
                  </a:tcPr>
                </a:tc>
                <a:tc>
                  <a:txBody>
                    <a:bodyPr/>
                    <a:lstStyle/>
                    <a:p>
                      <a:pPr algn="l"/>
                      <a:r>
                        <a:rPr sz="1100" b="0" i="0">
                          <a:solidFill>
                            <a:srgbClr val="334155"/>
                          </a:solidFill>
                          <a:latin typeface="Poppins"/>
                        </a:rPr>
                        <a:t>Strong Brightness (0.30) &amp; Contrast (0.25)</a:t>
                      </a:r>
                    </a:p>
                  </a:txBody>
                  <a:tcPr marL="128016" marR="128016" marT="54864" marB="54864" anchor="ctr">
                    <a:solidFill>
                      <a:srgbClr val="FFFFFF"/>
                    </a:solidFill>
                  </a:tcPr>
                </a:tc>
                <a:tc>
                  <a:txBody>
                    <a:bodyPr/>
                    <a:lstStyle/>
                    <a:p>
                      <a:pPr algn="l"/>
                      <a:r>
                        <a:rPr sz="1100" b="0" i="0">
                          <a:solidFill>
                            <a:srgbClr val="334155"/>
                          </a:solidFill>
                          <a:latin typeface="Poppins"/>
                        </a:rPr>
                        <a:t>78.39%</a:t>
                      </a:r>
                    </a:p>
                  </a:txBody>
                  <a:tcPr marL="128016" marR="128016" marT="54864" marB="54864" anchor="ctr">
                    <a:solidFill>
                      <a:srgbClr val="FFFFFF"/>
                    </a:solidFill>
                  </a:tcPr>
                </a:tc>
                <a:tc>
                  <a:txBody>
                    <a:bodyPr/>
                    <a:lstStyle/>
                    <a:p>
                      <a:pPr algn="l"/>
                      <a:r>
                        <a:rPr sz="1100" b="0" i="0">
                          <a:solidFill>
                            <a:srgbClr val="334155"/>
                          </a:solidFill>
                          <a:latin typeface="Poppins"/>
                        </a:rPr>
                        <a:t>10.83 pp</a:t>
                      </a:r>
                    </a:p>
                  </a:txBody>
                  <a:tcPr marL="128016" marR="128016" marT="54864" marB="54864" anchor="ctr">
                    <a:solidFill>
                      <a:srgbClr val="FFFFFF"/>
                    </a:solidFill>
                  </a:tcPr>
                </a:tc>
                <a:tc>
                  <a:txBody>
                    <a:bodyPr/>
                    <a:lstStyle/>
                    <a:p>
                      <a:pPr algn="l"/>
                      <a:r>
                        <a:rPr sz="1100" b="0" i="0">
                          <a:solidFill>
                            <a:srgbClr val="334155"/>
                          </a:solidFill>
                          <a:latin typeface="Poppins"/>
                        </a:rPr>
                        <a:t>0.7843</a:t>
                      </a:r>
                    </a:p>
                  </a:txBody>
                  <a:tcPr marL="128016" marR="128016" marT="54864" marB="54864" anchor="ctr">
                    <a:solidFill>
                      <a:srgbClr val="FFFFFF"/>
                    </a:solidFill>
                  </a:tcPr>
                </a:tc>
                <a:tc>
                  <a:txBody>
                    <a:bodyPr/>
                    <a:lstStyle/>
                    <a:p>
                      <a:pPr algn="l"/>
                      <a:r>
                        <a:rPr sz="1100" b="0" i="0">
                          <a:solidFill>
                            <a:srgbClr val="334155"/>
                          </a:solidFill>
                          <a:latin typeface="Poppins"/>
                        </a:rPr>
                        <a:t>Severe contrast changes washed out hairline crack gradients</a:t>
                      </a:r>
                    </a:p>
                  </a:txBody>
                  <a:tcPr marL="128016" marR="128016" marT="54864" marB="54864" anchor="ctr">
                    <a:solidFill>
                      <a:srgbClr val="FFFFFF"/>
                    </a:solidFill>
                  </a:tcPr>
                </a:tc>
                <a:extLst>
                  <a:ext uri="{0D108BD9-81ED-4DB2-BD59-A6C34878D82A}">
                    <a16:rowId xmlns:a16="http://schemas.microsoft.com/office/drawing/2014/main" val="10003"/>
                  </a:ext>
                </a:extLst>
              </a:tr>
              <a:tr h="411480">
                <a:tc>
                  <a:txBody>
                    <a:bodyPr/>
                    <a:lstStyle/>
                    <a:p>
                      <a:pPr algn="l"/>
                      <a:r>
                        <a:rPr sz="1100" b="1" i="0">
                          <a:solidFill>
                            <a:srgbClr val="0F172A"/>
                          </a:solidFill>
                          <a:latin typeface="Poppins"/>
                        </a:rPr>
                        <a:t>A3</a:t>
                      </a:r>
                    </a:p>
                  </a:txBody>
                  <a:tcPr marL="128016" marR="128016" marT="54864" marB="54864" anchor="ctr">
                    <a:solidFill>
                      <a:srgbClr val="F8FAFC"/>
                    </a:solidFill>
                  </a:tcPr>
                </a:tc>
                <a:tc>
                  <a:txBody>
                    <a:bodyPr/>
                    <a:lstStyle/>
                    <a:p>
                      <a:pPr algn="l"/>
                      <a:r>
                        <a:rPr sz="1100" b="0" i="0">
                          <a:solidFill>
                            <a:srgbClr val="334155"/>
                          </a:solidFill>
                          <a:latin typeface="Poppins"/>
                        </a:rPr>
                        <a:t>Augment</a:t>
                      </a:r>
                    </a:p>
                  </a:txBody>
                  <a:tcPr marL="128016" marR="128016" marT="54864" marB="54864" anchor="ctr">
                    <a:solidFill>
                      <a:srgbClr val="F8FAFC"/>
                    </a:solidFill>
                  </a:tcPr>
                </a:tc>
                <a:tc>
                  <a:txBody>
                    <a:bodyPr/>
                    <a:lstStyle/>
                    <a:p>
                      <a:pPr algn="l"/>
                      <a:r>
                        <a:rPr sz="1100" b="0" i="0">
                          <a:solidFill>
                            <a:srgbClr val="334155"/>
                          </a:solidFill>
                          <a:latin typeface="Poppins"/>
                        </a:rPr>
                        <a:t>Random Erasing (10%–20% Area)</a:t>
                      </a:r>
                    </a:p>
                  </a:txBody>
                  <a:tcPr marL="128016" marR="128016" marT="54864" marB="54864" anchor="ctr">
                    <a:solidFill>
                      <a:srgbClr val="F8FAFC"/>
                    </a:solidFill>
                  </a:tcPr>
                </a:tc>
                <a:tc>
                  <a:txBody>
                    <a:bodyPr/>
                    <a:lstStyle/>
                    <a:p>
                      <a:pPr algn="l"/>
                      <a:r>
                        <a:rPr sz="1100" b="0" i="0">
                          <a:solidFill>
                            <a:srgbClr val="334155"/>
                          </a:solidFill>
                          <a:latin typeface="Poppins"/>
                        </a:rPr>
                        <a:t>81.41%</a:t>
                      </a:r>
                    </a:p>
                  </a:txBody>
                  <a:tcPr marL="128016" marR="128016" marT="54864" marB="54864" anchor="ctr">
                    <a:solidFill>
                      <a:srgbClr val="F8FAFC"/>
                    </a:solidFill>
                  </a:tcPr>
                </a:tc>
                <a:tc>
                  <a:txBody>
                    <a:bodyPr/>
                    <a:lstStyle/>
                    <a:p>
                      <a:pPr algn="l"/>
                      <a:r>
                        <a:rPr sz="1100" b="0" i="0">
                          <a:solidFill>
                            <a:srgbClr val="334155"/>
                          </a:solidFill>
                          <a:latin typeface="Poppins"/>
                        </a:rPr>
                        <a:t>7.82 pp</a:t>
                      </a:r>
                    </a:p>
                  </a:txBody>
                  <a:tcPr marL="128016" marR="128016" marT="54864" marB="54864" anchor="ctr">
                    <a:solidFill>
                      <a:srgbClr val="F8FAFC"/>
                    </a:solidFill>
                  </a:tcPr>
                </a:tc>
                <a:tc>
                  <a:txBody>
                    <a:bodyPr/>
                    <a:lstStyle/>
                    <a:p>
                      <a:pPr algn="l"/>
                      <a:r>
                        <a:rPr sz="1100" b="0" i="0">
                          <a:solidFill>
                            <a:srgbClr val="334155"/>
                          </a:solidFill>
                          <a:latin typeface="Poppins"/>
                        </a:rPr>
                        <a:t>0.8138</a:t>
                      </a:r>
                    </a:p>
                  </a:txBody>
                  <a:tcPr marL="128016" marR="128016" marT="54864" marB="54864" anchor="ctr">
                    <a:solidFill>
                      <a:srgbClr val="F8FAFC"/>
                    </a:solidFill>
                  </a:tcPr>
                </a:tc>
                <a:tc>
                  <a:txBody>
                    <a:bodyPr/>
                    <a:lstStyle/>
                    <a:p>
                      <a:pPr algn="l"/>
                      <a:r>
                        <a:rPr sz="1100" b="0" i="0">
                          <a:solidFill>
                            <a:srgbClr val="334155"/>
                          </a:solidFill>
                          <a:latin typeface="Poppins"/>
                        </a:rPr>
                        <a:t>Occludes critical bird-drop hot-spot features</a:t>
                      </a:r>
                    </a:p>
                  </a:txBody>
                  <a:tcPr marL="128016" marR="128016" marT="54864" marB="54864" anchor="ctr">
                    <a:solidFill>
                      <a:srgbClr val="F8FAFC"/>
                    </a:solidFill>
                  </a:tcPr>
                </a:tc>
                <a:extLst>
                  <a:ext uri="{0D108BD9-81ED-4DB2-BD59-A6C34878D82A}">
                    <a16:rowId xmlns:a16="http://schemas.microsoft.com/office/drawing/2014/main" val="10004"/>
                  </a:ext>
                </a:extLst>
              </a:tr>
              <a:tr h="411480">
                <a:tc>
                  <a:txBody>
                    <a:bodyPr/>
                    <a:lstStyle/>
                    <a:p>
                      <a:pPr algn="l"/>
                      <a:r>
                        <a:rPr sz="1100" b="1" i="0">
                          <a:solidFill>
                            <a:srgbClr val="0F172A"/>
                          </a:solidFill>
                          <a:latin typeface="Poppins"/>
                        </a:rPr>
                        <a:t>P1-P4</a:t>
                      </a:r>
                    </a:p>
                  </a:txBody>
                  <a:tcPr marL="128016" marR="128016" marT="54864" marB="54864" anchor="ctr">
                    <a:solidFill>
                      <a:srgbClr val="FFFFFF"/>
                    </a:solidFill>
                  </a:tcPr>
                </a:tc>
                <a:tc>
                  <a:txBody>
                    <a:bodyPr/>
                    <a:lstStyle/>
                    <a:p>
                      <a:pPr algn="l"/>
                      <a:r>
                        <a:rPr sz="1100" b="0" i="0">
                          <a:solidFill>
                            <a:srgbClr val="334155"/>
                          </a:solidFill>
                          <a:latin typeface="Poppins"/>
                        </a:rPr>
                        <a:t>Preproc</a:t>
                      </a:r>
                    </a:p>
                  </a:txBody>
                  <a:tcPr marL="128016" marR="128016" marT="54864" marB="54864" anchor="ctr">
                    <a:solidFill>
                      <a:srgbClr val="FFFFFF"/>
                    </a:solidFill>
                  </a:tcPr>
                </a:tc>
                <a:tc>
                  <a:txBody>
                    <a:bodyPr/>
                    <a:lstStyle/>
                    <a:p>
                      <a:pPr algn="l"/>
                      <a:r>
                        <a:rPr sz="1100" b="0" i="0">
                          <a:solidFill>
                            <a:srgbClr val="334155"/>
                          </a:solidFill>
                          <a:latin typeface="Poppins"/>
                        </a:rPr>
                        <a:t>CLAHE / HistEq / Gamma / Bilateral Filter</a:t>
                      </a:r>
                    </a:p>
                  </a:txBody>
                  <a:tcPr marL="128016" marR="128016" marT="54864" marB="54864" anchor="ctr">
                    <a:solidFill>
                      <a:srgbClr val="FFFFFF"/>
                    </a:solidFill>
                  </a:tcPr>
                </a:tc>
                <a:tc>
                  <a:txBody>
                    <a:bodyPr/>
                    <a:lstStyle/>
                    <a:p>
                      <a:pPr algn="l"/>
                      <a:r>
                        <a:rPr sz="1100" b="0" i="0">
                          <a:solidFill>
                            <a:srgbClr val="334155"/>
                          </a:solidFill>
                          <a:latin typeface="Poppins"/>
                        </a:rPr>
                        <a:t>79.4%–81.9%</a:t>
                      </a:r>
                    </a:p>
                  </a:txBody>
                  <a:tcPr marL="128016" marR="128016" marT="54864" marB="54864" anchor="ctr">
                    <a:solidFill>
                      <a:srgbClr val="FFFFFF"/>
                    </a:solidFill>
                  </a:tcPr>
                </a:tc>
                <a:tc>
                  <a:txBody>
                    <a:bodyPr/>
                    <a:lstStyle/>
                    <a:p>
                      <a:pPr algn="l"/>
                      <a:r>
                        <a:rPr sz="1100" b="0" i="0">
                          <a:solidFill>
                            <a:srgbClr val="334155"/>
                          </a:solidFill>
                          <a:latin typeface="Poppins"/>
                        </a:rPr>
                        <a:t>6.5–10.0 pp</a:t>
                      </a:r>
                    </a:p>
                  </a:txBody>
                  <a:tcPr marL="128016" marR="128016" marT="54864" marB="54864" anchor="ctr">
                    <a:solidFill>
                      <a:srgbClr val="FFFFFF"/>
                    </a:solidFill>
                  </a:tcPr>
                </a:tc>
                <a:tc>
                  <a:txBody>
                    <a:bodyPr/>
                    <a:lstStyle/>
                    <a:p>
                      <a:pPr algn="l"/>
                      <a:r>
                        <a:rPr sz="1100" b="0" i="0">
                          <a:solidFill>
                            <a:srgbClr val="334155"/>
                          </a:solidFill>
                          <a:latin typeface="Poppins"/>
                        </a:rPr>
                        <a:t>0.79–0.81</a:t>
                      </a:r>
                    </a:p>
                  </a:txBody>
                  <a:tcPr marL="128016" marR="128016" marT="54864" marB="54864" anchor="ctr">
                    <a:solidFill>
                      <a:srgbClr val="FFFFFF"/>
                    </a:solidFill>
                  </a:tcPr>
                </a:tc>
                <a:tc>
                  <a:txBody>
                    <a:bodyPr/>
                    <a:lstStyle/>
                    <a:p>
                      <a:pPr algn="l"/>
                      <a:r>
                        <a:rPr sz="1100" b="0" i="0">
                          <a:solidFill>
                            <a:srgbClr val="334155"/>
                          </a:solidFill>
                          <a:latin typeface="Poppins"/>
                        </a:rPr>
                        <a:t>Bilateral filter slightly blurs fine glass fractures</a:t>
                      </a:r>
                    </a:p>
                  </a:txBody>
                  <a:tcPr marL="128016" marR="128016" marT="54864" marB="54864" anchor="ctr">
                    <a:solidFill>
                      <a:srgbClr val="FFFFFF"/>
                    </a:solidFill>
                  </a:tcPr>
                </a:tc>
                <a:extLst>
                  <a:ext uri="{0D108BD9-81ED-4DB2-BD59-A6C34878D82A}">
                    <a16:rowId xmlns:a16="http://schemas.microsoft.com/office/drawing/2014/main" val="10005"/>
                  </a:ext>
                </a:extLst>
              </a:tr>
              <a:tr h="411480">
                <a:tc>
                  <a:txBody>
                    <a:bodyPr/>
                    <a:lstStyle/>
                    <a:p>
                      <a:pPr algn="l"/>
                      <a:r>
                        <a:rPr sz="1100" b="1" i="0">
                          <a:solidFill>
                            <a:srgbClr val="0F172A"/>
                          </a:solidFill>
                          <a:latin typeface="Poppins"/>
                        </a:rPr>
                        <a:t>T1-T2</a:t>
                      </a:r>
                    </a:p>
                  </a:txBody>
                  <a:tcPr marL="128016" marR="128016" marT="54864" marB="54864" anchor="ctr">
                    <a:solidFill>
                      <a:srgbClr val="F8FAFC"/>
                    </a:solidFill>
                  </a:tcPr>
                </a:tc>
                <a:tc>
                  <a:txBody>
                    <a:bodyPr/>
                    <a:lstStyle/>
                    <a:p>
                      <a:pPr algn="l"/>
                      <a:r>
                        <a:rPr sz="1100" b="0" i="0">
                          <a:solidFill>
                            <a:srgbClr val="334155"/>
                          </a:solidFill>
                          <a:latin typeface="Poppins"/>
                        </a:rPr>
                        <a:t>Topology</a:t>
                      </a:r>
                    </a:p>
                  </a:txBody>
                  <a:tcPr marL="128016" marR="128016" marT="54864" marB="54864" anchor="ctr">
                    <a:solidFill>
                      <a:srgbClr val="F8FAFC"/>
                    </a:solidFill>
                  </a:tcPr>
                </a:tc>
                <a:tc>
                  <a:txBody>
                    <a:bodyPr/>
                    <a:lstStyle/>
                    <a:p>
                      <a:pPr algn="l"/>
                      <a:r>
                        <a:rPr sz="1100" b="0" i="0">
                          <a:solidFill>
                            <a:srgbClr val="334155"/>
                          </a:solidFill>
                          <a:latin typeface="Poppins"/>
                        </a:rPr>
                        <a:t>Trimmed Dense-128 / Dense-64 Classification Head</a:t>
                      </a:r>
                    </a:p>
                  </a:txBody>
                  <a:tcPr marL="128016" marR="128016" marT="54864" marB="54864" anchor="ctr">
                    <a:solidFill>
                      <a:srgbClr val="F8FAFC"/>
                    </a:solidFill>
                  </a:tcPr>
                </a:tc>
                <a:tc>
                  <a:txBody>
                    <a:bodyPr/>
                    <a:lstStyle/>
                    <a:p>
                      <a:pPr algn="l"/>
                      <a:r>
                        <a:rPr sz="1100" b="0" i="0">
                          <a:solidFill>
                            <a:srgbClr val="334155"/>
                          </a:solidFill>
                          <a:latin typeface="Poppins"/>
                        </a:rPr>
                        <a:t>77.39%–79.40%</a:t>
                      </a:r>
                    </a:p>
                  </a:txBody>
                  <a:tcPr marL="128016" marR="128016" marT="54864" marB="54864" anchor="ctr">
                    <a:solidFill>
                      <a:srgbClr val="F8FAFC"/>
                    </a:solidFill>
                  </a:tcPr>
                </a:tc>
                <a:tc>
                  <a:txBody>
                    <a:bodyPr/>
                    <a:lstStyle/>
                    <a:p>
                      <a:pPr algn="l"/>
                      <a:r>
                        <a:rPr sz="1100" b="0" i="0">
                          <a:solidFill>
                            <a:srgbClr val="334155"/>
                          </a:solidFill>
                          <a:latin typeface="Poppins"/>
                        </a:rPr>
                        <a:t>9.0–12.3 pp</a:t>
                      </a:r>
                    </a:p>
                  </a:txBody>
                  <a:tcPr marL="128016" marR="128016" marT="54864" marB="54864" anchor="ctr">
                    <a:solidFill>
                      <a:srgbClr val="F8FAFC"/>
                    </a:solidFill>
                  </a:tcPr>
                </a:tc>
                <a:tc>
                  <a:txBody>
                    <a:bodyPr/>
                    <a:lstStyle/>
                    <a:p>
                      <a:pPr algn="l"/>
                      <a:r>
                        <a:rPr sz="1100" b="0" i="0">
                          <a:solidFill>
                            <a:srgbClr val="334155"/>
                          </a:solidFill>
                          <a:latin typeface="Poppins"/>
                        </a:rPr>
                        <a:t>0.77–0.79</a:t>
                      </a:r>
                    </a:p>
                  </a:txBody>
                  <a:tcPr marL="128016" marR="128016" marT="54864" marB="54864" anchor="ctr">
                    <a:solidFill>
                      <a:srgbClr val="F8FAFC"/>
                    </a:solidFill>
                  </a:tcPr>
                </a:tc>
                <a:tc>
                  <a:txBody>
                    <a:bodyPr/>
                    <a:lstStyle/>
                    <a:p>
                      <a:pPr algn="l"/>
                      <a:r>
                        <a:rPr sz="1100" b="0" i="0">
                          <a:solidFill>
                            <a:srgbClr val="334155"/>
                          </a:solidFill>
                          <a:latin typeface="Poppins"/>
                        </a:rPr>
                        <a:t>Under-parameterized classifier bottleneck</a:t>
                      </a:r>
                    </a:p>
                  </a:txBody>
                  <a:tcPr marL="128016" marR="128016" marT="54864" marB="54864" anchor="ctr">
                    <a:solidFill>
                      <a:srgbClr val="F8FAFC"/>
                    </a:solidFill>
                  </a:tcPr>
                </a:tc>
                <a:extLst>
                  <a:ext uri="{0D108BD9-81ED-4DB2-BD59-A6C34878D82A}">
                    <a16:rowId xmlns:a16="http://schemas.microsoft.com/office/drawing/2014/main" val="10006"/>
                  </a:ext>
                </a:extLst>
              </a:tr>
              <a:tr h="411480">
                <a:tc>
                  <a:txBody>
                    <a:bodyPr/>
                    <a:lstStyle/>
                    <a:p>
                      <a:pPr algn="l"/>
                      <a:r>
                        <a:rPr sz="1100" b="1" i="0">
                          <a:solidFill>
                            <a:srgbClr val="0F172A"/>
                          </a:solidFill>
                          <a:latin typeface="Poppins"/>
                        </a:rPr>
                        <a:t>A4</a:t>
                      </a:r>
                    </a:p>
                  </a:txBody>
                  <a:tcPr marL="128016" marR="128016" marT="54864" marB="54864" anchor="ctr">
                    <a:solidFill>
                      <a:srgbClr val="FFFFFF"/>
                    </a:solidFill>
                  </a:tcPr>
                </a:tc>
                <a:tc>
                  <a:txBody>
                    <a:bodyPr/>
                    <a:lstStyle/>
                    <a:p>
                      <a:pPr algn="l"/>
                      <a:r>
                        <a:rPr sz="1100" b="0" i="0">
                          <a:solidFill>
                            <a:srgbClr val="334155"/>
                          </a:solidFill>
                          <a:latin typeface="Poppins"/>
                        </a:rPr>
                        <a:t>Follow-up</a:t>
                      </a:r>
                    </a:p>
                  </a:txBody>
                  <a:tcPr marL="128016" marR="128016" marT="54864" marB="54864" anchor="ctr">
                    <a:solidFill>
                      <a:srgbClr val="FFFFFF"/>
                    </a:solidFill>
                  </a:tcPr>
                </a:tc>
                <a:tc>
                  <a:txBody>
                    <a:bodyPr/>
                    <a:lstStyle/>
                    <a:p>
                      <a:pPr algn="l"/>
                      <a:r>
                        <a:rPr sz="1100" b="0" i="0" dirty="0">
                          <a:solidFill>
                            <a:srgbClr val="334155"/>
                          </a:solidFill>
                          <a:latin typeface="Poppins"/>
                        </a:rPr>
                        <a:t>A1 Configuration + Y-Channel Histogram Equalization</a:t>
                      </a:r>
                    </a:p>
                  </a:txBody>
                  <a:tcPr marL="128016" marR="128016" marT="54864" marB="54864" anchor="ctr">
                    <a:solidFill>
                      <a:srgbClr val="FFFFFF"/>
                    </a:solidFill>
                  </a:tcPr>
                </a:tc>
                <a:tc>
                  <a:txBody>
                    <a:bodyPr/>
                    <a:lstStyle/>
                    <a:p>
                      <a:pPr algn="l"/>
                      <a:r>
                        <a:rPr sz="1100" b="0" i="0">
                          <a:solidFill>
                            <a:srgbClr val="334155"/>
                          </a:solidFill>
                          <a:latin typeface="Poppins"/>
                        </a:rPr>
                        <a:t>84.92%</a:t>
                      </a:r>
                    </a:p>
                  </a:txBody>
                  <a:tcPr marL="128016" marR="128016" marT="54864" marB="54864" anchor="ctr">
                    <a:solidFill>
                      <a:srgbClr val="FFFFFF"/>
                    </a:solidFill>
                  </a:tcPr>
                </a:tc>
                <a:tc>
                  <a:txBody>
                    <a:bodyPr/>
                    <a:lstStyle/>
                    <a:p>
                      <a:pPr algn="l"/>
                      <a:r>
                        <a:rPr sz="1100" b="0" i="0">
                          <a:solidFill>
                            <a:srgbClr val="334155"/>
                          </a:solidFill>
                          <a:latin typeface="Poppins"/>
                        </a:rPr>
                        <a:t>11.94 pp</a:t>
                      </a:r>
                    </a:p>
                  </a:txBody>
                  <a:tcPr marL="128016" marR="128016" marT="54864" marB="54864" anchor="ctr">
                    <a:solidFill>
                      <a:srgbClr val="FFFFFF"/>
                    </a:solidFill>
                  </a:tcPr>
                </a:tc>
                <a:tc>
                  <a:txBody>
                    <a:bodyPr/>
                    <a:lstStyle/>
                    <a:p>
                      <a:pPr algn="l"/>
                      <a:r>
                        <a:rPr sz="1100" b="0" i="0">
                          <a:solidFill>
                            <a:srgbClr val="334155"/>
                          </a:solidFill>
                          <a:latin typeface="Poppins"/>
                        </a:rPr>
                        <a:t>0.8486</a:t>
                      </a:r>
                    </a:p>
                  </a:txBody>
                  <a:tcPr marL="128016" marR="128016" marT="54864" marB="54864" anchor="ctr">
                    <a:solidFill>
                      <a:srgbClr val="FFFFFF"/>
                    </a:solidFill>
                  </a:tcPr>
                </a:tc>
                <a:tc>
                  <a:txBody>
                    <a:bodyPr/>
                    <a:lstStyle/>
                    <a:p>
                      <a:pPr algn="l"/>
                      <a:r>
                        <a:rPr sz="1100" b="0" i="0" dirty="0">
                          <a:solidFill>
                            <a:srgbClr val="334155"/>
                          </a:solidFill>
                          <a:latin typeface="Poppins"/>
                        </a:rPr>
                        <a:t>Best standalone pre-KD student configuration</a:t>
                      </a:r>
                    </a:p>
                  </a:txBody>
                  <a:tcPr marL="128016" marR="128016" marT="54864" marB="54864" anchor="ctr">
                    <a:solidFill>
                      <a:srgbClr val="FFFFFF"/>
                    </a:solidFill>
                  </a:tcPr>
                </a:tc>
                <a:extLst>
                  <a:ext uri="{0D108BD9-81ED-4DB2-BD59-A6C34878D82A}">
                    <a16:rowId xmlns:a16="http://schemas.microsoft.com/office/drawing/2014/main" val="10007"/>
                  </a:ext>
                </a:extLst>
              </a:tr>
            </a:tbl>
          </a:graphicData>
        </a:graphic>
      </p:graphicFrame>
      <p:sp>
        <p:nvSpPr>
          <p:cNvPr id="7" name="Rounded Rectangle 6"/>
          <p:cNvSpPr/>
          <p:nvPr/>
        </p:nvSpPr>
        <p:spPr>
          <a:xfrm>
            <a:off x="914400" y="7909560"/>
            <a:ext cx="16459200" cy="1508760"/>
          </a:xfrm>
          <a:prstGeom prst="roundRect">
            <a:avLst/>
          </a:prstGeom>
          <a:solidFill>
            <a:srgbClr val="182538"/>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square" lIns="256032" tIns="164592" rIns="256032" rtlCol="0" anchor="t"/>
          <a:lstStyle/>
          <a:p>
            <a:pPr algn="ctr"/>
            <a:r>
              <a:rPr sz="1600" b="1" i="0" dirty="0">
                <a:solidFill>
                  <a:srgbClr val="38BDF8"/>
                </a:solidFill>
                <a:latin typeface="Poppins"/>
              </a:rPr>
              <a:t> Critical Empirical Insight</a:t>
            </a:r>
          </a:p>
          <a:p>
            <a:pPr>
              <a:spcBef>
                <a:spcPts val="300"/>
              </a:spcBef>
            </a:pPr>
            <a:r>
              <a:rPr sz="1200" b="0" i="0" dirty="0">
                <a:solidFill>
                  <a:srgbClr val="F1F5F9"/>
                </a:solidFill>
                <a:latin typeface="Poppins"/>
              </a:rPr>
              <a:t>Restrained geometric transformations (A1/A4) significantly outperformed aggressive photometric distortions (A2) because severe contrast and brightness changes washed out fine edge gradients of hairline solar cell cracks. Knowledge Distillation (KD) then lifted student accuracy from 84.92% to 94.92%, exceeding even the Teacher (92.36%).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4286">
              <a:srgbClr val="FFFFFF">
                <a:alpha val="100000"/>
              </a:srgbClr>
            </a:gs>
            <a:gs pos="28571">
              <a:srgbClr val="FFFFFF">
                <a:alpha val="100000"/>
              </a:srgbClr>
            </a:gs>
            <a:gs pos="42857">
              <a:srgbClr val="FFFFFF">
                <a:alpha val="100000"/>
              </a:srgbClr>
            </a:gs>
            <a:gs pos="57143">
              <a:srgbClr val="FFFFFF">
                <a:alpha val="100000"/>
              </a:srgbClr>
            </a:gs>
            <a:gs pos="71429">
              <a:srgbClr val="DAF9FF">
                <a:alpha val="100000"/>
              </a:srgbClr>
            </a:gs>
            <a:gs pos="85714">
              <a:srgbClr val="89EAFE">
                <a:alpha val="100000"/>
              </a:srgbClr>
            </a:gs>
            <a:gs pos="100000">
              <a:srgbClr val="3B97EC">
                <a:alpha val="100000"/>
              </a:srgbClr>
            </a:gs>
          </a:gsLst>
          <a:lin ang="2700000"/>
        </a:gradFill>
        <a:effectLst/>
      </p:bgPr>
    </p:bg>
    <p:spTree>
      <p:nvGrpSpPr>
        <p:cNvPr id="1" name=""/>
        <p:cNvGrpSpPr/>
        <p:nvPr/>
      </p:nvGrpSpPr>
      <p:grpSpPr>
        <a:xfrm>
          <a:off x="0" y="0"/>
          <a:ext cx="0" cy="0"/>
          <a:chOff x="0" y="0"/>
          <a:chExt cx="0" cy="0"/>
        </a:xfrm>
      </p:grpSpPr>
      <p:sp>
        <p:nvSpPr>
          <p:cNvPr id="2" name="TextBox 1"/>
          <p:cNvSpPr txBox="1"/>
          <p:nvPr/>
        </p:nvSpPr>
        <p:spPr>
          <a:xfrm>
            <a:off x="914400" y="475488"/>
            <a:ext cx="16459200" cy="492443"/>
          </a:xfrm>
          <a:prstGeom prst="rect">
            <a:avLst/>
          </a:prstGeom>
          <a:noFill/>
        </p:spPr>
        <p:txBody>
          <a:bodyPr wrap="square" lIns="0" tIns="0" rIns="0" bIns="0">
            <a:spAutoFit/>
          </a:bodyPr>
          <a:lstStyle/>
          <a:p>
            <a:r>
              <a:rPr sz="3200" b="1" i="0">
                <a:solidFill>
                  <a:srgbClr val="0F172A"/>
                </a:solidFill>
                <a:latin typeface="Poppins"/>
              </a:rPr>
              <a:t>Knowledge Distillation Framework &amp; Teacher-Student Optimization</a:t>
            </a:r>
          </a:p>
        </p:txBody>
      </p:sp>
      <p:sp>
        <p:nvSpPr>
          <p:cNvPr id="3" name="Rectangle 2"/>
          <p:cNvSpPr/>
          <p:nvPr/>
        </p:nvSpPr>
        <p:spPr>
          <a:xfrm>
            <a:off x="914400" y="9646920"/>
            <a:ext cx="16459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 name="TextBox 3"/>
          <p:cNvSpPr txBox="1"/>
          <p:nvPr/>
        </p:nvSpPr>
        <p:spPr>
          <a:xfrm>
            <a:off x="914400" y="9738360"/>
            <a:ext cx="12000080" cy="169277"/>
          </a:xfrm>
          <a:prstGeom prst="rect">
            <a:avLst/>
          </a:prstGeom>
          <a:noFill/>
        </p:spPr>
        <p:txBody>
          <a:bodyPr wrap="none" lIns="0" tIns="0" rIns="0" bIns="0">
            <a:spAutoFit/>
          </a:bodyPr>
          <a:lstStyle/>
          <a:p>
            <a:r>
              <a:rPr sz="1100" b="0" i="0">
                <a:solidFill>
                  <a:srgbClr val="64748B"/>
                </a:solidFill>
                <a:latin typeface="Poppins"/>
              </a:rPr>
              <a:t>Project-1 Review-2  |  MNE_PANEL_3  |  Venue: TT-237-A  |  SENSE, VIT Vellore                        Department of Electronics and Communication Engineering                        </a:t>
            </a:r>
            <a:r>
              <a:rPr sz="1100" b="1" i="0">
                <a:solidFill>
                  <a:srgbClr val="0284C7"/>
                </a:solidFill>
                <a:latin typeface="Poppins"/>
              </a:rPr>
              <a:t>Slide 9 of 18</a:t>
            </a:r>
          </a:p>
        </p:txBody>
      </p:sp>
      <p:sp>
        <p:nvSpPr>
          <p:cNvPr id="5" name="Rounded Rectangle 4"/>
          <p:cNvSpPr/>
          <p:nvPr/>
        </p:nvSpPr>
        <p:spPr>
          <a:xfrm>
            <a:off x="914400" y="1325880"/>
            <a:ext cx="7680960" cy="2926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56032" tIns="182880" rIns="256032" rtlCol="0" anchor="t"/>
          <a:lstStyle/>
          <a:p>
            <a:pPr algn="l"/>
            <a:r>
              <a:rPr sz="2400" b="1" i="0" dirty="0">
                <a:solidFill>
                  <a:srgbClr val="0F172A"/>
                </a:solidFill>
                <a:latin typeface="Poppins"/>
              </a:rPr>
              <a:t>Dual-Objective Distillation Formulation</a:t>
            </a:r>
          </a:p>
          <a:p>
            <a:pPr algn="l">
              <a:spcBef>
                <a:spcPts val="500"/>
              </a:spcBef>
            </a:pPr>
            <a:r>
              <a:rPr b="1" i="0" dirty="0" err="1">
                <a:solidFill>
                  <a:srgbClr val="0284C7"/>
                </a:solidFill>
                <a:latin typeface="Calibri"/>
              </a:rPr>
              <a:t>L_total</a:t>
            </a:r>
            <a:r>
              <a:rPr b="1" i="0" dirty="0">
                <a:solidFill>
                  <a:srgbClr val="0284C7"/>
                </a:solidFill>
                <a:latin typeface="Calibri"/>
              </a:rPr>
              <a:t> = (1 - α) · L_CE(y, σ(</a:t>
            </a:r>
            <a:r>
              <a:rPr b="1" i="0" dirty="0" err="1">
                <a:solidFill>
                  <a:srgbClr val="0284C7"/>
                </a:solidFill>
                <a:latin typeface="Calibri"/>
              </a:rPr>
              <a:t>z_s</a:t>
            </a:r>
            <a:r>
              <a:rPr b="1" i="0" dirty="0">
                <a:solidFill>
                  <a:srgbClr val="0284C7"/>
                </a:solidFill>
                <a:latin typeface="Calibri"/>
              </a:rPr>
              <a:t>)) + α · T² · L_KL(σ(</a:t>
            </a:r>
            <a:r>
              <a:rPr b="1" i="0" dirty="0" err="1">
                <a:solidFill>
                  <a:srgbClr val="0284C7"/>
                </a:solidFill>
                <a:latin typeface="Calibri"/>
              </a:rPr>
              <a:t>z_s</a:t>
            </a:r>
            <a:r>
              <a:rPr b="1" i="0" dirty="0">
                <a:solidFill>
                  <a:srgbClr val="0284C7"/>
                </a:solidFill>
                <a:latin typeface="Calibri"/>
              </a:rPr>
              <a:t>/T), σ(</a:t>
            </a:r>
            <a:r>
              <a:rPr b="1" i="0" dirty="0" err="1">
                <a:solidFill>
                  <a:srgbClr val="0284C7"/>
                </a:solidFill>
                <a:latin typeface="Calibri"/>
              </a:rPr>
              <a:t>z_t</a:t>
            </a:r>
            <a:r>
              <a:rPr b="1" i="0" dirty="0">
                <a:solidFill>
                  <a:srgbClr val="0284C7"/>
                </a:solidFill>
                <a:latin typeface="Calibri"/>
              </a:rPr>
              <a:t>/T))</a:t>
            </a:r>
          </a:p>
          <a:p>
            <a:pPr algn="l">
              <a:spcBef>
                <a:spcPts val="350"/>
              </a:spcBef>
            </a:pPr>
            <a:r>
              <a:rPr sz="1600" b="1" i="0" dirty="0">
                <a:solidFill>
                  <a:srgbClr val="0F172A"/>
                </a:solidFill>
                <a:latin typeface="Poppins"/>
              </a:rPr>
              <a:t>• Balance Weight α = 0.60: </a:t>
            </a:r>
            <a:r>
              <a:rPr sz="1400" b="0" i="0" dirty="0">
                <a:solidFill>
                  <a:srgbClr val="334155"/>
                </a:solidFill>
                <a:latin typeface="Poppins"/>
              </a:rPr>
              <a:t>Allocates 60% gradient weight to soft dark knowledge guidance.</a:t>
            </a:r>
          </a:p>
          <a:p>
            <a:pPr algn="l">
              <a:spcBef>
                <a:spcPts val="350"/>
              </a:spcBef>
            </a:pPr>
            <a:r>
              <a:rPr sz="1600" b="1" i="0" dirty="0">
                <a:solidFill>
                  <a:srgbClr val="0F172A"/>
                </a:solidFill>
                <a:latin typeface="Poppins"/>
              </a:rPr>
              <a:t>• Temperature T = 4.0: </a:t>
            </a:r>
            <a:r>
              <a:rPr sz="1400" b="0" i="0" dirty="0">
                <a:solidFill>
                  <a:srgbClr val="334155"/>
                </a:solidFill>
                <a:latin typeface="Poppins"/>
              </a:rPr>
              <a:t>Softens logit distribution to expose cross-class visual correlations (e.g. dust vs shadow).</a:t>
            </a:r>
          </a:p>
          <a:p>
            <a:pPr algn="l">
              <a:spcBef>
                <a:spcPts val="350"/>
              </a:spcBef>
            </a:pPr>
            <a:r>
              <a:rPr sz="1600" b="1" i="0" dirty="0">
                <a:solidFill>
                  <a:srgbClr val="0F172A"/>
                </a:solidFill>
                <a:latin typeface="Poppins"/>
              </a:rPr>
              <a:t>• Training Optimization: </a:t>
            </a:r>
            <a:r>
              <a:rPr sz="1400" b="0" i="0" dirty="0">
                <a:solidFill>
                  <a:srgbClr val="334155"/>
                </a:solidFill>
                <a:latin typeface="Poppins"/>
              </a:rPr>
              <a:t>Trained over 16,151 samples, distilling 18-layer teacher representations into student.</a:t>
            </a:r>
          </a:p>
        </p:txBody>
      </p:sp>
      <p:sp>
        <p:nvSpPr>
          <p:cNvPr id="6" name="Rounded Rectangle 5"/>
          <p:cNvSpPr/>
          <p:nvPr/>
        </p:nvSpPr>
        <p:spPr>
          <a:xfrm>
            <a:off x="914400" y="4434840"/>
            <a:ext cx="2423160" cy="1874519"/>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ctr"/>
            <a:r>
              <a:rPr sz="3200" b="1" i="0">
                <a:solidFill>
                  <a:srgbClr val="0284C7"/>
                </a:solidFill>
                <a:latin typeface="Poppins"/>
              </a:rPr>
              <a:t>5.76×</a:t>
            </a:r>
          </a:p>
          <a:p>
            <a:pPr algn="ctr">
              <a:spcBef>
                <a:spcPts val="300"/>
              </a:spcBef>
            </a:pPr>
            <a:r>
              <a:rPr sz="1400" b="1" i="0">
                <a:solidFill>
                  <a:srgbClr val="0F172A"/>
                </a:solidFill>
                <a:latin typeface="Poppins"/>
              </a:rPr>
              <a:t>Compression</a:t>
            </a:r>
          </a:p>
          <a:p>
            <a:pPr algn="ctr">
              <a:spcBef>
                <a:spcPts val="200"/>
              </a:spcBef>
            </a:pPr>
            <a:r>
              <a:rPr sz="1050" b="0" i="0">
                <a:solidFill>
                  <a:srgbClr val="64748B"/>
                </a:solidFill>
                <a:latin typeface="Poppins"/>
              </a:rPr>
              <a:t>6.29M → 1.09M params</a:t>
            </a:r>
          </a:p>
        </p:txBody>
      </p:sp>
      <p:sp>
        <p:nvSpPr>
          <p:cNvPr id="7" name="Rounded Rectangle 6"/>
          <p:cNvSpPr/>
          <p:nvPr/>
        </p:nvSpPr>
        <p:spPr>
          <a:xfrm>
            <a:off x="3520440" y="4434840"/>
            <a:ext cx="2423160" cy="1874519"/>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ctr"/>
            <a:r>
              <a:rPr sz="3200" b="1" i="0">
                <a:solidFill>
                  <a:srgbClr val="059669"/>
                </a:solidFill>
                <a:latin typeface="Poppins"/>
              </a:rPr>
              <a:t>94.92%</a:t>
            </a:r>
          </a:p>
          <a:p>
            <a:pPr algn="ctr">
              <a:spcBef>
                <a:spcPts val="300"/>
              </a:spcBef>
            </a:pPr>
            <a:r>
              <a:rPr sz="1400" b="1" i="0">
                <a:solidFill>
                  <a:srgbClr val="0F172A"/>
                </a:solidFill>
                <a:latin typeface="Poppins"/>
              </a:rPr>
              <a:t>Val Accuracy</a:t>
            </a:r>
          </a:p>
          <a:p>
            <a:pPr algn="ctr">
              <a:spcBef>
                <a:spcPts val="200"/>
              </a:spcBef>
            </a:pPr>
            <a:r>
              <a:rPr sz="1050" b="0" i="0">
                <a:solidFill>
                  <a:srgbClr val="64748B"/>
                </a:solidFill>
                <a:latin typeface="Poppins"/>
              </a:rPr>
              <a:t>+8.11 pp over baseline</a:t>
            </a:r>
          </a:p>
        </p:txBody>
      </p:sp>
      <p:sp>
        <p:nvSpPr>
          <p:cNvPr id="8" name="Rounded Rectangle 7"/>
          <p:cNvSpPr/>
          <p:nvPr/>
        </p:nvSpPr>
        <p:spPr>
          <a:xfrm>
            <a:off x="6126480" y="4434840"/>
            <a:ext cx="2468880" cy="1874519"/>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ctr"/>
            <a:r>
              <a:rPr sz="3200" b="1" i="0">
                <a:solidFill>
                  <a:srgbClr val="0284C7"/>
                </a:solidFill>
                <a:latin typeface="Poppins"/>
              </a:rPr>
              <a:t>88.54%</a:t>
            </a:r>
          </a:p>
          <a:p>
            <a:pPr algn="ctr">
              <a:spcBef>
                <a:spcPts val="300"/>
              </a:spcBef>
            </a:pPr>
            <a:r>
              <a:rPr sz="1400" b="1" i="0">
                <a:solidFill>
                  <a:srgbClr val="0F172A"/>
                </a:solidFill>
                <a:latin typeface="Poppins"/>
              </a:rPr>
              <a:t>Test Accuracy</a:t>
            </a:r>
          </a:p>
          <a:p>
            <a:pPr algn="ctr">
              <a:spcBef>
                <a:spcPts val="200"/>
              </a:spcBef>
            </a:pPr>
            <a:r>
              <a:rPr sz="1050" b="0" i="0">
                <a:solidFill>
                  <a:srgbClr val="64748B"/>
                </a:solidFill>
                <a:latin typeface="Poppins"/>
              </a:rPr>
              <a:t>+7.30 pp over baseline</a:t>
            </a:r>
          </a:p>
        </p:txBody>
      </p:sp>
      <p:sp>
        <p:nvSpPr>
          <p:cNvPr id="9" name="Rounded Rectangle 8"/>
          <p:cNvSpPr/>
          <p:nvPr/>
        </p:nvSpPr>
        <p:spPr>
          <a:xfrm>
            <a:off x="914400" y="6492240"/>
            <a:ext cx="7680960" cy="2926080"/>
          </a:xfrm>
          <a:prstGeom prst="roundRect">
            <a:avLst/>
          </a:prstGeom>
          <a:solidFill>
            <a:srgbClr val="182538"/>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square" lIns="256032" tIns="201168" rIns="256032" rtlCol="0" anchor="t"/>
          <a:lstStyle/>
          <a:p>
            <a:pPr algn="l"/>
            <a:r>
              <a:rPr sz="1600" b="1" i="0" dirty="0">
                <a:solidFill>
                  <a:srgbClr val="38BDF8"/>
                </a:solidFill>
                <a:latin typeface="Poppins"/>
              </a:rPr>
              <a:t> Target On-Chip Memory Feasibility Analysis</a:t>
            </a:r>
          </a:p>
          <a:p>
            <a:pPr>
              <a:spcBef>
                <a:spcPts val="500"/>
              </a:spcBef>
            </a:pPr>
            <a:r>
              <a:rPr sz="1200" b="0" i="0" dirty="0">
                <a:solidFill>
                  <a:srgbClr val="F1F5F9"/>
                </a:solidFill>
                <a:latin typeface="Poppins"/>
              </a:rPr>
              <a:t>4.16 MB FP32 parameters represent an 82.6% compression over the teacher. On-chip memory feasibility will be evaluated after quantization and FPGA resource analysis. Moving to INT8 (targeting ~1.05 MB) aims to fit within target Artix-7/Zynq on-chip BRAM budgets.</a:t>
            </a:r>
          </a:p>
        </p:txBody>
      </p:sp>
      <p:sp>
        <p:nvSpPr>
          <p:cNvPr id="10" name="Rounded Rectangle 9"/>
          <p:cNvSpPr/>
          <p:nvPr/>
        </p:nvSpPr>
        <p:spPr>
          <a:xfrm>
            <a:off x="8869680" y="1325880"/>
            <a:ext cx="8503920" cy="8092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pic>
        <p:nvPicPr>
          <p:cNvPr id="11" name="Picture 10" descr="image.png"/>
          <p:cNvPicPr>
            <a:picLocks noChangeAspect="1"/>
          </p:cNvPicPr>
          <p:nvPr/>
        </p:nvPicPr>
        <p:blipFill>
          <a:blip r:embed="rId2"/>
          <a:stretch>
            <a:fillRect/>
          </a:stretch>
        </p:blipFill>
        <p:spPr>
          <a:xfrm>
            <a:off x="9144000" y="1508760"/>
            <a:ext cx="7955279" cy="4892040"/>
          </a:xfrm>
          <a:prstGeom prst="rect">
            <a:avLst/>
          </a:prstGeom>
        </p:spPr>
      </p:pic>
      <p:sp>
        <p:nvSpPr>
          <p:cNvPr id="12" name="Rounded Rectangle 11"/>
          <p:cNvSpPr/>
          <p:nvPr/>
        </p:nvSpPr>
        <p:spPr>
          <a:xfrm>
            <a:off x="9052560" y="6583680"/>
            <a:ext cx="8138160" cy="2606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64592" rIns="228600" rtlCol="0" anchor="t"/>
          <a:lstStyle/>
          <a:p>
            <a:pPr algn="ctr"/>
            <a:r>
              <a:rPr b="1" i="0" dirty="0">
                <a:solidFill>
                  <a:srgbClr val="0284C7"/>
                </a:solidFill>
                <a:latin typeface="Poppins"/>
              </a:rPr>
              <a:t>• Empirical Gain: </a:t>
            </a:r>
            <a:r>
              <a:rPr b="0" i="0" dirty="0">
                <a:solidFill>
                  <a:srgbClr val="334155"/>
                </a:solidFill>
                <a:latin typeface="Poppins"/>
              </a:rPr>
              <a:t>Distilled student achieves 94.92% validation accuracy (+2.56 pp above the 92.36% Teacher) due to soft-target regularization. Notable F1 gains achieved on complex defect classes: Bird-drop (+9.4 pp) and Dusty (+8.2 pp).</a:t>
            </a:r>
          </a:p>
        </p:txBody>
      </p:sp>
      <p:pic>
        <p:nvPicPr>
          <p:cNvPr id="14" name="Picture 13">
            <a:extLst>
              <a:ext uri="{FF2B5EF4-FFF2-40B4-BE49-F238E27FC236}">
                <a16:creationId xmlns:a16="http://schemas.microsoft.com/office/drawing/2014/main" id="{F642032D-3D88-EAA4-0128-0199DCC304D7}"/>
              </a:ext>
            </a:extLst>
          </p:cNvPr>
          <p:cNvPicPr>
            <a:picLocks noChangeAspect="1"/>
          </p:cNvPicPr>
          <p:nvPr/>
        </p:nvPicPr>
        <p:blipFill>
          <a:blip r:embed="rId3"/>
          <a:stretch>
            <a:fillRect/>
          </a:stretch>
        </p:blipFill>
        <p:spPr>
          <a:xfrm>
            <a:off x="706700" y="204352"/>
            <a:ext cx="16819299" cy="946085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4286">
              <a:srgbClr val="FFFFFF">
                <a:alpha val="100000"/>
              </a:srgbClr>
            </a:gs>
            <a:gs pos="28571">
              <a:srgbClr val="FFFFFF">
                <a:alpha val="100000"/>
              </a:srgbClr>
            </a:gs>
            <a:gs pos="42857">
              <a:srgbClr val="FFFFFF">
                <a:alpha val="100000"/>
              </a:srgbClr>
            </a:gs>
            <a:gs pos="57143">
              <a:srgbClr val="FFFFFF">
                <a:alpha val="100000"/>
              </a:srgbClr>
            </a:gs>
            <a:gs pos="71429">
              <a:srgbClr val="DAF9FF">
                <a:alpha val="100000"/>
              </a:srgbClr>
            </a:gs>
            <a:gs pos="85714">
              <a:srgbClr val="89EAFE">
                <a:alpha val="100000"/>
              </a:srgbClr>
            </a:gs>
            <a:gs pos="100000">
              <a:srgbClr val="3B97EC">
                <a:alpha val="100000"/>
              </a:srgbClr>
            </a:gs>
          </a:gsLst>
          <a:lin ang="2700000"/>
        </a:gradFill>
        <a:effectLst/>
      </p:bgPr>
    </p:bg>
    <p:spTree>
      <p:nvGrpSpPr>
        <p:cNvPr id="1" name="">
          <a:extLst>
            <a:ext uri="{FF2B5EF4-FFF2-40B4-BE49-F238E27FC236}">
              <a16:creationId xmlns:a16="http://schemas.microsoft.com/office/drawing/2014/main" id="{3F96DFB7-1DC6-A9F8-A449-8F00F026D90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E554554-8E1C-C688-4042-12DEB1C383B5}"/>
              </a:ext>
            </a:extLst>
          </p:cNvPr>
          <p:cNvSpPr txBox="1"/>
          <p:nvPr/>
        </p:nvSpPr>
        <p:spPr>
          <a:xfrm>
            <a:off x="914400" y="475488"/>
            <a:ext cx="16459200" cy="492443"/>
          </a:xfrm>
          <a:prstGeom prst="rect">
            <a:avLst/>
          </a:prstGeom>
          <a:noFill/>
        </p:spPr>
        <p:txBody>
          <a:bodyPr wrap="square" lIns="0" tIns="0" rIns="0" bIns="0">
            <a:spAutoFit/>
          </a:bodyPr>
          <a:lstStyle/>
          <a:p>
            <a:r>
              <a:rPr sz="3200" b="1" i="0">
                <a:solidFill>
                  <a:srgbClr val="0F172A"/>
                </a:solidFill>
                <a:latin typeface="Poppins"/>
              </a:rPr>
              <a:t>Weight Magnitude Distribution &amp; Threshold-Based Zeroing Analysis</a:t>
            </a:r>
          </a:p>
        </p:txBody>
      </p:sp>
      <p:sp>
        <p:nvSpPr>
          <p:cNvPr id="3" name="Rectangle 2">
            <a:extLst>
              <a:ext uri="{FF2B5EF4-FFF2-40B4-BE49-F238E27FC236}">
                <a16:creationId xmlns:a16="http://schemas.microsoft.com/office/drawing/2014/main" id="{6195081A-5C4F-D058-DCD2-AD1D5C9E3882}"/>
              </a:ext>
            </a:extLst>
          </p:cNvPr>
          <p:cNvSpPr/>
          <p:nvPr/>
        </p:nvSpPr>
        <p:spPr>
          <a:xfrm>
            <a:off x="914400" y="9646920"/>
            <a:ext cx="16459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 name="TextBox 3">
            <a:extLst>
              <a:ext uri="{FF2B5EF4-FFF2-40B4-BE49-F238E27FC236}">
                <a16:creationId xmlns:a16="http://schemas.microsoft.com/office/drawing/2014/main" id="{CCA16ECA-B097-973C-10A2-C5503F7E9DDD}"/>
              </a:ext>
            </a:extLst>
          </p:cNvPr>
          <p:cNvSpPr txBox="1"/>
          <p:nvPr/>
        </p:nvSpPr>
        <p:spPr>
          <a:xfrm>
            <a:off x="914400" y="9738360"/>
            <a:ext cx="12057788" cy="169277"/>
          </a:xfrm>
          <a:prstGeom prst="rect">
            <a:avLst/>
          </a:prstGeom>
          <a:noFill/>
        </p:spPr>
        <p:txBody>
          <a:bodyPr wrap="none" lIns="0" tIns="0" rIns="0" bIns="0">
            <a:spAutoFit/>
          </a:bodyPr>
          <a:lstStyle/>
          <a:p>
            <a:r>
              <a:rPr sz="1100" b="0" i="0">
                <a:solidFill>
                  <a:srgbClr val="64748B"/>
                </a:solidFill>
                <a:latin typeface="Poppins"/>
              </a:rPr>
              <a:t>Project-1 Review-2  |  MNE_PANEL_3  |  Venue: TT-237-A  |  SENSE, VIT Vellore                        Department of Electronics and Communication Engineering                        </a:t>
            </a:r>
            <a:r>
              <a:rPr sz="1100" b="1" i="0">
                <a:solidFill>
                  <a:srgbClr val="0284C7"/>
                </a:solidFill>
                <a:latin typeface="Poppins"/>
              </a:rPr>
              <a:t>Slide 10 of 18</a:t>
            </a:r>
          </a:p>
        </p:txBody>
      </p:sp>
      <p:sp>
        <p:nvSpPr>
          <p:cNvPr id="6" name="Rounded Rectangle 5">
            <a:extLst>
              <a:ext uri="{FF2B5EF4-FFF2-40B4-BE49-F238E27FC236}">
                <a16:creationId xmlns:a16="http://schemas.microsoft.com/office/drawing/2014/main" id="{E32029DE-9244-FFDD-00D5-8543D2D013EB}"/>
              </a:ext>
            </a:extLst>
          </p:cNvPr>
          <p:cNvSpPr/>
          <p:nvPr/>
        </p:nvSpPr>
        <p:spPr>
          <a:xfrm>
            <a:off x="928914" y="7975236"/>
            <a:ext cx="2788920" cy="1508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ctr"/>
            <a:r>
              <a:rPr sz="3200" b="1" i="0" dirty="0">
                <a:solidFill>
                  <a:srgbClr val="0284C7"/>
                </a:solidFill>
                <a:latin typeface="Poppins"/>
              </a:rPr>
              <a:t>1,091,188</a:t>
            </a:r>
          </a:p>
          <a:p>
            <a:pPr algn="ctr">
              <a:spcBef>
                <a:spcPts val="300"/>
              </a:spcBef>
            </a:pPr>
            <a:r>
              <a:rPr sz="1400" b="1" i="0" dirty="0">
                <a:solidFill>
                  <a:srgbClr val="0F172A"/>
                </a:solidFill>
                <a:latin typeface="Poppins"/>
              </a:rPr>
              <a:t>Total Parameters</a:t>
            </a:r>
          </a:p>
          <a:p>
            <a:pPr algn="ctr">
              <a:spcBef>
                <a:spcPts val="200"/>
              </a:spcBef>
            </a:pPr>
            <a:r>
              <a:rPr sz="1050" b="0" i="0" dirty="0">
                <a:solidFill>
                  <a:srgbClr val="64748B"/>
                </a:solidFill>
                <a:latin typeface="Poppins"/>
              </a:rPr>
              <a:t>4.16 MB FP32 Size</a:t>
            </a:r>
          </a:p>
        </p:txBody>
      </p:sp>
      <p:sp>
        <p:nvSpPr>
          <p:cNvPr id="8" name="Rounded Rectangle 7">
            <a:extLst>
              <a:ext uri="{FF2B5EF4-FFF2-40B4-BE49-F238E27FC236}">
                <a16:creationId xmlns:a16="http://schemas.microsoft.com/office/drawing/2014/main" id="{A0023ADF-B679-97E7-1D97-A3AAE6020E46}"/>
              </a:ext>
            </a:extLst>
          </p:cNvPr>
          <p:cNvSpPr/>
          <p:nvPr/>
        </p:nvSpPr>
        <p:spPr>
          <a:xfrm>
            <a:off x="4458062" y="8019361"/>
            <a:ext cx="2788920" cy="1508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ctr"/>
            <a:r>
              <a:rPr sz="3200" b="1" i="0" dirty="0">
                <a:solidFill>
                  <a:srgbClr val="059669"/>
                </a:solidFill>
                <a:latin typeface="Poppins"/>
              </a:rPr>
              <a:t>20,086 Zeros</a:t>
            </a:r>
          </a:p>
          <a:p>
            <a:pPr algn="ctr">
              <a:spcBef>
                <a:spcPts val="300"/>
              </a:spcBef>
            </a:pPr>
            <a:r>
              <a:rPr sz="1400" b="1" i="0" dirty="0">
                <a:solidFill>
                  <a:srgbClr val="0F172A"/>
                </a:solidFill>
                <a:latin typeface="Poppins"/>
              </a:rPr>
              <a:t>Induced Sparsity</a:t>
            </a:r>
          </a:p>
          <a:p>
            <a:pPr algn="ctr">
              <a:spcBef>
                <a:spcPts val="200"/>
              </a:spcBef>
            </a:pPr>
            <a:r>
              <a:rPr sz="1050" b="0" i="0" dirty="0">
                <a:solidFill>
                  <a:srgbClr val="64748B"/>
                </a:solidFill>
                <a:latin typeface="Poppins"/>
              </a:rPr>
              <a:t>1.8407% (Within ≤2% Limit)</a:t>
            </a:r>
          </a:p>
        </p:txBody>
      </p:sp>
      <p:sp>
        <p:nvSpPr>
          <p:cNvPr id="9" name="Rounded Rectangle 8">
            <a:extLst>
              <a:ext uri="{FF2B5EF4-FFF2-40B4-BE49-F238E27FC236}">
                <a16:creationId xmlns:a16="http://schemas.microsoft.com/office/drawing/2014/main" id="{4C2E34FC-CC83-6989-8149-44EB2832EE95}"/>
              </a:ext>
            </a:extLst>
          </p:cNvPr>
          <p:cNvSpPr/>
          <p:nvPr/>
        </p:nvSpPr>
        <p:spPr>
          <a:xfrm>
            <a:off x="7987211" y="7964350"/>
            <a:ext cx="2788920" cy="1508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ctr"/>
            <a:r>
              <a:rPr sz="3200" b="1" i="0" dirty="0">
                <a:solidFill>
                  <a:srgbClr val="0284C7"/>
                </a:solidFill>
                <a:latin typeface="Poppins"/>
              </a:rPr>
              <a:t>94.92% / 88.54%</a:t>
            </a:r>
          </a:p>
          <a:p>
            <a:pPr algn="ctr">
              <a:spcBef>
                <a:spcPts val="300"/>
              </a:spcBef>
            </a:pPr>
            <a:r>
              <a:rPr sz="1400" b="1" i="0" dirty="0">
                <a:solidFill>
                  <a:srgbClr val="0F172A"/>
                </a:solidFill>
                <a:latin typeface="Poppins"/>
              </a:rPr>
              <a:t>Val &amp; Test Acc</a:t>
            </a:r>
          </a:p>
          <a:p>
            <a:pPr algn="ctr">
              <a:spcBef>
                <a:spcPts val="200"/>
              </a:spcBef>
            </a:pPr>
            <a:r>
              <a:rPr sz="1050" b="0" i="0" dirty="0">
                <a:solidFill>
                  <a:srgbClr val="64748B"/>
                </a:solidFill>
                <a:latin typeface="Poppins"/>
              </a:rPr>
              <a:t>Δ = +0.00% (0 Changes on Test)</a:t>
            </a:r>
          </a:p>
        </p:txBody>
      </p:sp>
      <p:pic>
        <p:nvPicPr>
          <p:cNvPr id="10" name="Picture 9" descr="image.png">
            <a:extLst>
              <a:ext uri="{FF2B5EF4-FFF2-40B4-BE49-F238E27FC236}">
                <a16:creationId xmlns:a16="http://schemas.microsoft.com/office/drawing/2014/main" id="{D158F55F-91AD-A9F6-7671-18F19288806F}"/>
              </a:ext>
            </a:extLst>
          </p:cNvPr>
          <p:cNvPicPr>
            <a:picLocks noChangeAspect="1"/>
          </p:cNvPicPr>
          <p:nvPr/>
        </p:nvPicPr>
        <p:blipFill>
          <a:blip r:embed="rId2"/>
          <a:stretch>
            <a:fillRect/>
          </a:stretch>
        </p:blipFill>
        <p:spPr>
          <a:xfrm>
            <a:off x="2035378" y="1145532"/>
            <a:ext cx="14217244" cy="6635937"/>
          </a:xfrm>
          <a:prstGeom prst="rect">
            <a:avLst/>
          </a:prstGeom>
        </p:spPr>
      </p:pic>
      <p:sp>
        <p:nvSpPr>
          <p:cNvPr id="11" name="Rounded Rectangle 10">
            <a:extLst>
              <a:ext uri="{FF2B5EF4-FFF2-40B4-BE49-F238E27FC236}">
                <a16:creationId xmlns:a16="http://schemas.microsoft.com/office/drawing/2014/main" id="{B14B3456-59D9-866E-863C-0930DAE07DB1}"/>
              </a:ext>
            </a:extLst>
          </p:cNvPr>
          <p:cNvSpPr/>
          <p:nvPr/>
        </p:nvSpPr>
        <p:spPr>
          <a:xfrm>
            <a:off x="11612880" y="7955279"/>
            <a:ext cx="5760720" cy="1463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Ins="182880" rtlCol="0" anchor="t"/>
          <a:lstStyle/>
          <a:p>
            <a:pPr algn="ctr"/>
            <a:r>
              <a:rPr b="1" i="0" dirty="0">
                <a:solidFill>
                  <a:srgbClr val="0284C7"/>
                </a:solidFill>
                <a:latin typeface="Poppins"/>
              </a:rPr>
              <a:t>• Statistical &amp; Numerical Insights: </a:t>
            </a:r>
            <a:r>
              <a:rPr sz="1400" b="0" i="0" dirty="0">
                <a:solidFill>
                  <a:srgbClr val="334155"/>
                </a:solidFill>
                <a:latin typeface="Poppins"/>
              </a:rPr>
              <a:t>All 20,086 zeroed weights are induced by thresholding (|W| ≤ 10⁻³). Dynamic range spans 1.52×10⁻²⁰ up to 6.42×10³, requiring absolute rather than relative thresholding.</a:t>
            </a:r>
          </a:p>
        </p:txBody>
      </p:sp>
    </p:spTree>
    <p:extLst>
      <p:ext uri="{BB962C8B-B14F-4D97-AF65-F5344CB8AC3E}">
        <p14:creationId xmlns:p14="http://schemas.microsoft.com/office/powerpoint/2010/main" val="7546686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4286">
              <a:srgbClr val="FFFFFF">
                <a:alpha val="100000"/>
              </a:srgbClr>
            </a:gs>
            <a:gs pos="28571">
              <a:srgbClr val="FFFFFF">
                <a:alpha val="100000"/>
              </a:srgbClr>
            </a:gs>
            <a:gs pos="42857">
              <a:srgbClr val="FFFFFF">
                <a:alpha val="100000"/>
              </a:srgbClr>
            </a:gs>
            <a:gs pos="57143">
              <a:srgbClr val="FFFFFF">
                <a:alpha val="100000"/>
              </a:srgbClr>
            </a:gs>
            <a:gs pos="71429">
              <a:srgbClr val="DAF9FF">
                <a:alpha val="100000"/>
              </a:srgbClr>
            </a:gs>
            <a:gs pos="85714">
              <a:srgbClr val="89EAFE">
                <a:alpha val="100000"/>
              </a:srgbClr>
            </a:gs>
            <a:gs pos="100000">
              <a:srgbClr val="3B97EC">
                <a:alpha val="100000"/>
              </a:srgbClr>
            </a:gs>
          </a:gsLst>
          <a:lin ang="2700000"/>
        </a:gradFill>
        <a:effectLst/>
      </p:bgPr>
    </p:bg>
    <p:spTree>
      <p:nvGrpSpPr>
        <p:cNvPr id="1" name=""/>
        <p:cNvGrpSpPr/>
        <p:nvPr/>
      </p:nvGrpSpPr>
      <p:grpSpPr>
        <a:xfrm>
          <a:off x="0" y="0"/>
          <a:ext cx="0" cy="0"/>
          <a:chOff x="0" y="0"/>
          <a:chExt cx="0" cy="0"/>
        </a:xfrm>
      </p:grpSpPr>
      <p:sp>
        <p:nvSpPr>
          <p:cNvPr id="2" name="TextBox 1"/>
          <p:cNvSpPr txBox="1"/>
          <p:nvPr/>
        </p:nvSpPr>
        <p:spPr>
          <a:xfrm>
            <a:off x="914400" y="475488"/>
            <a:ext cx="16459200" cy="492443"/>
          </a:xfrm>
          <a:prstGeom prst="rect">
            <a:avLst/>
          </a:prstGeom>
          <a:noFill/>
        </p:spPr>
        <p:txBody>
          <a:bodyPr wrap="square" lIns="0" tIns="0" rIns="0" bIns="0">
            <a:spAutoFit/>
          </a:bodyPr>
          <a:lstStyle/>
          <a:p>
            <a:r>
              <a:rPr sz="3200" b="1" i="0">
                <a:solidFill>
                  <a:srgbClr val="0F172A"/>
                </a:solidFill>
                <a:latin typeface="Poppins"/>
              </a:rPr>
              <a:t>Weight Magnitude Distribution &amp; Threshold-Based Zeroing Analysis</a:t>
            </a:r>
          </a:p>
        </p:txBody>
      </p:sp>
      <p:sp>
        <p:nvSpPr>
          <p:cNvPr id="3" name="Rectangle 2"/>
          <p:cNvSpPr/>
          <p:nvPr/>
        </p:nvSpPr>
        <p:spPr>
          <a:xfrm>
            <a:off x="914400" y="9646920"/>
            <a:ext cx="16459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 name="TextBox 3"/>
          <p:cNvSpPr txBox="1"/>
          <p:nvPr/>
        </p:nvSpPr>
        <p:spPr>
          <a:xfrm>
            <a:off x="914400" y="9738360"/>
            <a:ext cx="12057788" cy="169277"/>
          </a:xfrm>
          <a:prstGeom prst="rect">
            <a:avLst/>
          </a:prstGeom>
          <a:noFill/>
        </p:spPr>
        <p:txBody>
          <a:bodyPr wrap="none" lIns="0" tIns="0" rIns="0" bIns="0">
            <a:spAutoFit/>
          </a:bodyPr>
          <a:lstStyle/>
          <a:p>
            <a:r>
              <a:rPr sz="1100" b="0" i="0">
                <a:solidFill>
                  <a:srgbClr val="64748B"/>
                </a:solidFill>
                <a:latin typeface="Poppins"/>
              </a:rPr>
              <a:t>Project-1 Review-2  |  MNE_PANEL_3  |  Venue: TT-237-A  |  SENSE, VIT Vellore                        Department of Electronics and Communication Engineering                        </a:t>
            </a:r>
            <a:r>
              <a:rPr sz="1100" b="1" i="0">
                <a:solidFill>
                  <a:srgbClr val="0284C7"/>
                </a:solidFill>
                <a:latin typeface="Poppins"/>
              </a:rPr>
              <a:t>Slide 10 of 18</a:t>
            </a:r>
          </a:p>
        </p:txBody>
      </p:sp>
      <p:graphicFrame>
        <p:nvGraphicFramePr>
          <p:cNvPr id="5" name="Table 4"/>
          <p:cNvGraphicFramePr>
            <a:graphicFrameLocks noGrp="1"/>
          </p:cNvGraphicFramePr>
          <p:nvPr>
            <p:extLst>
              <p:ext uri="{D42A27DB-BD31-4B8C-83A1-F6EECF244321}">
                <p14:modId xmlns:p14="http://schemas.microsoft.com/office/powerpoint/2010/main" val="2357705750"/>
              </p:ext>
            </p:extLst>
          </p:nvPr>
        </p:nvGraphicFramePr>
        <p:xfrm>
          <a:off x="1066800" y="1265017"/>
          <a:ext cx="16154400" cy="8084817"/>
        </p:xfrm>
        <a:graphic>
          <a:graphicData uri="http://schemas.openxmlformats.org/drawingml/2006/table">
            <a:tbl>
              <a:tblPr firstRow="1" bandRow="1">
                <a:tableStyleId>{5C22544A-7EE6-4342-B048-85BDC9FD1C3A}</a:tableStyleId>
              </a:tblPr>
              <a:tblGrid>
                <a:gridCol w="3542632">
                  <a:extLst>
                    <a:ext uri="{9D8B030D-6E8A-4147-A177-3AD203B41FA5}">
                      <a16:colId xmlns:a16="http://schemas.microsoft.com/office/drawing/2014/main" val="20000"/>
                    </a:ext>
                  </a:extLst>
                </a:gridCol>
                <a:gridCol w="1913021">
                  <a:extLst>
                    <a:ext uri="{9D8B030D-6E8A-4147-A177-3AD203B41FA5}">
                      <a16:colId xmlns:a16="http://schemas.microsoft.com/office/drawing/2014/main" val="20001"/>
                    </a:ext>
                  </a:extLst>
                </a:gridCol>
                <a:gridCol w="1771316">
                  <a:extLst>
                    <a:ext uri="{9D8B030D-6E8A-4147-A177-3AD203B41FA5}">
                      <a16:colId xmlns:a16="http://schemas.microsoft.com/office/drawing/2014/main" val="20002"/>
                    </a:ext>
                  </a:extLst>
                </a:gridCol>
                <a:gridCol w="2834105">
                  <a:extLst>
                    <a:ext uri="{9D8B030D-6E8A-4147-A177-3AD203B41FA5}">
                      <a16:colId xmlns:a16="http://schemas.microsoft.com/office/drawing/2014/main" val="20003"/>
                    </a:ext>
                  </a:extLst>
                </a:gridCol>
                <a:gridCol w="6093326">
                  <a:extLst>
                    <a:ext uri="{9D8B030D-6E8A-4147-A177-3AD203B41FA5}">
                      <a16:colId xmlns:a16="http://schemas.microsoft.com/office/drawing/2014/main" val="20004"/>
                    </a:ext>
                  </a:extLst>
                </a:gridCol>
              </a:tblGrid>
              <a:tr h="734983">
                <a:tc>
                  <a:txBody>
                    <a:bodyPr/>
                    <a:lstStyle/>
                    <a:p>
                      <a:pPr algn="l"/>
                      <a:r>
                        <a:rPr sz="1800" b="1" i="0" dirty="0">
                          <a:solidFill>
                            <a:srgbClr val="FFFFFF"/>
                          </a:solidFill>
                          <a:latin typeface="Poppins"/>
                        </a:rPr>
                        <a:t>Magnitude Interval (|W|)</a:t>
                      </a:r>
                    </a:p>
                  </a:txBody>
                  <a:tcPr marL="128016" marR="128016" marT="73152" marB="73152" anchor="ctr">
                    <a:solidFill>
                      <a:srgbClr val="0F172A"/>
                    </a:solidFill>
                  </a:tcPr>
                </a:tc>
                <a:tc>
                  <a:txBody>
                    <a:bodyPr/>
                    <a:lstStyle/>
                    <a:p>
                      <a:pPr algn="l"/>
                      <a:r>
                        <a:rPr sz="1800" b="1" i="0">
                          <a:solidFill>
                            <a:srgbClr val="FFFFFF"/>
                          </a:solidFill>
                          <a:latin typeface="Poppins"/>
                        </a:rPr>
                        <a:t>Weight Count</a:t>
                      </a:r>
                    </a:p>
                  </a:txBody>
                  <a:tcPr marL="128016" marR="128016" marT="73152" marB="73152" anchor="ctr">
                    <a:solidFill>
                      <a:srgbClr val="0F172A"/>
                    </a:solidFill>
                  </a:tcPr>
                </a:tc>
                <a:tc>
                  <a:txBody>
                    <a:bodyPr/>
                    <a:lstStyle/>
                    <a:p>
                      <a:pPr algn="l"/>
                      <a:r>
                        <a:rPr sz="1800" b="1" i="0">
                          <a:solidFill>
                            <a:srgbClr val="FFFFFF"/>
                          </a:solidFill>
                          <a:latin typeface="Poppins"/>
                        </a:rPr>
                        <a:t>% of Model</a:t>
                      </a:r>
                    </a:p>
                  </a:txBody>
                  <a:tcPr marL="128016" marR="128016" marT="73152" marB="73152" anchor="ctr">
                    <a:solidFill>
                      <a:srgbClr val="0F172A"/>
                    </a:solidFill>
                  </a:tcPr>
                </a:tc>
                <a:tc>
                  <a:txBody>
                    <a:bodyPr/>
                    <a:lstStyle/>
                    <a:p>
                      <a:pPr algn="l"/>
                      <a:r>
                        <a:rPr sz="1800" b="1" i="0">
                          <a:solidFill>
                            <a:srgbClr val="FFFFFF"/>
                          </a:solidFill>
                          <a:latin typeface="Poppins"/>
                        </a:rPr>
                        <a:t>Zeroed @ τ = 10⁻³</a:t>
                      </a:r>
                    </a:p>
                  </a:txBody>
                  <a:tcPr marL="128016" marR="128016" marT="73152" marB="73152" anchor="ctr">
                    <a:solidFill>
                      <a:srgbClr val="0F172A"/>
                    </a:solidFill>
                  </a:tcPr>
                </a:tc>
                <a:tc>
                  <a:txBody>
                    <a:bodyPr/>
                    <a:lstStyle/>
                    <a:p>
                      <a:pPr algn="l"/>
                      <a:r>
                        <a:rPr sz="1800" b="1" i="0">
                          <a:solidFill>
                            <a:srgbClr val="FFFFFF"/>
                          </a:solidFill>
                          <a:latin typeface="Poppins"/>
                        </a:rPr>
                        <a:t>Status &amp; Inference Impact</a:t>
                      </a:r>
                    </a:p>
                  </a:txBody>
                  <a:tcPr marL="128016" marR="128016" marT="73152" marB="73152" anchor="ctr">
                    <a:solidFill>
                      <a:srgbClr val="0F172A"/>
                    </a:solidFill>
                  </a:tcPr>
                </a:tc>
                <a:extLst>
                  <a:ext uri="{0D108BD9-81ED-4DB2-BD59-A6C34878D82A}">
                    <a16:rowId xmlns:a16="http://schemas.microsoft.com/office/drawing/2014/main" val="10000"/>
                  </a:ext>
                </a:extLst>
              </a:tr>
              <a:tr h="734983">
                <a:tc>
                  <a:txBody>
                    <a:bodyPr/>
                    <a:lstStyle/>
                    <a:p>
                      <a:pPr algn="l"/>
                      <a:r>
                        <a:rPr sz="1400" b="1" i="0">
                          <a:solidFill>
                            <a:srgbClr val="0F172A"/>
                          </a:solidFill>
                          <a:latin typeface="Poppins"/>
                        </a:rPr>
                        <a:t>Exact 0.0 (Baseline)</a:t>
                      </a:r>
                    </a:p>
                  </a:txBody>
                  <a:tcPr marL="128016" marR="128016" marT="54864" marB="54864" anchor="ctr">
                    <a:solidFill>
                      <a:srgbClr val="FFFFFF"/>
                    </a:solidFill>
                  </a:tcPr>
                </a:tc>
                <a:tc>
                  <a:txBody>
                    <a:bodyPr/>
                    <a:lstStyle/>
                    <a:p>
                      <a:pPr algn="l"/>
                      <a:r>
                        <a:rPr sz="1400" b="0" i="0">
                          <a:solidFill>
                            <a:srgbClr val="334155"/>
                          </a:solidFill>
                          <a:latin typeface="Poppins"/>
                        </a:rPr>
                        <a:t>0</a:t>
                      </a:r>
                    </a:p>
                  </a:txBody>
                  <a:tcPr marL="128016" marR="128016" marT="54864" marB="54864" anchor="ctr">
                    <a:solidFill>
                      <a:srgbClr val="FFFFFF"/>
                    </a:solidFill>
                  </a:tcPr>
                </a:tc>
                <a:tc>
                  <a:txBody>
                    <a:bodyPr/>
                    <a:lstStyle/>
                    <a:p>
                      <a:pPr algn="l"/>
                      <a:r>
                        <a:rPr sz="1400" b="0" i="0">
                          <a:solidFill>
                            <a:srgbClr val="334155"/>
                          </a:solidFill>
                          <a:latin typeface="Poppins"/>
                        </a:rPr>
                        <a:t>0.00%</a:t>
                      </a:r>
                    </a:p>
                  </a:txBody>
                  <a:tcPr marL="128016" marR="128016" marT="54864" marB="54864" anchor="ctr">
                    <a:solidFill>
                      <a:srgbClr val="FFFFFF"/>
                    </a:solidFill>
                  </a:tcPr>
                </a:tc>
                <a:tc>
                  <a:txBody>
                    <a:bodyPr/>
                    <a:lstStyle/>
                    <a:p>
                      <a:pPr algn="l"/>
                      <a:r>
                        <a:rPr sz="1400" b="0" i="0">
                          <a:solidFill>
                            <a:srgbClr val="334155"/>
                          </a:solidFill>
                          <a:latin typeface="Poppins"/>
                        </a:rPr>
                        <a:t>0</a:t>
                      </a:r>
                    </a:p>
                  </a:txBody>
                  <a:tcPr marL="128016" marR="128016" marT="54864" marB="54864" anchor="ctr">
                    <a:solidFill>
                      <a:srgbClr val="FFFFFF"/>
                    </a:solidFill>
                  </a:tcPr>
                </a:tc>
                <a:tc>
                  <a:txBody>
                    <a:bodyPr/>
                    <a:lstStyle/>
                    <a:p>
                      <a:pPr algn="l"/>
                      <a:r>
                        <a:rPr sz="1400" b="0" i="0">
                          <a:solidFill>
                            <a:srgbClr val="334155"/>
                          </a:solidFill>
                          <a:latin typeface="Poppins"/>
                        </a:rPr>
                        <a:t>Pristine trained baseline: 0 exact zeros</a:t>
                      </a:r>
                    </a:p>
                  </a:txBody>
                  <a:tcPr marL="128016" marR="128016" marT="54864" marB="54864" anchor="ctr">
                    <a:solidFill>
                      <a:srgbClr val="FFFFFF"/>
                    </a:solidFill>
                  </a:tcPr>
                </a:tc>
                <a:extLst>
                  <a:ext uri="{0D108BD9-81ED-4DB2-BD59-A6C34878D82A}">
                    <a16:rowId xmlns:a16="http://schemas.microsoft.com/office/drawing/2014/main" val="10001"/>
                  </a:ext>
                </a:extLst>
              </a:tr>
              <a:tr h="734983">
                <a:tc>
                  <a:txBody>
                    <a:bodyPr/>
                    <a:lstStyle/>
                    <a:p>
                      <a:pPr algn="l"/>
                      <a:r>
                        <a:rPr sz="1400" b="1" i="0">
                          <a:solidFill>
                            <a:srgbClr val="0F172A"/>
                          </a:solidFill>
                          <a:latin typeface="Poppins"/>
                        </a:rPr>
                        <a:t>[1.52×10⁻²⁰, 10⁻⁸) Micro-tail</a:t>
                      </a:r>
                    </a:p>
                  </a:txBody>
                  <a:tcPr marL="128016" marR="128016" marT="54864" marB="54864" anchor="ctr">
                    <a:solidFill>
                      <a:srgbClr val="F8FAFC"/>
                    </a:solidFill>
                  </a:tcPr>
                </a:tc>
                <a:tc>
                  <a:txBody>
                    <a:bodyPr/>
                    <a:lstStyle/>
                    <a:p>
                      <a:pPr algn="l"/>
                      <a:r>
                        <a:rPr sz="1400" b="0" i="0">
                          <a:solidFill>
                            <a:srgbClr val="334155"/>
                          </a:solidFill>
                          <a:latin typeface="Poppins"/>
                        </a:rPr>
                        <a:t>7,973</a:t>
                      </a:r>
                    </a:p>
                  </a:txBody>
                  <a:tcPr marL="128016" marR="128016" marT="54864" marB="54864" anchor="ctr">
                    <a:solidFill>
                      <a:srgbClr val="F8FAFC"/>
                    </a:solidFill>
                  </a:tcPr>
                </a:tc>
                <a:tc>
                  <a:txBody>
                    <a:bodyPr/>
                    <a:lstStyle/>
                    <a:p>
                      <a:pPr algn="l"/>
                      <a:r>
                        <a:rPr sz="1400" b="0" i="0">
                          <a:solidFill>
                            <a:srgbClr val="334155"/>
                          </a:solidFill>
                          <a:latin typeface="Poppins"/>
                        </a:rPr>
                        <a:t>0.731%</a:t>
                      </a:r>
                    </a:p>
                  </a:txBody>
                  <a:tcPr marL="128016" marR="128016" marT="54864" marB="54864" anchor="ctr">
                    <a:solidFill>
                      <a:srgbClr val="F8FAFC"/>
                    </a:solidFill>
                  </a:tcPr>
                </a:tc>
                <a:tc>
                  <a:txBody>
                    <a:bodyPr/>
                    <a:lstStyle/>
                    <a:p>
                      <a:pPr algn="l"/>
                      <a:r>
                        <a:rPr sz="1400" b="0" i="0">
                          <a:solidFill>
                            <a:srgbClr val="334155"/>
                          </a:solidFill>
                          <a:latin typeface="Poppins"/>
                        </a:rPr>
                        <a:t>7,973 (100%)</a:t>
                      </a:r>
                    </a:p>
                  </a:txBody>
                  <a:tcPr marL="128016" marR="128016" marT="54864" marB="54864" anchor="ctr">
                    <a:solidFill>
                      <a:srgbClr val="F8FAFC"/>
                    </a:solidFill>
                  </a:tcPr>
                </a:tc>
                <a:tc>
                  <a:txBody>
                    <a:bodyPr/>
                    <a:lstStyle/>
                    <a:p>
                      <a:pPr algn="l"/>
                      <a:r>
                        <a:rPr sz="1400" b="0" i="0">
                          <a:solidFill>
                            <a:srgbClr val="334155"/>
                          </a:solidFill>
                          <a:latin typeface="Poppins"/>
                        </a:rPr>
                        <a:t>Zeroed: 94.92% Val, 0 prediction changes</a:t>
                      </a:r>
                    </a:p>
                  </a:txBody>
                  <a:tcPr marL="128016" marR="128016" marT="54864" marB="54864" anchor="ctr">
                    <a:solidFill>
                      <a:srgbClr val="F8FAFC"/>
                    </a:solidFill>
                  </a:tcPr>
                </a:tc>
                <a:extLst>
                  <a:ext uri="{0D108BD9-81ED-4DB2-BD59-A6C34878D82A}">
                    <a16:rowId xmlns:a16="http://schemas.microsoft.com/office/drawing/2014/main" val="10002"/>
                  </a:ext>
                </a:extLst>
              </a:tr>
              <a:tr h="734983">
                <a:tc>
                  <a:txBody>
                    <a:bodyPr/>
                    <a:lstStyle/>
                    <a:p>
                      <a:pPr algn="l"/>
                      <a:r>
                        <a:rPr sz="1400" b="1" i="0">
                          <a:solidFill>
                            <a:srgbClr val="0F172A"/>
                          </a:solidFill>
                          <a:latin typeface="Poppins"/>
                        </a:rPr>
                        <a:t>[10⁻⁸, 10⁻⁴)</a:t>
                      </a:r>
                    </a:p>
                  </a:txBody>
                  <a:tcPr marL="128016" marR="128016" marT="54864" marB="54864" anchor="ctr">
                    <a:solidFill>
                      <a:srgbClr val="FFFFFF"/>
                    </a:solidFill>
                  </a:tcPr>
                </a:tc>
                <a:tc>
                  <a:txBody>
                    <a:bodyPr/>
                    <a:lstStyle/>
                    <a:p>
                      <a:pPr algn="l"/>
                      <a:r>
                        <a:rPr sz="1400" b="0" i="0">
                          <a:solidFill>
                            <a:srgbClr val="334155"/>
                          </a:solidFill>
                          <a:latin typeface="Poppins"/>
                        </a:rPr>
                        <a:t>1,990</a:t>
                      </a:r>
                    </a:p>
                  </a:txBody>
                  <a:tcPr marL="128016" marR="128016" marT="54864" marB="54864" anchor="ctr">
                    <a:solidFill>
                      <a:srgbClr val="FFFFFF"/>
                    </a:solidFill>
                  </a:tcPr>
                </a:tc>
                <a:tc>
                  <a:txBody>
                    <a:bodyPr/>
                    <a:lstStyle/>
                    <a:p>
                      <a:pPr algn="l"/>
                      <a:r>
                        <a:rPr sz="1400" b="0" i="0">
                          <a:solidFill>
                            <a:srgbClr val="334155"/>
                          </a:solidFill>
                          <a:latin typeface="Poppins"/>
                        </a:rPr>
                        <a:t>0.182%</a:t>
                      </a:r>
                    </a:p>
                  </a:txBody>
                  <a:tcPr marL="128016" marR="128016" marT="54864" marB="54864" anchor="ctr">
                    <a:solidFill>
                      <a:srgbClr val="FFFFFF"/>
                    </a:solidFill>
                  </a:tcPr>
                </a:tc>
                <a:tc>
                  <a:txBody>
                    <a:bodyPr/>
                    <a:lstStyle/>
                    <a:p>
                      <a:pPr algn="l"/>
                      <a:r>
                        <a:rPr sz="1400" b="0" i="0">
                          <a:solidFill>
                            <a:srgbClr val="334155"/>
                          </a:solidFill>
                          <a:latin typeface="Poppins"/>
                        </a:rPr>
                        <a:t>1,990 (100%)</a:t>
                      </a:r>
                    </a:p>
                  </a:txBody>
                  <a:tcPr marL="128016" marR="128016" marT="54864" marB="54864" anchor="ctr">
                    <a:solidFill>
                      <a:srgbClr val="FFFFFF"/>
                    </a:solidFill>
                  </a:tcPr>
                </a:tc>
                <a:tc>
                  <a:txBody>
                    <a:bodyPr/>
                    <a:lstStyle/>
                    <a:p>
                      <a:pPr algn="l"/>
                      <a:r>
                        <a:rPr sz="1400" b="0" i="0">
                          <a:solidFill>
                            <a:srgbClr val="334155"/>
                          </a:solidFill>
                          <a:latin typeface="Poppins"/>
                        </a:rPr>
                        <a:t>Zeroed: 94.92% Val, 0 prediction changes</a:t>
                      </a:r>
                    </a:p>
                  </a:txBody>
                  <a:tcPr marL="128016" marR="128016" marT="54864" marB="54864" anchor="ctr">
                    <a:solidFill>
                      <a:srgbClr val="FFFFFF"/>
                    </a:solidFill>
                  </a:tcPr>
                </a:tc>
                <a:extLst>
                  <a:ext uri="{0D108BD9-81ED-4DB2-BD59-A6C34878D82A}">
                    <a16:rowId xmlns:a16="http://schemas.microsoft.com/office/drawing/2014/main" val="10003"/>
                  </a:ext>
                </a:extLst>
              </a:tr>
              <a:tr h="734983">
                <a:tc>
                  <a:txBody>
                    <a:bodyPr/>
                    <a:lstStyle/>
                    <a:p>
                      <a:pPr algn="l"/>
                      <a:r>
                        <a:rPr sz="1400" b="1" i="0">
                          <a:solidFill>
                            <a:srgbClr val="0F172A"/>
                          </a:solidFill>
                          <a:latin typeface="Poppins"/>
                        </a:rPr>
                        <a:t>[10⁻⁴, 10⁻³]</a:t>
                      </a:r>
                    </a:p>
                  </a:txBody>
                  <a:tcPr marL="128016" marR="128016" marT="54864" marB="54864" anchor="ctr">
                    <a:solidFill>
                      <a:srgbClr val="F8FAFC"/>
                    </a:solidFill>
                  </a:tcPr>
                </a:tc>
                <a:tc>
                  <a:txBody>
                    <a:bodyPr/>
                    <a:lstStyle/>
                    <a:p>
                      <a:pPr algn="l"/>
                      <a:r>
                        <a:rPr sz="1400" b="0" i="0">
                          <a:solidFill>
                            <a:srgbClr val="334155"/>
                          </a:solidFill>
                          <a:latin typeface="Poppins"/>
                        </a:rPr>
                        <a:t>10,123</a:t>
                      </a:r>
                    </a:p>
                  </a:txBody>
                  <a:tcPr marL="128016" marR="128016" marT="54864" marB="54864" anchor="ctr">
                    <a:solidFill>
                      <a:srgbClr val="F8FAFC"/>
                    </a:solidFill>
                  </a:tcPr>
                </a:tc>
                <a:tc>
                  <a:txBody>
                    <a:bodyPr/>
                    <a:lstStyle/>
                    <a:p>
                      <a:pPr algn="l"/>
                      <a:r>
                        <a:rPr sz="1400" b="0" i="0">
                          <a:solidFill>
                            <a:srgbClr val="334155"/>
                          </a:solidFill>
                          <a:latin typeface="Poppins"/>
                        </a:rPr>
                        <a:t>0.928%</a:t>
                      </a:r>
                    </a:p>
                  </a:txBody>
                  <a:tcPr marL="128016" marR="128016" marT="54864" marB="54864" anchor="ctr">
                    <a:solidFill>
                      <a:srgbClr val="F8FAFC"/>
                    </a:solidFill>
                  </a:tcPr>
                </a:tc>
                <a:tc>
                  <a:txBody>
                    <a:bodyPr/>
                    <a:lstStyle/>
                    <a:p>
                      <a:pPr algn="l"/>
                      <a:r>
                        <a:rPr sz="1400" b="0" i="0">
                          <a:solidFill>
                            <a:srgbClr val="334155"/>
                          </a:solidFill>
                          <a:latin typeface="Poppins"/>
                        </a:rPr>
                        <a:t>10,123 (100%)</a:t>
                      </a:r>
                    </a:p>
                  </a:txBody>
                  <a:tcPr marL="128016" marR="128016" marT="54864" marB="54864" anchor="ctr">
                    <a:solidFill>
                      <a:srgbClr val="F8FAFC"/>
                    </a:solidFill>
                  </a:tcPr>
                </a:tc>
                <a:tc>
                  <a:txBody>
                    <a:bodyPr/>
                    <a:lstStyle/>
                    <a:p>
                      <a:pPr algn="l"/>
                      <a:r>
                        <a:rPr sz="1400" b="0" i="0" dirty="0">
                          <a:solidFill>
                            <a:srgbClr val="334155"/>
                          </a:solidFill>
                          <a:latin typeface="Poppins"/>
                        </a:rPr>
                        <a:t>Zeroed: 94.92% Val, 0 prediction changes</a:t>
                      </a:r>
                    </a:p>
                  </a:txBody>
                  <a:tcPr marL="128016" marR="128016" marT="54864" marB="54864" anchor="ctr">
                    <a:solidFill>
                      <a:srgbClr val="F8FAFC"/>
                    </a:solidFill>
                  </a:tcPr>
                </a:tc>
                <a:extLst>
                  <a:ext uri="{0D108BD9-81ED-4DB2-BD59-A6C34878D82A}">
                    <a16:rowId xmlns:a16="http://schemas.microsoft.com/office/drawing/2014/main" val="10004"/>
                  </a:ext>
                </a:extLst>
              </a:tr>
              <a:tr h="734983">
                <a:tc>
                  <a:txBody>
                    <a:bodyPr/>
                    <a:lstStyle/>
                    <a:p>
                      <a:pPr algn="l"/>
                      <a:r>
                        <a:rPr sz="1400" b="1" i="0">
                          <a:solidFill>
                            <a:srgbClr val="0284C7"/>
                          </a:solidFill>
                          <a:latin typeface="Poppins"/>
                        </a:rPr>
                        <a:t>Subtotal Zeroed (≤ 10⁻³)</a:t>
                      </a:r>
                    </a:p>
                  </a:txBody>
                  <a:tcPr marL="128016" marR="128016" marT="54864" marB="54864" anchor="ctr">
                    <a:solidFill>
                      <a:srgbClr val="F1F5F9"/>
                    </a:solidFill>
                  </a:tcPr>
                </a:tc>
                <a:tc>
                  <a:txBody>
                    <a:bodyPr/>
                    <a:lstStyle/>
                    <a:p>
                      <a:pPr algn="l"/>
                      <a:r>
                        <a:rPr sz="1400" b="1" i="0">
                          <a:solidFill>
                            <a:srgbClr val="0F172A"/>
                          </a:solidFill>
                          <a:latin typeface="Poppins"/>
                        </a:rPr>
                        <a:t>20,086</a:t>
                      </a:r>
                    </a:p>
                  </a:txBody>
                  <a:tcPr marL="128016" marR="128016" marT="54864" marB="54864" anchor="ctr">
                    <a:solidFill>
                      <a:srgbClr val="F1F5F9"/>
                    </a:solidFill>
                  </a:tcPr>
                </a:tc>
                <a:tc>
                  <a:txBody>
                    <a:bodyPr/>
                    <a:lstStyle/>
                    <a:p>
                      <a:pPr algn="l"/>
                      <a:r>
                        <a:rPr sz="1400" b="1" i="0">
                          <a:solidFill>
                            <a:srgbClr val="0F172A"/>
                          </a:solidFill>
                          <a:latin typeface="Poppins"/>
                        </a:rPr>
                        <a:t>1.841%</a:t>
                      </a:r>
                    </a:p>
                  </a:txBody>
                  <a:tcPr marL="128016" marR="128016" marT="54864" marB="54864" anchor="ctr">
                    <a:solidFill>
                      <a:srgbClr val="F1F5F9"/>
                    </a:solidFill>
                  </a:tcPr>
                </a:tc>
                <a:tc>
                  <a:txBody>
                    <a:bodyPr/>
                    <a:lstStyle/>
                    <a:p>
                      <a:pPr algn="l"/>
                      <a:r>
                        <a:rPr sz="1400" b="1" i="0">
                          <a:solidFill>
                            <a:srgbClr val="0F172A"/>
                          </a:solidFill>
                          <a:latin typeface="Poppins"/>
                        </a:rPr>
                        <a:t>20,086 (100%)</a:t>
                      </a:r>
                    </a:p>
                  </a:txBody>
                  <a:tcPr marL="128016" marR="128016" marT="54864" marB="54864" anchor="ctr">
                    <a:solidFill>
                      <a:srgbClr val="F1F5F9"/>
                    </a:solidFill>
                  </a:tcPr>
                </a:tc>
                <a:tc>
                  <a:txBody>
                    <a:bodyPr/>
                    <a:lstStyle/>
                    <a:p>
                      <a:pPr algn="l"/>
                      <a:r>
                        <a:rPr sz="1400" b="1" i="0">
                          <a:solidFill>
                            <a:srgbClr val="0F172A"/>
                          </a:solidFill>
                          <a:latin typeface="Poppins"/>
                        </a:rPr>
                        <a:t>SELECTED OPERATING POINT (≤2% Limit)</a:t>
                      </a:r>
                    </a:p>
                  </a:txBody>
                  <a:tcPr marL="128016" marR="128016" marT="54864" marB="54864" anchor="ctr">
                    <a:solidFill>
                      <a:srgbClr val="F1F5F9"/>
                    </a:solidFill>
                  </a:tcPr>
                </a:tc>
                <a:extLst>
                  <a:ext uri="{0D108BD9-81ED-4DB2-BD59-A6C34878D82A}">
                    <a16:rowId xmlns:a16="http://schemas.microsoft.com/office/drawing/2014/main" val="10005"/>
                  </a:ext>
                </a:extLst>
              </a:tr>
              <a:tr h="734983">
                <a:tc>
                  <a:txBody>
                    <a:bodyPr/>
                    <a:lstStyle/>
                    <a:p>
                      <a:pPr algn="l"/>
                      <a:r>
                        <a:rPr sz="1400" b="1" i="0">
                          <a:solidFill>
                            <a:srgbClr val="0F172A"/>
                          </a:solidFill>
                          <a:latin typeface="Poppins"/>
                        </a:rPr>
                        <a:t>(10⁻³, 10⁻²] Search Buffer</a:t>
                      </a:r>
                    </a:p>
                  </a:txBody>
                  <a:tcPr marL="128016" marR="128016" marT="54864" marB="54864" anchor="ctr">
                    <a:solidFill>
                      <a:srgbClr val="F8FAFC"/>
                    </a:solidFill>
                  </a:tcPr>
                </a:tc>
                <a:tc>
                  <a:txBody>
                    <a:bodyPr/>
                    <a:lstStyle/>
                    <a:p>
                      <a:pPr algn="l"/>
                      <a:r>
                        <a:rPr sz="1400" b="0" i="0">
                          <a:solidFill>
                            <a:srgbClr val="334155"/>
                          </a:solidFill>
                          <a:latin typeface="Poppins"/>
                        </a:rPr>
                        <a:t>87,722</a:t>
                      </a:r>
                    </a:p>
                  </a:txBody>
                  <a:tcPr marL="128016" marR="128016" marT="54864" marB="54864" anchor="ctr">
                    <a:solidFill>
                      <a:srgbClr val="F8FAFC"/>
                    </a:solidFill>
                  </a:tcPr>
                </a:tc>
                <a:tc>
                  <a:txBody>
                    <a:bodyPr/>
                    <a:lstStyle/>
                    <a:p>
                      <a:pPr algn="l"/>
                      <a:r>
                        <a:rPr sz="1400" b="0" i="0">
                          <a:solidFill>
                            <a:srgbClr val="334155"/>
                          </a:solidFill>
                          <a:latin typeface="Poppins"/>
                        </a:rPr>
                        <a:t>8.039%</a:t>
                      </a:r>
                    </a:p>
                  </a:txBody>
                  <a:tcPr marL="128016" marR="128016" marT="54864" marB="54864" anchor="ctr">
                    <a:solidFill>
                      <a:srgbClr val="F8FAFC"/>
                    </a:solidFill>
                  </a:tcPr>
                </a:tc>
                <a:tc>
                  <a:txBody>
                    <a:bodyPr/>
                    <a:lstStyle/>
                    <a:p>
                      <a:pPr algn="l"/>
                      <a:r>
                        <a:rPr sz="1400" b="0" i="0">
                          <a:solidFill>
                            <a:srgbClr val="334155"/>
                          </a:solidFill>
                          <a:latin typeface="Poppins"/>
                        </a:rPr>
                        <a:t>0 (Retained)</a:t>
                      </a:r>
                    </a:p>
                  </a:txBody>
                  <a:tcPr marL="128016" marR="128016" marT="54864" marB="54864" anchor="ctr">
                    <a:solidFill>
                      <a:srgbClr val="F8FAFC"/>
                    </a:solidFill>
                  </a:tcPr>
                </a:tc>
                <a:tc>
                  <a:txBody>
                    <a:bodyPr/>
                    <a:lstStyle/>
                    <a:p>
                      <a:pPr algn="l"/>
                      <a:r>
                        <a:rPr sz="1400" b="0" i="0">
                          <a:solidFill>
                            <a:srgbClr val="334155"/>
                          </a:solidFill>
                          <a:latin typeface="Poppins"/>
                        </a:rPr>
                        <a:t>Retained: Buffer to 0.01 (-0.35 pp drop)</a:t>
                      </a:r>
                    </a:p>
                  </a:txBody>
                  <a:tcPr marL="128016" marR="128016" marT="54864" marB="54864" anchor="ctr">
                    <a:solidFill>
                      <a:srgbClr val="F8FAFC"/>
                    </a:solidFill>
                  </a:tcPr>
                </a:tc>
                <a:extLst>
                  <a:ext uri="{0D108BD9-81ED-4DB2-BD59-A6C34878D82A}">
                    <a16:rowId xmlns:a16="http://schemas.microsoft.com/office/drawing/2014/main" val="10006"/>
                  </a:ext>
                </a:extLst>
              </a:tr>
              <a:tr h="734983">
                <a:tc>
                  <a:txBody>
                    <a:bodyPr/>
                    <a:lstStyle/>
                    <a:p>
                      <a:pPr algn="l"/>
                      <a:r>
                        <a:rPr sz="1400" b="1" i="0">
                          <a:solidFill>
                            <a:srgbClr val="0F172A"/>
                          </a:solidFill>
                          <a:latin typeface="Poppins"/>
                        </a:rPr>
                        <a:t>(10⁻², 10⁻¹] Dense Bulk</a:t>
                      </a:r>
                    </a:p>
                  </a:txBody>
                  <a:tcPr marL="128016" marR="128016" marT="54864" marB="54864" anchor="ctr">
                    <a:solidFill>
                      <a:srgbClr val="FFFFFF"/>
                    </a:solidFill>
                  </a:tcPr>
                </a:tc>
                <a:tc>
                  <a:txBody>
                    <a:bodyPr/>
                    <a:lstStyle/>
                    <a:p>
                      <a:pPr algn="l"/>
                      <a:r>
                        <a:rPr sz="1400" b="0" i="0">
                          <a:solidFill>
                            <a:srgbClr val="334155"/>
                          </a:solidFill>
                          <a:latin typeface="Poppins"/>
                        </a:rPr>
                        <a:t>655,127</a:t>
                      </a:r>
                    </a:p>
                  </a:txBody>
                  <a:tcPr marL="128016" marR="128016" marT="54864" marB="54864" anchor="ctr">
                    <a:solidFill>
                      <a:srgbClr val="FFFFFF"/>
                    </a:solidFill>
                  </a:tcPr>
                </a:tc>
                <a:tc>
                  <a:txBody>
                    <a:bodyPr/>
                    <a:lstStyle/>
                    <a:p>
                      <a:pPr algn="l"/>
                      <a:r>
                        <a:rPr sz="1400" b="0" i="0">
                          <a:solidFill>
                            <a:srgbClr val="334155"/>
                          </a:solidFill>
                          <a:latin typeface="Poppins"/>
                        </a:rPr>
                        <a:t>60.038%</a:t>
                      </a:r>
                    </a:p>
                  </a:txBody>
                  <a:tcPr marL="128016" marR="128016" marT="54864" marB="54864" anchor="ctr">
                    <a:solidFill>
                      <a:srgbClr val="FFFFFF"/>
                    </a:solidFill>
                  </a:tcPr>
                </a:tc>
                <a:tc>
                  <a:txBody>
                    <a:bodyPr/>
                    <a:lstStyle/>
                    <a:p>
                      <a:pPr algn="l"/>
                      <a:r>
                        <a:rPr sz="1400" b="0" i="0">
                          <a:solidFill>
                            <a:srgbClr val="334155"/>
                          </a:solidFill>
                          <a:latin typeface="Poppins"/>
                        </a:rPr>
                        <a:t>0 (Retained)</a:t>
                      </a:r>
                    </a:p>
                  </a:txBody>
                  <a:tcPr marL="128016" marR="128016" marT="54864" marB="54864" anchor="ctr">
                    <a:solidFill>
                      <a:srgbClr val="FFFFFF"/>
                    </a:solidFill>
                  </a:tcPr>
                </a:tc>
                <a:tc>
                  <a:txBody>
                    <a:bodyPr/>
                    <a:lstStyle/>
                    <a:p>
                      <a:pPr algn="l"/>
                      <a:r>
                        <a:rPr sz="1400" b="0" i="0" dirty="0">
                          <a:solidFill>
                            <a:srgbClr val="334155"/>
                          </a:solidFill>
                          <a:latin typeface="Poppins"/>
                        </a:rPr>
                        <a:t>Retained: Dense bulk (Cliff zone &gt; 0.016)</a:t>
                      </a:r>
                    </a:p>
                  </a:txBody>
                  <a:tcPr marL="128016" marR="128016" marT="54864" marB="54864" anchor="ctr">
                    <a:solidFill>
                      <a:srgbClr val="FFFFFF"/>
                    </a:solidFill>
                  </a:tcPr>
                </a:tc>
                <a:extLst>
                  <a:ext uri="{0D108BD9-81ED-4DB2-BD59-A6C34878D82A}">
                    <a16:rowId xmlns:a16="http://schemas.microsoft.com/office/drawing/2014/main" val="10007"/>
                  </a:ext>
                </a:extLst>
              </a:tr>
              <a:tr h="734983">
                <a:tc>
                  <a:txBody>
                    <a:bodyPr/>
                    <a:lstStyle/>
                    <a:p>
                      <a:pPr algn="l"/>
                      <a:r>
                        <a:rPr sz="1400" b="1" i="0">
                          <a:solidFill>
                            <a:srgbClr val="0F172A"/>
                          </a:solidFill>
                          <a:latin typeface="Poppins"/>
                        </a:rPr>
                        <a:t>(10⁻¹, 10⁰]</a:t>
                      </a:r>
                    </a:p>
                  </a:txBody>
                  <a:tcPr marL="128016" marR="128016" marT="54864" marB="54864" anchor="ctr">
                    <a:solidFill>
                      <a:srgbClr val="F8FAFC"/>
                    </a:solidFill>
                  </a:tcPr>
                </a:tc>
                <a:tc>
                  <a:txBody>
                    <a:bodyPr/>
                    <a:lstStyle/>
                    <a:p>
                      <a:pPr algn="l"/>
                      <a:r>
                        <a:rPr sz="1400" b="0" i="0">
                          <a:solidFill>
                            <a:srgbClr val="334155"/>
                          </a:solidFill>
                          <a:latin typeface="Poppins"/>
                        </a:rPr>
                        <a:t>304,906</a:t>
                      </a:r>
                    </a:p>
                  </a:txBody>
                  <a:tcPr marL="128016" marR="128016" marT="54864" marB="54864" anchor="ctr">
                    <a:solidFill>
                      <a:srgbClr val="F8FAFC"/>
                    </a:solidFill>
                  </a:tcPr>
                </a:tc>
                <a:tc>
                  <a:txBody>
                    <a:bodyPr/>
                    <a:lstStyle/>
                    <a:p>
                      <a:pPr algn="l"/>
                      <a:r>
                        <a:rPr sz="1400" b="0" i="0">
                          <a:solidFill>
                            <a:srgbClr val="334155"/>
                          </a:solidFill>
                          <a:latin typeface="Poppins"/>
                        </a:rPr>
                        <a:t>27.943%</a:t>
                      </a:r>
                    </a:p>
                  </a:txBody>
                  <a:tcPr marL="128016" marR="128016" marT="54864" marB="54864" anchor="ctr">
                    <a:solidFill>
                      <a:srgbClr val="F8FAFC"/>
                    </a:solidFill>
                  </a:tcPr>
                </a:tc>
                <a:tc>
                  <a:txBody>
                    <a:bodyPr/>
                    <a:lstStyle/>
                    <a:p>
                      <a:pPr algn="l"/>
                      <a:r>
                        <a:rPr sz="1400" b="0" i="0">
                          <a:solidFill>
                            <a:srgbClr val="334155"/>
                          </a:solidFill>
                          <a:latin typeface="Poppins"/>
                        </a:rPr>
                        <a:t>0 (Retained)</a:t>
                      </a:r>
                    </a:p>
                  </a:txBody>
                  <a:tcPr marL="128016" marR="128016" marT="54864" marB="54864" anchor="ctr">
                    <a:solidFill>
                      <a:srgbClr val="F8FAFC"/>
                    </a:solidFill>
                  </a:tcPr>
                </a:tc>
                <a:tc>
                  <a:txBody>
                    <a:bodyPr/>
                    <a:lstStyle/>
                    <a:p>
                      <a:pPr algn="l"/>
                      <a:r>
                        <a:rPr sz="1400" b="0" i="0">
                          <a:solidFill>
                            <a:srgbClr val="334155"/>
                          </a:solidFill>
                          <a:latin typeface="Poppins"/>
                        </a:rPr>
                        <a:t>Retained: Primary feature representations</a:t>
                      </a:r>
                    </a:p>
                  </a:txBody>
                  <a:tcPr marL="128016" marR="128016" marT="54864" marB="54864" anchor="ctr">
                    <a:solidFill>
                      <a:srgbClr val="F8FAFC"/>
                    </a:solidFill>
                  </a:tcPr>
                </a:tc>
                <a:extLst>
                  <a:ext uri="{0D108BD9-81ED-4DB2-BD59-A6C34878D82A}">
                    <a16:rowId xmlns:a16="http://schemas.microsoft.com/office/drawing/2014/main" val="10008"/>
                  </a:ext>
                </a:extLst>
              </a:tr>
              <a:tr h="734983">
                <a:tc>
                  <a:txBody>
                    <a:bodyPr/>
                    <a:lstStyle/>
                    <a:p>
                      <a:pPr algn="l"/>
                      <a:r>
                        <a:rPr sz="1400" b="1" i="0">
                          <a:solidFill>
                            <a:srgbClr val="0F172A"/>
                          </a:solidFill>
                          <a:latin typeface="Poppins"/>
                        </a:rPr>
                        <a:t>(10⁰, 6.42 × 10³]</a:t>
                      </a:r>
                    </a:p>
                  </a:txBody>
                  <a:tcPr marL="128016" marR="128016" marT="54864" marB="54864" anchor="ctr">
                    <a:solidFill>
                      <a:srgbClr val="FFFFFF"/>
                    </a:solidFill>
                  </a:tcPr>
                </a:tc>
                <a:tc>
                  <a:txBody>
                    <a:bodyPr/>
                    <a:lstStyle/>
                    <a:p>
                      <a:pPr algn="l"/>
                      <a:r>
                        <a:rPr sz="1400" b="0" i="0">
                          <a:solidFill>
                            <a:srgbClr val="334155"/>
                          </a:solidFill>
                          <a:latin typeface="Poppins"/>
                        </a:rPr>
                        <a:t>23,347</a:t>
                      </a:r>
                    </a:p>
                  </a:txBody>
                  <a:tcPr marL="128016" marR="128016" marT="54864" marB="54864" anchor="ctr">
                    <a:solidFill>
                      <a:srgbClr val="FFFFFF"/>
                    </a:solidFill>
                  </a:tcPr>
                </a:tc>
                <a:tc>
                  <a:txBody>
                    <a:bodyPr/>
                    <a:lstStyle/>
                    <a:p>
                      <a:pPr algn="l"/>
                      <a:r>
                        <a:rPr sz="1400" b="0" i="0">
                          <a:solidFill>
                            <a:srgbClr val="334155"/>
                          </a:solidFill>
                          <a:latin typeface="Poppins"/>
                        </a:rPr>
                        <a:t>2.139%</a:t>
                      </a:r>
                    </a:p>
                  </a:txBody>
                  <a:tcPr marL="128016" marR="128016" marT="54864" marB="54864" anchor="ctr">
                    <a:solidFill>
                      <a:srgbClr val="FFFFFF"/>
                    </a:solidFill>
                  </a:tcPr>
                </a:tc>
                <a:tc>
                  <a:txBody>
                    <a:bodyPr/>
                    <a:lstStyle/>
                    <a:p>
                      <a:pPr algn="l"/>
                      <a:r>
                        <a:rPr sz="1400" b="0" i="0">
                          <a:solidFill>
                            <a:srgbClr val="334155"/>
                          </a:solidFill>
                          <a:latin typeface="Poppins"/>
                        </a:rPr>
                        <a:t>0 (Retained)</a:t>
                      </a:r>
                    </a:p>
                  </a:txBody>
                  <a:tcPr marL="128016" marR="128016" marT="54864" marB="54864" anchor="ctr">
                    <a:solidFill>
                      <a:srgbClr val="FFFFFF"/>
                    </a:solidFill>
                  </a:tcPr>
                </a:tc>
                <a:tc>
                  <a:txBody>
                    <a:bodyPr/>
                    <a:lstStyle/>
                    <a:p>
                      <a:pPr algn="l"/>
                      <a:r>
                        <a:rPr sz="1400" b="0" i="0" dirty="0">
                          <a:solidFill>
                            <a:srgbClr val="334155"/>
                          </a:solidFill>
                          <a:latin typeface="Poppins"/>
                        </a:rPr>
                        <a:t>Retained: Peak activation kernel weights</a:t>
                      </a:r>
                    </a:p>
                  </a:txBody>
                  <a:tcPr marL="128016" marR="128016" marT="54864" marB="54864" anchor="ctr">
                    <a:solidFill>
                      <a:srgbClr val="FFFFFF"/>
                    </a:solidFill>
                  </a:tcPr>
                </a:tc>
                <a:extLst>
                  <a:ext uri="{0D108BD9-81ED-4DB2-BD59-A6C34878D82A}">
                    <a16:rowId xmlns:a16="http://schemas.microsoft.com/office/drawing/2014/main" val="10009"/>
                  </a:ext>
                </a:extLst>
              </a:tr>
              <a:tr h="734987">
                <a:tc>
                  <a:txBody>
                    <a:bodyPr/>
                    <a:lstStyle/>
                    <a:p>
                      <a:pPr algn="l"/>
                      <a:r>
                        <a:rPr sz="1400" b="1" i="0">
                          <a:solidFill>
                            <a:srgbClr val="0284C7"/>
                          </a:solidFill>
                          <a:latin typeface="Poppins"/>
                        </a:rPr>
                        <a:t>Total Model Weights</a:t>
                      </a:r>
                    </a:p>
                  </a:txBody>
                  <a:tcPr marL="128016" marR="128016" marT="54864" marB="54864" anchor="ctr">
                    <a:solidFill>
                      <a:srgbClr val="F1F5F9"/>
                    </a:solidFill>
                  </a:tcPr>
                </a:tc>
                <a:tc>
                  <a:txBody>
                    <a:bodyPr/>
                    <a:lstStyle/>
                    <a:p>
                      <a:pPr algn="l"/>
                      <a:r>
                        <a:rPr sz="1400" b="1" i="0">
                          <a:solidFill>
                            <a:srgbClr val="0F172A"/>
                          </a:solidFill>
                          <a:latin typeface="Poppins"/>
                        </a:rPr>
                        <a:t>1,091,188</a:t>
                      </a:r>
                    </a:p>
                  </a:txBody>
                  <a:tcPr marL="128016" marR="128016" marT="54864" marB="54864" anchor="ctr">
                    <a:solidFill>
                      <a:srgbClr val="F1F5F9"/>
                    </a:solidFill>
                  </a:tcPr>
                </a:tc>
                <a:tc>
                  <a:txBody>
                    <a:bodyPr/>
                    <a:lstStyle/>
                    <a:p>
                      <a:pPr algn="l"/>
                      <a:r>
                        <a:rPr sz="1400" b="1" i="0">
                          <a:solidFill>
                            <a:srgbClr val="0F172A"/>
                          </a:solidFill>
                          <a:latin typeface="Poppins"/>
                        </a:rPr>
                        <a:t>100.00%</a:t>
                      </a:r>
                    </a:p>
                  </a:txBody>
                  <a:tcPr marL="128016" marR="128016" marT="54864" marB="54864" anchor="ctr">
                    <a:solidFill>
                      <a:srgbClr val="F1F5F9"/>
                    </a:solidFill>
                  </a:tcPr>
                </a:tc>
                <a:tc>
                  <a:txBody>
                    <a:bodyPr/>
                    <a:lstStyle/>
                    <a:p>
                      <a:pPr algn="l"/>
                      <a:r>
                        <a:rPr sz="1400" b="1" i="0">
                          <a:solidFill>
                            <a:srgbClr val="0F172A"/>
                          </a:solidFill>
                          <a:latin typeface="Poppins"/>
                        </a:rPr>
                        <a:t>20,086 (1.84%)</a:t>
                      </a:r>
                    </a:p>
                  </a:txBody>
                  <a:tcPr marL="128016" marR="128016" marT="54864" marB="54864" anchor="ctr">
                    <a:solidFill>
                      <a:srgbClr val="F1F5F9"/>
                    </a:solidFill>
                  </a:tcPr>
                </a:tc>
                <a:tc>
                  <a:txBody>
                    <a:bodyPr/>
                    <a:lstStyle/>
                    <a:p>
                      <a:pPr algn="l"/>
                      <a:r>
                        <a:rPr sz="1400" b="1" i="0" dirty="0">
                          <a:solidFill>
                            <a:srgbClr val="0F172A"/>
                          </a:solidFill>
                          <a:latin typeface="Poppins"/>
                        </a:rPr>
                        <a:t>94.92% Val / 88.54% Test (0 prediction changes on test set)</a:t>
                      </a:r>
                    </a:p>
                  </a:txBody>
                  <a:tcPr marL="128016" marR="128016" marT="54864" marB="54864" anchor="ctr">
                    <a:solidFill>
                      <a:srgbClr val="F1F5F9"/>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475488"/>
            <a:ext cx="16459200" cy="553998"/>
          </a:xfrm>
          <a:prstGeom prst="rect">
            <a:avLst/>
          </a:prstGeom>
          <a:noFill/>
        </p:spPr>
        <p:txBody>
          <a:bodyPr wrap="square" lIns="0" tIns="0" rIns="0" bIns="0">
            <a:spAutoFit/>
          </a:bodyPr>
          <a:lstStyle/>
          <a:p>
            <a:r>
              <a:rPr sz="3600" b="1" i="0">
                <a:solidFill>
                  <a:srgbClr val="0F172A"/>
                </a:solidFill>
                <a:latin typeface="Poppins"/>
              </a:rPr>
              <a:t>Layer-Wise Weight Zeroing Distribution &amp; Hardware MAC Reduction</a:t>
            </a:r>
          </a:p>
        </p:txBody>
      </p:sp>
      <p:sp>
        <p:nvSpPr>
          <p:cNvPr id="3" name="Rectangle 2"/>
          <p:cNvSpPr/>
          <p:nvPr/>
        </p:nvSpPr>
        <p:spPr>
          <a:xfrm>
            <a:off x="914400" y="9646920"/>
            <a:ext cx="16459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 name="TextBox 3"/>
          <p:cNvSpPr txBox="1"/>
          <p:nvPr/>
        </p:nvSpPr>
        <p:spPr>
          <a:xfrm>
            <a:off x="914400" y="9738360"/>
            <a:ext cx="13208744" cy="184666"/>
          </a:xfrm>
          <a:prstGeom prst="rect">
            <a:avLst/>
          </a:prstGeom>
          <a:noFill/>
        </p:spPr>
        <p:txBody>
          <a:bodyPr wrap="none" lIns="0" tIns="0" rIns="0" bIns="0">
            <a:spAutoFit/>
          </a:bodyPr>
          <a:lstStyle/>
          <a:p>
            <a:r>
              <a:rPr sz="1200" b="0" i="0">
                <a:solidFill>
                  <a:srgbClr val="64748B"/>
                </a:solidFill>
                <a:latin typeface="Poppins"/>
              </a:rPr>
              <a:t>Project-1 Review-2  |  MNE_PANEL_3  |  Venue: TT-237-A  |  SENSE, VIT Vellore                        Department of Electronics and Communication Engineering                        </a:t>
            </a:r>
            <a:r>
              <a:rPr sz="1200" b="1" i="0">
                <a:solidFill>
                  <a:srgbClr val="0284C7"/>
                </a:solidFill>
                <a:latin typeface="Poppins"/>
              </a:rPr>
              <a:t>Slide 11 of 18</a:t>
            </a:r>
          </a:p>
        </p:txBody>
      </p:sp>
      <p:graphicFrame>
        <p:nvGraphicFramePr>
          <p:cNvPr id="5" name="Table 4"/>
          <p:cNvGraphicFramePr>
            <a:graphicFrameLocks noGrp="1"/>
          </p:cNvGraphicFramePr>
          <p:nvPr>
            <p:extLst>
              <p:ext uri="{D42A27DB-BD31-4B8C-83A1-F6EECF244321}">
                <p14:modId xmlns:p14="http://schemas.microsoft.com/office/powerpoint/2010/main" val="235054476"/>
              </p:ext>
            </p:extLst>
          </p:nvPr>
        </p:nvGraphicFramePr>
        <p:xfrm>
          <a:off x="914400" y="1325880"/>
          <a:ext cx="16459200" cy="4121452"/>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463040">
                  <a:extLst>
                    <a:ext uri="{9D8B030D-6E8A-4147-A177-3AD203B41FA5}">
                      <a16:colId xmlns:a16="http://schemas.microsoft.com/office/drawing/2014/main" val="20006"/>
                    </a:ext>
                  </a:extLst>
                </a:gridCol>
                <a:gridCol w="1828800">
                  <a:extLst>
                    <a:ext uri="{9D8B030D-6E8A-4147-A177-3AD203B41FA5}">
                      <a16:colId xmlns:a16="http://schemas.microsoft.com/office/drawing/2014/main" val="20007"/>
                    </a:ext>
                  </a:extLst>
                </a:gridCol>
                <a:gridCol w="1920240">
                  <a:extLst>
                    <a:ext uri="{9D8B030D-6E8A-4147-A177-3AD203B41FA5}">
                      <a16:colId xmlns:a16="http://schemas.microsoft.com/office/drawing/2014/main" val="20008"/>
                    </a:ext>
                  </a:extLst>
                </a:gridCol>
              </a:tblGrid>
              <a:tr h="353290">
                <a:tc>
                  <a:txBody>
                    <a:bodyPr/>
                    <a:lstStyle/>
                    <a:p>
                      <a:pPr algn="l"/>
                      <a:r>
                        <a:rPr sz="1200" b="1" i="0">
                          <a:solidFill>
                            <a:srgbClr val="FFFFFF"/>
                          </a:solidFill>
                          <a:latin typeface="Poppins"/>
                        </a:rPr>
                        <a:t>Layer / Architectural Component</a:t>
                      </a:r>
                    </a:p>
                  </a:txBody>
                  <a:tcPr marL="128016" marR="128016" marT="73152" marB="73152" anchor="ctr">
                    <a:solidFill>
                      <a:srgbClr val="0F172A"/>
                    </a:solidFill>
                  </a:tcPr>
                </a:tc>
                <a:tc>
                  <a:txBody>
                    <a:bodyPr/>
                    <a:lstStyle/>
                    <a:p>
                      <a:pPr algn="l"/>
                      <a:r>
                        <a:rPr sz="1200" b="1" i="0">
                          <a:solidFill>
                            <a:srgbClr val="FFFFFF"/>
                          </a:solidFill>
                          <a:latin typeface="Poppins"/>
                        </a:rPr>
                        <a:t>Layer Type &amp; Shape</a:t>
                      </a:r>
                    </a:p>
                  </a:txBody>
                  <a:tcPr marL="128016" marR="128016" marT="73152" marB="73152" anchor="ctr">
                    <a:solidFill>
                      <a:srgbClr val="0F172A"/>
                    </a:solidFill>
                  </a:tcPr>
                </a:tc>
                <a:tc>
                  <a:txBody>
                    <a:bodyPr/>
                    <a:lstStyle/>
                    <a:p>
                      <a:pPr algn="l"/>
                      <a:r>
                        <a:rPr sz="1200" b="1" i="0">
                          <a:solidFill>
                            <a:srgbClr val="FFFFFF"/>
                          </a:solidFill>
                          <a:latin typeface="Poppins"/>
                        </a:rPr>
                        <a:t>Total Params</a:t>
                      </a:r>
                    </a:p>
                  </a:txBody>
                  <a:tcPr marL="128016" marR="128016" marT="73152" marB="73152" anchor="ctr">
                    <a:solidFill>
                      <a:srgbClr val="0F172A"/>
                    </a:solidFill>
                  </a:tcPr>
                </a:tc>
                <a:tc>
                  <a:txBody>
                    <a:bodyPr/>
                    <a:lstStyle/>
                    <a:p>
                      <a:pPr algn="l"/>
                      <a:r>
                        <a:rPr sz="1200" b="1" i="0">
                          <a:solidFill>
                            <a:srgbClr val="FFFFFF"/>
                          </a:solidFill>
                          <a:latin typeface="Poppins"/>
                        </a:rPr>
                        <a:t>Zeroed Params (τ=10⁻³)</a:t>
                      </a:r>
                    </a:p>
                  </a:txBody>
                  <a:tcPr marL="128016" marR="128016" marT="73152" marB="73152" anchor="ctr">
                    <a:solidFill>
                      <a:srgbClr val="0F172A"/>
                    </a:solidFill>
                  </a:tcPr>
                </a:tc>
                <a:tc>
                  <a:txBody>
                    <a:bodyPr/>
                    <a:lstStyle/>
                    <a:p>
                      <a:pPr algn="l"/>
                      <a:r>
                        <a:rPr sz="1200" b="1" i="0">
                          <a:solidFill>
                            <a:srgbClr val="FFFFFF"/>
                          </a:solidFill>
                          <a:latin typeface="Poppins"/>
                        </a:rPr>
                        <a:t>Kernel Weights</a:t>
                      </a:r>
                    </a:p>
                  </a:txBody>
                  <a:tcPr marL="128016" marR="128016" marT="73152" marB="73152" anchor="ctr">
                    <a:solidFill>
                      <a:srgbClr val="0F172A"/>
                    </a:solidFill>
                  </a:tcPr>
                </a:tc>
                <a:tc>
                  <a:txBody>
                    <a:bodyPr/>
                    <a:lstStyle/>
                    <a:p>
                      <a:pPr algn="l"/>
                      <a:r>
                        <a:rPr sz="1200" b="1" i="0">
                          <a:solidFill>
                            <a:srgbClr val="FFFFFF"/>
                          </a:solidFill>
                          <a:latin typeface="Poppins"/>
                        </a:rPr>
                        <a:t>Zeroed Kernel</a:t>
                      </a:r>
                    </a:p>
                  </a:txBody>
                  <a:tcPr marL="128016" marR="128016" marT="73152" marB="73152" anchor="ctr">
                    <a:solidFill>
                      <a:srgbClr val="0F172A"/>
                    </a:solidFill>
                  </a:tcPr>
                </a:tc>
                <a:tc>
                  <a:txBody>
                    <a:bodyPr/>
                    <a:lstStyle/>
                    <a:p>
                      <a:pPr algn="l"/>
                      <a:r>
                        <a:rPr sz="1200" b="1" i="0">
                          <a:solidFill>
                            <a:srgbClr val="FFFFFF"/>
                          </a:solidFill>
                          <a:latin typeface="Poppins"/>
                        </a:rPr>
                        <a:t>Kernel Sparsity (%)</a:t>
                      </a:r>
                    </a:p>
                  </a:txBody>
                  <a:tcPr marL="128016" marR="128016" marT="73152" marB="73152" anchor="ctr">
                    <a:solidFill>
                      <a:srgbClr val="0F172A"/>
                    </a:solidFill>
                  </a:tcPr>
                </a:tc>
                <a:tc>
                  <a:txBody>
                    <a:bodyPr/>
                    <a:lstStyle/>
                    <a:p>
                      <a:pPr algn="l"/>
                      <a:r>
                        <a:rPr sz="1200" b="1" i="0">
                          <a:solidFill>
                            <a:srgbClr val="FFFFFF"/>
                          </a:solidFill>
                          <a:latin typeface="Poppins"/>
                        </a:rPr>
                        <a:t>Theoretical Dense MACs*</a:t>
                      </a:r>
                    </a:p>
                  </a:txBody>
                  <a:tcPr marL="128016" marR="128016" marT="73152" marB="73152" anchor="ctr">
                    <a:solidFill>
                      <a:srgbClr val="0F172A"/>
                    </a:solidFill>
                  </a:tcPr>
                </a:tc>
                <a:tc>
                  <a:txBody>
                    <a:bodyPr/>
                    <a:lstStyle/>
                    <a:p>
                      <a:pPr algn="l"/>
                      <a:r>
                        <a:rPr sz="1200" b="1" i="0">
                          <a:solidFill>
                            <a:srgbClr val="FFFFFF"/>
                          </a:solidFill>
                          <a:latin typeface="Poppins"/>
                        </a:rPr>
                        <a:t>Theoretical Skipped MACs*</a:t>
                      </a:r>
                    </a:p>
                  </a:txBody>
                  <a:tcPr marL="128016" marR="128016" marT="73152" marB="73152" anchor="ctr">
                    <a:solidFill>
                      <a:srgbClr val="0F172A"/>
                    </a:solidFill>
                  </a:tcPr>
                </a:tc>
                <a:extLst>
                  <a:ext uri="{0D108BD9-81ED-4DB2-BD59-A6C34878D82A}">
                    <a16:rowId xmlns:a16="http://schemas.microsoft.com/office/drawing/2014/main" val="10000"/>
                  </a:ext>
                </a:extLst>
              </a:tr>
              <a:tr h="353290">
                <a:tc>
                  <a:txBody>
                    <a:bodyPr/>
                    <a:lstStyle/>
                    <a:p>
                      <a:pPr algn="l"/>
                      <a:r>
                        <a:rPr sz="1050" b="1" i="0">
                          <a:solidFill>
                            <a:srgbClr val="0F172A"/>
                          </a:solidFill>
                          <a:latin typeface="Poppins"/>
                        </a:rPr>
                        <a:t>Stem Conv (conv)</a:t>
                      </a:r>
                    </a:p>
                  </a:txBody>
                  <a:tcPr marL="128016" marR="128016" marT="54864" marB="54864" anchor="ctr">
                    <a:solidFill>
                      <a:srgbClr val="FFFFFF"/>
                    </a:solidFill>
                  </a:tcPr>
                </a:tc>
                <a:tc>
                  <a:txBody>
                    <a:bodyPr/>
                    <a:lstStyle/>
                    <a:p>
                      <a:pPr algn="l"/>
                      <a:r>
                        <a:rPr sz="1050" b="0" i="0">
                          <a:solidFill>
                            <a:srgbClr val="334155"/>
                          </a:solidFill>
                          <a:latin typeface="Poppins"/>
                        </a:rPr>
                        <a:t>Conv2D (3 × 3 × 3 × 16)</a:t>
                      </a:r>
                    </a:p>
                  </a:txBody>
                  <a:tcPr marL="128016" marR="128016" marT="54864" marB="54864" anchor="ctr">
                    <a:solidFill>
                      <a:srgbClr val="FFFFFF"/>
                    </a:solidFill>
                  </a:tcPr>
                </a:tc>
                <a:tc>
                  <a:txBody>
                    <a:bodyPr/>
                    <a:lstStyle/>
                    <a:p>
                      <a:pPr algn="l"/>
                      <a:r>
                        <a:rPr sz="1050" b="0" i="0">
                          <a:solidFill>
                            <a:srgbClr val="334155"/>
                          </a:solidFill>
                          <a:latin typeface="Poppins"/>
                        </a:rPr>
                        <a:t>432</a:t>
                      </a:r>
                    </a:p>
                  </a:txBody>
                  <a:tcPr marL="128016" marR="128016" marT="54864" marB="54864" anchor="ctr">
                    <a:solidFill>
                      <a:srgbClr val="FFFFFF"/>
                    </a:solidFill>
                  </a:tcPr>
                </a:tc>
                <a:tc>
                  <a:txBody>
                    <a:bodyPr/>
                    <a:lstStyle/>
                    <a:p>
                      <a:pPr algn="l"/>
                      <a:r>
                        <a:rPr sz="1050" b="0" i="0">
                          <a:solidFill>
                            <a:srgbClr val="334155"/>
                          </a:solidFill>
                          <a:latin typeface="Poppins"/>
                        </a:rPr>
                        <a:t>8</a:t>
                      </a:r>
                    </a:p>
                  </a:txBody>
                  <a:tcPr marL="128016" marR="128016" marT="54864" marB="54864" anchor="ctr">
                    <a:solidFill>
                      <a:srgbClr val="FFFFFF"/>
                    </a:solidFill>
                  </a:tcPr>
                </a:tc>
                <a:tc>
                  <a:txBody>
                    <a:bodyPr/>
                    <a:lstStyle/>
                    <a:p>
                      <a:pPr algn="l"/>
                      <a:r>
                        <a:rPr sz="1050" b="0" i="0">
                          <a:solidFill>
                            <a:srgbClr val="334155"/>
                          </a:solidFill>
                          <a:latin typeface="Poppins"/>
                        </a:rPr>
                        <a:t>432</a:t>
                      </a:r>
                    </a:p>
                  </a:txBody>
                  <a:tcPr marL="128016" marR="128016" marT="54864" marB="54864" anchor="ctr">
                    <a:solidFill>
                      <a:srgbClr val="FFFFFF"/>
                    </a:solidFill>
                  </a:tcPr>
                </a:tc>
                <a:tc>
                  <a:txBody>
                    <a:bodyPr/>
                    <a:lstStyle/>
                    <a:p>
                      <a:pPr algn="l"/>
                      <a:r>
                        <a:rPr sz="1050" b="0" i="0">
                          <a:solidFill>
                            <a:srgbClr val="334155"/>
                          </a:solidFill>
                          <a:latin typeface="Poppins"/>
                        </a:rPr>
                        <a:t>8</a:t>
                      </a:r>
                    </a:p>
                  </a:txBody>
                  <a:tcPr marL="128016" marR="128016" marT="54864" marB="54864" anchor="ctr">
                    <a:solidFill>
                      <a:srgbClr val="FFFFFF"/>
                    </a:solidFill>
                  </a:tcPr>
                </a:tc>
                <a:tc>
                  <a:txBody>
                    <a:bodyPr/>
                    <a:lstStyle/>
                    <a:p>
                      <a:pPr algn="l"/>
                      <a:r>
                        <a:rPr sz="1050" b="0" i="0">
                          <a:solidFill>
                            <a:srgbClr val="334155"/>
                          </a:solidFill>
                          <a:latin typeface="Poppins"/>
                        </a:rPr>
                        <a:t>1.85%</a:t>
                      </a:r>
                    </a:p>
                  </a:txBody>
                  <a:tcPr marL="128016" marR="128016" marT="54864" marB="54864" anchor="ctr">
                    <a:solidFill>
                      <a:srgbClr val="FFFFFF"/>
                    </a:solidFill>
                  </a:tcPr>
                </a:tc>
                <a:tc>
                  <a:txBody>
                    <a:bodyPr/>
                    <a:lstStyle/>
                    <a:p>
                      <a:pPr algn="l"/>
                      <a:r>
                        <a:rPr sz="1050" b="0" i="0">
                          <a:solidFill>
                            <a:srgbClr val="334155"/>
                          </a:solidFill>
                          <a:latin typeface="Poppins"/>
                        </a:rPr>
                        <a:t>7,077,888</a:t>
                      </a:r>
                    </a:p>
                  </a:txBody>
                  <a:tcPr marL="128016" marR="128016" marT="54864" marB="54864" anchor="ctr">
                    <a:solidFill>
                      <a:srgbClr val="FFFFFF"/>
                    </a:solidFill>
                  </a:tcPr>
                </a:tc>
                <a:tc>
                  <a:txBody>
                    <a:bodyPr/>
                    <a:lstStyle/>
                    <a:p>
                      <a:pPr algn="l"/>
                      <a:r>
                        <a:rPr sz="1050" b="0" i="0">
                          <a:solidFill>
                            <a:srgbClr val="334155"/>
                          </a:solidFill>
                          <a:latin typeface="Poppins"/>
                        </a:rPr>
                        <a:t>131,072 (1.85%)</a:t>
                      </a:r>
                    </a:p>
                  </a:txBody>
                  <a:tcPr marL="128016" marR="128016" marT="54864" marB="54864" anchor="ctr">
                    <a:solidFill>
                      <a:srgbClr val="FFFFFF"/>
                    </a:solidFill>
                  </a:tcPr>
                </a:tc>
                <a:extLst>
                  <a:ext uri="{0D108BD9-81ED-4DB2-BD59-A6C34878D82A}">
                    <a16:rowId xmlns:a16="http://schemas.microsoft.com/office/drawing/2014/main" val="10001"/>
                  </a:ext>
                </a:extLst>
              </a:tr>
              <a:tr h="353290">
                <a:tc>
                  <a:txBody>
                    <a:bodyPr/>
                    <a:lstStyle/>
                    <a:p>
                      <a:pPr algn="l"/>
                      <a:r>
                        <a:rPr sz="1050" b="1" i="0" dirty="0">
                          <a:solidFill>
                            <a:srgbClr val="0F172A"/>
                          </a:solidFill>
                          <a:latin typeface="Poppins"/>
                        </a:rPr>
                        <a:t>Pointwise </a:t>
                      </a:r>
                      <a:r>
                        <a:rPr sz="1050" b="1" i="0" dirty="0" err="1">
                          <a:solidFill>
                            <a:srgbClr val="0F172A"/>
                          </a:solidFill>
                          <a:latin typeface="Poppins"/>
                        </a:rPr>
                        <a:t>Convs</a:t>
                      </a:r>
                      <a:r>
                        <a:rPr sz="1050" b="1" i="0" dirty="0">
                          <a:solidFill>
                            <a:srgbClr val="0F172A"/>
                          </a:solidFill>
                          <a:latin typeface="Poppins"/>
                        </a:rPr>
                        <a:t> (1×1)</a:t>
                      </a:r>
                    </a:p>
                  </a:txBody>
                  <a:tcPr marL="128016" marR="128016" marT="54864" marB="54864" anchor="ctr">
                    <a:solidFill>
                      <a:srgbClr val="F8FAFC"/>
                    </a:solidFill>
                  </a:tcPr>
                </a:tc>
                <a:tc>
                  <a:txBody>
                    <a:bodyPr/>
                    <a:lstStyle/>
                    <a:p>
                      <a:pPr algn="l"/>
                      <a:r>
                        <a:rPr sz="1050" b="0" i="0">
                          <a:solidFill>
                            <a:srgbClr val="334155"/>
                          </a:solidFill>
                          <a:latin typeface="Poppins"/>
                        </a:rPr>
                        <a:t>Conv2D (11 Blocks + conv_1)</a:t>
                      </a:r>
                    </a:p>
                  </a:txBody>
                  <a:tcPr marL="128016" marR="128016" marT="54864" marB="54864" anchor="ctr">
                    <a:solidFill>
                      <a:srgbClr val="F8FAFC"/>
                    </a:solidFill>
                  </a:tcPr>
                </a:tc>
                <a:tc>
                  <a:txBody>
                    <a:bodyPr/>
                    <a:lstStyle/>
                    <a:p>
                      <a:pPr algn="l"/>
                      <a:r>
                        <a:rPr sz="1050" b="0" i="0">
                          <a:solidFill>
                            <a:srgbClr val="334155"/>
                          </a:solidFill>
                          <a:latin typeface="Poppins"/>
                        </a:rPr>
                        <a:t>709,056</a:t>
                      </a:r>
                    </a:p>
                  </a:txBody>
                  <a:tcPr marL="128016" marR="128016" marT="54864" marB="54864" anchor="ctr">
                    <a:solidFill>
                      <a:srgbClr val="F8FAFC"/>
                    </a:solidFill>
                  </a:tcPr>
                </a:tc>
                <a:tc>
                  <a:txBody>
                    <a:bodyPr/>
                    <a:lstStyle/>
                    <a:p>
                      <a:pPr algn="l"/>
                      <a:r>
                        <a:rPr sz="1050" b="0" i="0">
                          <a:solidFill>
                            <a:srgbClr val="334155"/>
                          </a:solidFill>
                          <a:latin typeface="Poppins"/>
                        </a:rPr>
                        <a:t>14,484</a:t>
                      </a:r>
                    </a:p>
                  </a:txBody>
                  <a:tcPr marL="128016" marR="128016" marT="54864" marB="54864" anchor="ctr">
                    <a:solidFill>
                      <a:srgbClr val="F8FAFC"/>
                    </a:solidFill>
                  </a:tcPr>
                </a:tc>
                <a:tc>
                  <a:txBody>
                    <a:bodyPr/>
                    <a:lstStyle/>
                    <a:p>
                      <a:pPr algn="l"/>
                      <a:r>
                        <a:rPr sz="1050" b="0" i="0">
                          <a:solidFill>
                            <a:srgbClr val="334155"/>
                          </a:solidFill>
                          <a:latin typeface="Poppins"/>
                        </a:rPr>
                        <a:t>709,056</a:t>
                      </a:r>
                    </a:p>
                  </a:txBody>
                  <a:tcPr marL="128016" marR="128016" marT="54864" marB="54864" anchor="ctr">
                    <a:solidFill>
                      <a:srgbClr val="F8FAFC"/>
                    </a:solidFill>
                  </a:tcPr>
                </a:tc>
                <a:tc>
                  <a:txBody>
                    <a:bodyPr/>
                    <a:lstStyle/>
                    <a:p>
                      <a:pPr algn="l"/>
                      <a:r>
                        <a:rPr sz="1050" b="0" i="0">
                          <a:solidFill>
                            <a:srgbClr val="334155"/>
                          </a:solidFill>
                          <a:latin typeface="Poppins"/>
                        </a:rPr>
                        <a:t>14,484</a:t>
                      </a:r>
                    </a:p>
                  </a:txBody>
                  <a:tcPr marL="128016" marR="128016" marT="54864" marB="54864" anchor="ctr">
                    <a:solidFill>
                      <a:srgbClr val="F8FAFC"/>
                    </a:solidFill>
                  </a:tcPr>
                </a:tc>
                <a:tc>
                  <a:txBody>
                    <a:bodyPr/>
                    <a:lstStyle/>
                    <a:p>
                      <a:pPr algn="l"/>
                      <a:r>
                        <a:rPr sz="1050" b="0" i="0">
                          <a:solidFill>
                            <a:srgbClr val="334155"/>
                          </a:solidFill>
                          <a:latin typeface="Poppins"/>
                        </a:rPr>
                        <a:t>2.04%</a:t>
                      </a:r>
                    </a:p>
                  </a:txBody>
                  <a:tcPr marL="128016" marR="128016" marT="54864" marB="54864" anchor="ctr">
                    <a:solidFill>
                      <a:srgbClr val="F8FAFC"/>
                    </a:solidFill>
                  </a:tcPr>
                </a:tc>
                <a:tc>
                  <a:txBody>
                    <a:bodyPr/>
                    <a:lstStyle/>
                    <a:p>
                      <a:pPr algn="l"/>
                      <a:r>
                        <a:rPr sz="1050" b="0" i="0">
                          <a:solidFill>
                            <a:srgbClr val="334155"/>
                          </a:solidFill>
                          <a:latin typeface="Poppins"/>
                        </a:rPr>
                        <a:t>46,733,568</a:t>
                      </a:r>
                    </a:p>
                  </a:txBody>
                  <a:tcPr marL="128016" marR="128016" marT="54864" marB="54864" anchor="ctr">
                    <a:solidFill>
                      <a:srgbClr val="F8FAFC"/>
                    </a:solidFill>
                  </a:tcPr>
                </a:tc>
                <a:tc>
                  <a:txBody>
                    <a:bodyPr/>
                    <a:lstStyle/>
                    <a:p>
                      <a:pPr algn="l"/>
                      <a:r>
                        <a:rPr sz="1050" b="0" i="0">
                          <a:solidFill>
                            <a:srgbClr val="334155"/>
                          </a:solidFill>
                          <a:latin typeface="Poppins"/>
                        </a:rPr>
                        <a:t>954,560 (2.04%)</a:t>
                      </a:r>
                    </a:p>
                  </a:txBody>
                  <a:tcPr marL="128016" marR="128016" marT="54864" marB="54864" anchor="ctr">
                    <a:solidFill>
                      <a:srgbClr val="F8FAFC"/>
                    </a:solidFill>
                  </a:tcPr>
                </a:tc>
                <a:extLst>
                  <a:ext uri="{0D108BD9-81ED-4DB2-BD59-A6C34878D82A}">
                    <a16:rowId xmlns:a16="http://schemas.microsoft.com/office/drawing/2014/main" val="10002"/>
                  </a:ext>
                </a:extLst>
              </a:tr>
              <a:tr h="353290">
                <a:tc>
                  <a:txBody>
                    <a:bodyPr/>
                    <a:lstStyle/>
                    <a:p>
                      <a:pPr algn="l"/>
                      <a:r>
                        <a:rPr sz="1050" b="1" i="0">
                          <a:solidFill>
                            <a:srgbClr val="0F172A"/>
                          </a:solidFill>
                          <a:latin typeface="Poppins"/>
                        </a:rPr>
                        <a:t>Depthwise Convs (3×3 / 5×5)</a:t>
                      </a:r>
                    </a:p>
                  </a:txBody>
                  <a:tcPr marL="128016" marR="128016" marT="54864" marB="54864" anchor="ctr">
                    <a:solidFill>
                      <a:srgbClr val="FFFFFF"/>
                    </a:solidFill>
                  </a:tcPr>
                </a:tc>
                <a:tc>
                  <a:txBody>
                    <a:bodyPr/>
                    <a:lstStyle/>
                    <a:p>
                      <a:pPr algn="l"/>
                      <a:r>
                        <a:rPr sz="1050" b="0" i="0">
                          <a:solidFill>
                            <a:srgbClr val="334155"/>
                          </a:solidFill>
                          <a:latin typeface="Poppins"/>
                        </a:rPr>
                        <a:t>DepthwiseConv2D (11 Blocks)</a:t>
                      </a:r>
                    </a:p>
                  </a:txBody>
                  <a:tcPr marL="128016" marR="128016" marT="54864" marB="54864" anchor="ctr">
                    <a:solidFill>
                      <a:srgbClr val="FFFFFF"/>
                    </a:solidFill>
                  </a:tcPr>
                </a:tc>
                <a:tc>
                  <a:txBody>
                    <a:bodyPr/>
                    <a:lstStyle/>
                    <a:p>
                      <a:pPr algn="l"/>
                      <a:r>
                        <a:rPr sz="1050" b="0" i="0">
                          <a:solidFill>
                            <a:srgbClr val="334155"/>
                          </a:solidFill>
                          <a:latin typeface="Poppins"/>
                        </a:rPr>
                        <a:t>173,136</a:t>
                      </a:r>
                    </a:p>
                  </a:txBody>
                  <a:tcPr marL="128016" marR="128016" marT="54864" marB="54864" anchor="ctr">
                    <a:solidFill>
                      <a:srgbClr val="FFFFFF"/>
                    </a:solidFill>
                  </a:tcPr>
                </a:tc>
                <a:tc>
                  <a:txBody>
                    <a:bodyPr/>
                    <a:lstStyle/>
                    <a:p>
                      <a:pPr algn="l"/>
                      <a:r>
                        <a:rPr sz="1050" b="0" i="0">
                          <a:solidFill>
                            <a:srgbClr val="334155"/>
                          </a:solidFill>
                          <a:latin typeface="Poppins"/>
                        </a:rPr>
                        <a:t>3,450</a:t>
                      </a:r>
                    </a:p>
                  </a:txBody>
                  <a:tcPr marL="128016" marR="128016" marT="54864" marB="54864" anchor="ctr">
                    <a:solidFill>
                      <a:srgbClr val="FFFFFF"/>
                    </a:solidFill>
                  </a:tcPr>
                </a:tc>
                <a:tc>
                  <a:txBody>
                    <a:bodyPr/>
                    <a:lstStyle/>
                    <a:p>
                      <a:pPr algn="l"/>
                      <a:r>
                        <a:rPr sz="1050" b="0" i="0">
                          <a:solidFill>
                            <a:srgbClr val="334155"/>
                          </a:solidFill>
                          <a:latin typeface="Poppins"/>
                        </a:rPr>
                        <a:t>173,136</a:t>
                      </a:r>
                    </a:p>
                  </a:txBody>
                  <a:tcPr marL="128016" marR="128016" marT="54864" marB="54864" anchor="ctr">
                    <a:solidFill>
                      <a:srgbClr val="FFFFFF"/>
                    </a:solidFill>
                  </a:tcPr>
                </a:tc>
                <a:tc>
                  <a:txBody>
                    <a:bodyPr/>
                    <a:lstStyle/>
                    <a:p>
                      <a:pPr algn="l"/>
                      <a:r>
                        <a:rPr sz="1050" b="0" i="0">
                          <a:solidFill>
                            <a:srgbClr val="334155"/>
                          </a:solidFill>
                          <a:latin typeface="Poppins"/>
                        </a:rPr>
                        <a:t>3,450</a:t>
                      </a:r>
                    </a:p>
                  </a:txBody>
                  <a:tcPr marL="128016" marR="128016" marT="54864" marB="54864" anchor="ctr">
                    <a:solidFill>
                      <a:srgbClr val="FFFFFF"/>
                    </a:solidFill>
                  </a:tcPr>
                </a:tc>
                <a:tc>
                  <a:txBody>
                    <a:bodyPr/>
                    <a:lstStyle/>
                    <a:p>
                      <a:pPr algn="l"/>
                      <a:r>
                        <a:rPr sz="1050" b="0" i="0">
                          <a:solidFill>
                            <a:srgbClr val="334155"/>
                          </a:solidFill>
                          <a:latin typeface="Poppins"/>
                        </a:rPr>
                        <a:t>1.99%</a:t>
                      </a:r>
                    </a:p>
                  </a:txBody>
                  <a:tcPr marL="128016" marR="128016" marT="54864" marB="54864" anchor="ctr">
                    <a:solidFill>
                      <a:srgbClr val="FFFFFF"/>
                    </a:solidFill>
                  </a:tcPr>
                </a:tc>
                <a:tc>
                  <a:txBody>
                    <a:bodyPr/>
                    <a:lstStyle/>
                    <a:p>
                      <a:pPr algn="l"/>
                      <a:r>
                        <a:rPr sz="1050" b="0" i="0">
                          <a:solidFill>
                            <a:srgbClr val="334155"/>
                          </a:solidFill>
                          <a:latin typeface="Poppins"/>
                        </a:rPr>
                        <a:t>2,340,096</a:t>
                      </a:r>
                    </a:p>
                  </a:txBody>
                  <a:tcPr marL="128016" marR="128016" marT="54864" marB="54864" anchor="ctr">
                    <a:solidFill>
                      <a:srgbClr val="FFFFFF"/>
                    </a:solidFill>
                  </a:tcPr>
                </a:tc>
                <a:tc>
                  <a:txBody>
                    <a:bodyPr/>
                    <a:lstStyle/>
                    <a:p>
                      <a:pPr algn="l"/>
                      <a:r>
                        <a:rPr sz="1050" b="0" i="0">
                          <a:solidFill>
                            <a:srgbClr val="334155"/>
                          </a:solidFill>
                          <a:latin typeface="Poppins"/>
                        </a:rPr>
                        <a:t>46,832 (1.99%)</a:t>
                      </a:r>
                    </a:p>
                  </a:txBody>
                  <a:tcPr marL="128016" marR="128016" marT="54864" marB="54864" anchor="ctr">
                    <a:solidFill>
                      <a:srgbClr val="FFFFFF"/>
                    </a:solidFill>
                  </a:tcPr>
                </a:tc>
                <a:extLst>
                  <a:ext uri="{0D108BD9-81ED-4DB2-BD59-A6C34878D82A}">
                    <a16:rowId xmlns:a16="http://schemas.microsoft.com/office/drawing/2014/main" val="10003"/>
                  </a:ext>
                </a:extLst>
              </a:tr>
              <a:tr h="353290">
                <a:tc>
                  <a:txBody>
                    <a:bodyPr/>
                    <a:lstStyle/>
                    <a:p>
                      <a:pPr algn="l"/>
                      <a:r>
                        <a:rPr sz="1050" b="1" i="0">
                          <a:solidFill>
                            <a:srgbClr val="0F172A"/>
                          </a:solidFill>
                          <a:latin typeface="Poppins"/>
                        </a:rPr>
                        <a:t>Backbone Internal BatchNorm</a:t>
                      </a:r>
                    </a:p>
                  </a:txBody>
                  <a:tcPr marL="128016" marR="128016" marT="54864" marB="54864" anchor="ctr">
                    <a:solidFill>
                      <a:srgbClr val="F8FAFC"/>
                    </a:solidFill>
                  </a:tcPr>
                </a:tc>
                <a:tc>
                  <a:txBody>
                    <a:bodyPr/>
                    <a:lstStyle/>
                    <a:p>
                      <a:pPr algn="l"/>
                      <a:r>
                        <a:rPr sz="1050" b="0" i="0">
                          <a:solidFill>
                            <a:srgbClr val="334155"/>
                          </a:solidFill>
                          <a:latin typeface="Poppins"/>
                        </a:rPr>
                        <a:t>BatchNorm (11 Blocks)</a:t>
                      </a:r>
                    </a:p>
                  </a:txBody>
                  <a:tcPr marL="128016" marR="128016" marT="54864" marB="54864" anchor="ctr">
                    <a:solidFill>
                      <a:srgbClr val="F8FAFC"/>
                    </a:solidFill>
                  </a:tcPr>
                </a:tc>
                <a:tc>
                  <a:txBody>
                    <a:bodyPr/>
                    <a:lstStyle/>
                    <a:p>
                      <a:pPr algn="l"/>
                      <a:r>
                        <a:rPr sz="1050" b="0" i="0">
                          <a:solidFill>
                            <a:srgbClr val="334155"/>
                          </a:solidFill>
                          <a:latin typeface="Poppins"/>
                        </a:rPr>
                        <a:t>56,496</a:t>
                      </a:r>
                    </a:p>
                  </a:txBody>
                  <a:tcPr marL="128016" marR="128016" marT="54864" marB="54864" anchor="ctr">
                    <a:solidFill>
                      <a:srgbClr val="F8FAFC"/>
                    </a:solidFill>
                  </a:tcPr>
                </a:tc>
                <a:tc>
                  <a:txBody>
                    <a:bodyPr/>
                    <a:lstStyle/>
                    <a:p>
                      <a:pPr algn="l"/>
                      <a:r>
                        <a:rPr sz="1050" b="0" i="0">
                          <a:solidFill>
                            <a:srgbClr val="334155"/>
                          </a:solidFill>
                          <a:latin typeface="Poppins"/>
                        </a:rPr>
                        <a:t>323</a:t>
                      </a:r>
                    </a:p>
                  </a:txBody>
                  <a:tcPr marL="128016" marR="128016" marT="54864" marB="54864" anchor="ctr">
                    <a:solidFill>
                      <a:srgbClr val="F8FAFC"/>
                    </a:solidFill>
                  </a:tcPr>
                </a:tc>
                <a:tc>
                  <a:txBody>
                    <a:bodyPr/>
                    <a:lstStyle/>
                    <a:p>
                      <a:pPr algn="l"/>
                      <a:r>
                        <a:rPr sz="1050" b="0" i="0">
                          <a:solidFill>
                            <a:srgbClr val="334155"/>
                          </a:solidFill>
                          <a:latin typeface="Poppins"/>
                        </a:rPr>
                        <a:t>— [Non-MAC]</a:t>
                      </a:r>
                    </a:p>
                  </a:txBody>
                  <a:tcPr marL="128016" marR="128016" marT="54864" marB="54864" anchor="ctr">
                    <a:solidFill>
                      <a:srgbClr val="F8FAFC"/>
                    </a:solidFill>
                  </a:tcPr>
                </a:tc>
                <a:tc>
                  <a:txBody>
                    <a:bodyPr/>
                    <a:lstStyle/>
                    <a:p>
                      <a:pPr algn="l"/>
                      <a:r>
                        <a:rPr sz="1050" b="0" i="0">
                          <a:solidFill>
                            <a:srgbClr val="334155"/>
                          </a:solidFill>
                          <a:latin typeface="Poppins"/>
                        </a:rPr>
                        <a:t>—</a:t>
                      </a:r>
                    </a:p>
                  </a:txBody>
                  <a:tcPr marL="128016" marR="128016" marT="54864" marB="54864" anchor="ctr">
                    <a:solidFill>
                      <a:srgbClr val="F8FAFC"/>
                    </a:solidFill>
                  </a:tcPr>
                </a:tc>
                <a:tc>
                  <a:txBody>
                    <a:bodyPr/>
                    <a:lstStyle/>
                    <a:p>
                      <a:pPr algn="l"/>
                      <a:r>
                        <a:rPr sz="1050" b="0" i="0">
                          <a:solidFill>
                            <a:srgbClr val="334155"/>
                          </a:solidFill>
                          <a:latin typeface="Poppins"/>
                        </a:rPr>
                        <a:t>—</a:t>
                      </a:r>
                    </a:p>
                  </a:txBody>
                  <a:tcPr marL="128016" marR="128016" marT="54864" marB="54864" anchor="ctr">
                    <a:solidFill>
                      <a:srgbClr val="F8FAFC"/>
                    </a:solidFill>
                  </a:tcPr>
                </a:tc>
                <a:tc>
                  <a:txBody>
                    <a:bodyPr/>
                    <a:lstStyle/>
                    <a:p>
                      <a:pPr algn="l"/>
                      <a:r>
                        <a:rPr sz="1050" b="0" i="0">
                          <a:solidFill>
                            <a:srgbClr val="334155"/>
                          </a:solidFill>
                          <a:latin typeface="Poppins"/>
                        </a:rPr>
                        <a:t>—</a:t>
                      </a:r>
                    </a:p>
                  </a:txBody>
                  <a:tcPr marL="128016" marR="128016" marT="54864" marB="54864" anchor="ctr">
                    <a:solidFill>
                      <a:srgbClr val="F8FAFC"/>
                    </a:solidFill>
                  </a:tcPr>
                </a:tc>
                <a:tc>
                  <a:txBody>
                    <a:bodyPr/>
                    <a:lstStyle/>
                    <a:p>
                      <a:pPr algn="l"/>
                      <a:r>
                        <a:rPr sz="1050" b="0" i="0">
                          <a:solidFill>
                            <a:srgbClr val="334155"/>
                          </a:solidFill>
                          <a:latin typeface="Poppins"/>
                        </a:rPr>
                        <a:t>—</a:t>
                      </a:r>
                    </a:p>
                  </a:txBody>
                  <a:tcPr marL="128016" marR="128016" marT="54864" marB="54864" anchor="ctr">
                    <a:solidFill>
                      <a:srgbClr val="F8FAFC"/>
                    </a:solidFill>
                  </a:tcPr>
                </a:tc>
                <a:extLst>
                  <a:ext uri="{0D108BD9-81ED-4DB2-BD59-A6C34878D82A}">
                    <a16:rowId xmlns:a16="http://schemas.microsoft.com/office/drawing/2014/main" val="10004"/>
                  </a:ext>
                </a:extLst>
              </a:tr>
              <a:tr h="353290">
                <a:tc>
                  <a:txBody>
                    <a:bodyPr/>
                    <a:lstStyle/>
                    <a:p>
                      <a:pPr algn="l"/>
                      <a:r>
                        <a:rPr sz="1050" b="1" i="0">
                          <a:solidFill>
                            <a:srgbClr val="0284C7"/>
                          </a:solidFill>
                          <a:latin typeface="Poppins"/>
                        </a:rPr>
                        <a:t>MobileNetV3 Backbone Subtotal</a:t>
                      </a:r>
                    </a:p>
                  </a:txBody>
                  <a:tcPr marL="128016" marR="128016" marT="54864" marB="54864" anchor="ctr">
                    <a:solidFill>
                      <a:srgbClr val="F1F5F9"/>
                    </a:solidFill>
                  </a:tcPr>
                </a:tc>
                <a:tc>
                  <a:txBody>
                    <a:bodyPr/>
                    <a:lstStyle/>
                    <a:p>
                      <a:pPr algn="l"/>
                      <a:r>
                        <a:rPr sz="1050" b="1" i="0">
                          <a:solidFill>
                            <a:srgbClr val="0F172A"/>
                          </a:solidFill>
                          <a:latin typeface="Poppins"/>
                        </a:rPr>
                        <a:t>Functional Container (All Blocks)</a:t>
                      </a:r>
                    </a:p>
                  </a:txBody>
                  <a:tcPr marL="128016" marR="128016" marT="54864" marB="54864" anchor="ctr">
                    <a:solidFill>
                      <a:srgbClr val="F1F5F9"/>
                    </a:solidFill>
                  </a:tcPr>
                </a:tc>
                <a:tc>
                  <a:txBody>
                    <a:bodyPr/>
                    <a:lstStyle/>
                    <a:p>
                      <a:pPr algn="l"/>
                      <a:r>
                        <a:rPr sz="1050" b="1" i="0">
                          <a:solidFill>
                            <a:srgbClr val="0F172A"/>
                          </a:solidFill>
                          <a:latin typeface="Poppins"/>
                        </a:rPr>
                        <a:t>939,120</a:t>
                      </a:r>
                    </a:p>
                  </a:txBody>
                  <a:tcPr marL="128016" marR="128016" marT="54864" marB="54864" anchor="ctr">
                    <a:solidFill>
                      <a:srgbClr val="F1F5F9"/>
                    </a:solidFill>
                  </a:tcPr>
                </a:tc>
                <a:tc>
                  <a:txBody>
                    <a:bodyPr/>
                    <a:lstStyle/>
                    <a:p>
                      <a:pPr algn="l"/>
                      <a:r>
                        <a:rPr sz="1050" b="1" i="0">
                          <a:solidFill>
                            <a:srgbClr val="0F172A"/>
                          </a:solidFill>
                          <a:latin typeface="Poppins"/>
                        </a:rPr>
                        <a:t>18,265 (1.94%)</a:t>
                      </a:r>
                    </a:p>
                  </a:txBody>
                  <a:tcPr marL="128016" marR="128016" marT="54864" marB="54864" anchor="ctr">
                    <a:solidFill>
                      <a:srgbClr val="F1F5F9"/>
                    </a:solidFill>
                  </a:tcPr>
                </a:tc>
                <a:tc>
                  <a:txBody>
                    <a:bodyPr/>
                    <a:lstStyle/>
                    <a:p>
                      <a:pPr algn="l"/>
                      <a:r>
                        <a:rPr sz="1050" b="1" i="0">
                          <a:solidFill>
                            <a:srgbClr val="0F172A"/>
                          </a:solidFill>
                          <a:latin typeface="Poppins"/>
                        </a:rPr>
                        <a:t>882,624</a:t>
                      </a:r>
                    </a:p>
                  </a:txBody>
                  <a:tcPr marL="128016" marR="128016" marT="54864" marB="54864" anchor="ctr">
                    <a:solidFill>
                      <a:srgbClr val="F1F5F9"/>
                    </a:solidFill>
                  </a:tcPr>
                </a:tc>
                <a:tc>
                  <a:txBody>
                    <a:bodyPr/>
                    <a:lstStyle/>
                    <a:p>
                      <a:pPr algn="l"/>
                      <a:r>
                        <a:rPr sz="1050" b="1" i="0">
                          <a:solidFill>
                            <a:srgbClr val="0F172A"/>
                          </a:solidFill>
                          <a:latin typeface="Poppins"/>
                        </a:rPr>
                        <a:t>17,942</a:t>
                      </a:r>
                    </a:p>
                  </a:txBody>
                  <a:tcPr marL="128016" marR="128016" marT="54864" marB="54864" anchor="ctr">
                    <a:solidFill>
                      <a:srgbClr val="F1F5F9"/>
                    </a:solidFill>
                  </a:tcPr>
                </a:tc>
                <a:tc>
                  <a:txBody>
                    <a:bodyPr/>
                    <a:lstStyle/>
                    <a:p>
                      <a:pPr algn="l"/>
                      <a:r>
                        <a:rPr sz="1050" b="1" i="0">
                          <a:solidFill>
                            <a:srgbClr val="0F172A"/>
                          </a:solidFill>
                          <a:latin typeface="Poppins"/>
                        </a:rPr>
                        <a:t>2.03%</a:t>
                      </a:r>
                    </a:p>
                  </a:txBody>
                  <a:tcPr marL="128016" marR="128016" marT="54864" marB="54864" anchor="ctr">
                    <a:solidFill>
                      <a:srgbClr val="F1F5F9"/>
                    </a:solidFill>
                  </a:tcPr>
                </a:tc>
                <a:tc>
                  <a:txBody>
                    <a:bodyPr/>
                    <a:lstStyle/>
                    <a:p>
                      <a:pPr algn="l"/>
                      <a:r>
                        <a:rPr sz="1050" b="1" i="0">
                          <a:solidFill>
                            <a:srgbClr val="0F172A"/>
                          </a:solidFill>
                          <a:latin typeface="Poppins"/>
                        </a:rPr>
                        <a:t>56,151,552</a:t>
                      </a:r>
                    </a:p>
                  </a:txBody>
                  <a:tcPr marL="128016" marR="128016" marT="54864" marB="54864" anchor="ctr">
                    <a:solidFill>
                      <a:srgbClr val="F1F5F9"/>
                    </a:solidFill>
                  </a:tcPr>
                </a:tc>
                <a:tc>
                  <a:txBody>
                    <a:bodyPr/>
                    <a:lstStyle/>
                    <a:p>
                      <a:pPr algn="l"/>
                      <a:r>
                        <a:rPr sz="1050" b="1" i="0">
                          <a:solidFill>
                            <a:srgbClr val="0F172A"/>
                          </a:solidFill>
                          <a:latin typeface="Poppins"/>
                        </a:rPr>
                        <a:t>1,022,464 (1.82%)</a:t>
                      </a:r>
                    </a:p>
                  </a:txBody>
                  <a:tcPr marL="128016" marR="128016" marT="54864" marB="54864" anchor="ctr">
                    <a:solidFill>
                      <a:srgbClr val="F1F5F9"/>
                    </a:solidFill>
                  </a:tcPr>
                </a:tc>
                <a:extLst>
                  <a:ext uri="{0D108BD9-81ED-4DB2-BD59-A6C34878D82A}">
                    <a16:rowId xmlns:a16="http://schemas.microsoft.com/office/drawing/2014/main" val="10005"/>
                  </a:ext>
                </a:extLst>
              </a:tr>
              <a:tr h="353290">
                <a:tc>
                  <a:txBody>
                    <a:bodyPr/>
                    <a:lstStyle/>
                    <a:p>
                      <a:pPr algn="l"/>
                      <a:r>
                        <a:rPr sz="1050" b="1" i="0">
                          <a:solidFill>
                            <a:srgbClr val="0F172A"/>
                          </a:solidFill>
                          <a:latin typeface="Poppins"/>
                        </a:rPr>
                        <a:t>head_batch_norm</a:t>
                      </a:r>
                    </a:p>
                  </a:txBody>
                  <a:tcPr marL="128016" marR="128016" marT="54864" marB="54864" anchor="ctr">
                    <a:solidFill>
                      <a:srgbClr val="F8FAFC"/>
                    </a:solidFill>
                  </a:tcPr>
                </a:tc>
                <a:tc>
                  <a:txBody>
                    <a:bodyPr/>
                    <a:lstStyle/>
                    <a:p>
                      <a:pPr algn="l"/>
                      <a:r>
                        <a:rPr sz="1050" b="0" i="0">
                          <a:solidFill>
                            <a:srgbClr val="334155"/>
                          </a:solidFill>
                          <a:latin typeface="Poppins"/>
                        </a:rPr>
                        <a:t>BatchNorm (576-dim vectors)</a:t>
                      </a:r>
                    </a:p>
                  </a:txBody>
                  <a:tcPr marL="128016" marR="128016" marT="54864" marB="54864" anchor="ctr">
                    <a:solidFill>
                      <a:srgbClr val="F8FAFC"/>
                    </a:solidFill>
                  </a:tcPr>
                </a:tc>
                <a:tc>
                  <a:txBody>
                    <a:bodyPr/>
                    <a:lstStyle/>
                    <a:p>
                      <a:pPr algn="l"/>
                      <a:r>
                        <a:rPr sz="1050" b="0" i="0">
                          <a:solidFill>
                            <a:srgbClr val="334155"/>
                          </a:solidFill>
                          <a:latin typeface="Poppins"/>
                        </a:rPr>
                        <a:t>2,304</a:t>
                      </a:r>
                    </a:p>
                  </a:txBody>
                  <a:tcPr marL="128016" marR="128016" marT="54864" marB="54864" anchor="ctr">
                    <a:solidFill>
                      <a:srgbClr val="F8FAFC"/>
                    </a:solidFill>
                  </a:tcPr>
                </a:tc>
                <a:tc>
                  <a:txBody>
                    <a:bodyPr/>
                    <a:lstStyle/>
                    <a:p>
                      <a:pPr algn="l"/>
                      <a:r>
                        <a:rPr sz="1050" b="0" i="0">
                          <a:solidFill>
                            <a:srgbClr val="334155"/>
                          </a:solidFill>
                          <a:latin typeface="Poppins"/>
                        </a:rPr>
                        <a:t>23 (1.00%)</a:t>
                      </a:r>
                    </a:p>
                  </a:txBody>
                  <a:tcPr marL="128016" marR="128016" marT="54864" marB="54864" anchor="ctr">
                    <a:solidFill>
                      <a:srgbClr val="F8FAFC"/>
                    </a:solidFill>
                  </a:tcPr>
                </a:tc>
                <a:tc>
                  <a:txBody>
                    <a:bodyPr/>
                    <a:lstStyle/>
                    <a:p>
                      <a:pPr algn="l"/>
                      <a:r>
                        <a:rPr sz="1050" b="0" i="0">
                          <a:solidFill>
                            <a:srgbClr val="334155"/>
                          </a:solidFill>
                          <a:latin typeface="Poppins"/>
                        </a:rPr>
                        <a:t>— [Non-MAC]</a:t>
                      </a:r>
                    </a:p>
                  </a:txBody>
                  <a:tcPr marL="128016" marR="128016" marT="54864" marB="54864" anchor="ctr">
                    <a:solidFill>
                      <a:srgbClr val="F8FAFC"/>
                    </a:solidFill>
                  </a:tcPr>
                </a:tc>
                <a:tc>
                  <a:txBody>
                    <a:bodyPr/>
                    <a:lstStyle/>
                    <a:p>
                      <a:pPr algn="l"/>
                      <a:r>
                        <a:rPr sz="1050" b="0" i="0">
                          <a:solidFill>
                            <a:srgbClr val="334155"/>
                          </a:solidFill>
                          <a:latin typeface="Poppins"/>
                        </a:rPr>
                        <a:t>—</a:t>
                      </a:r>
                    </a:p>
                  </a:txBody>
                  <a:tcPr marL="128016" marR="128016" marT="54864" marB="54864" anchor="ctr">
                    <a:solidFill>
                      <a:srgbClr val="F8FAFC"/>
                    </a:solidFill>
                  </a:tcPr>
                </a:tc>
                <a:tc>
                  <a:txBody>
                    <a:bodyPr/>
                    <a:lstStyle/>
                    <a:p>
                      <a:pPr algn="l"/>
                      <a:r>
                        <a:rPr sz="1050" b="0" i="0">
                          <a:solidFill>
                            <a:srgbClr val="334155"/>
                          </a:solidFill>
                          <a:latin typeface="Poppins"/>
                        </a:rPr>
                        <a:t>—</a:t>
                      </a:r>
                    </a:p>
                  </a:txBody>
                  <a:tcPr marL="128016" marR="128016" marT="54864" marB="54864" anchor="ctr">
                    <a:solidFill>
                      <a:srgbClr val="F8FAFC"/>
                    </a:solidFill>
                  </a:tcPr>
                </a:tc>
                <a:tc>
                  <a:txBody>
                    <a:bodyPr/>
                    <a:lstStyle/>
                    <a:p>
                      <a:pPr algn="l"/>
                      <a:r>
                        <a:rPr sz="1050" b="0" i="0">
                          <a:solidFill>
                            <a:srgbClr val="334155"/>
                          </a:solidFill>
                          <a:latin typeface="Poppins"/>
                        </a:rPr>
                        <a:t>—</a:t>
                      </a:r>
                    </a:p>
                  </a:txBody>
                  <a:tcPr marL="128016" marR="128016" marT="54864" marB="54864" anchor="ctr">
                    <a:solidFill>
                      <a:srgbClr val="F8FAFC"/>
                    </a:solidFill>
                  </a:tcPr>
                </a:tc>
                <a:tc>
                  <a:txBody>
                    <a:bodyPr/>
                    <a:lstStyle/>
                    <a:p>
                      <a:pPr algn="l"/>
                      <a:r>
                        <a:rPr sz="1050" b="0" i="0">
                          <a:solidFill>
                            <a:srgbClr val="334155"/>
                          </a:solidFill>
                          <a:latin typeface="Poppins"/>
                        </a:rPr>
                        <a:t>—</a:t>
                      </a:r>
                    </a:p>
                  </a:txBody>
                  <a:tcPr marL="128016" marR="128016" marT="54864" marB="54864" anchor="ctr">
                    <a:solidFill>
                      <a:srgbClr val="F8FAFC"/>
                    </a:solidFill>
                  </a:tcPr>
                </a:tc>
                <a:extLst>
                  <a:ext uri="{0D108BD9-81ED-4DB2-BD59-A6C34878D82A}">
                    <a16:rowId xmlns:a16="http://schemas.microsoft.com/office/drawing/2014/main" val="10006"/>
                  </a:ext>
                </a:extLst>
              </a:tr>
              <a:tr h="353290">
                <a:tc>
                  <a:txBody>
                    <a:bodyPr/>
                    <a:lstStyle/>
                    <a:p>
                      <a:pPr algn="l"/>
                      <a:r>
                        <a:rPr sz="1050" b="1" i="0">
                          <a:solidFill>
                            <a:srgbClr val="0F172A"/>
                          </a:solidFill>
                          <a:latin typeface="Poppins"/>
                        </a:rPr>
                        <a:t>dense_256 (Intermediate FC)</a:t>
                      </a:r>
                    </a:p>
                  </a:txBody>
                  <a:tcPr marL="128016" marR="128016" marT="54864" marB="54864" anchor="ctr">
                    <a:solidFill>
                      <a:srgbClr val="FFFFFF"/>
                    </a:solidFill>
                  </a:tcPr>
                </a:tc>
                <a:tc>
                  <a:txBody>
                    <a:bodyPr/>
                    <a:lstStyle/>
                    <a:p>
                      <a:pPr algn="l"/>
                      <a:r>
                        <a:rPr sz="1050" b="0" i="0">
                          <a:solidFill>
                            <a:srgbClr val="334155"/>
                          </a:solidFill>
                          <a:latin typeface="Poppins"/>
                        </a:rPr>
                        <a:t>Dense (576 × 256) + 256 bias</a:t>
                      </a:r>
                    </a:p>
                  </a:txBody>
                  <a:tcPr marL="128016" marR="128016" marT="54864" marB="54864" anchor="ctr">
                    <a:solidFill>
                      <a:srgbClr val="FFFFFF"/>
                    </a:solidFill>
                  </a:tcPr>
                </a:tc>
                <a:tc>
                  <a:txBody>
                    <a:bodyPr/>
                    <a:lstStyle/>
                    <a:p>
                      <a:pPr algn="l"/>
                      <a:r>
                        <a:rPr sz="1050" b="0" i="0">
                          <a:solidFill>
                            <a:srgbClr val="334155"/>
                          </a:solidFill>
                          <a:latin typeface="Poppins"/>
                        </a:rPr>
                        <a:t>147,712</a:t>
                      </a:r>
                    </a:p>
                  </a:txBody>
                  <a:tcPr marL="128016" marR="128016" marT="54864" marB="54864" anchor="ctr">
                    <a:solidFill>
                      <a:srgbClr val="FFFFFF"/>
                    </a:solidFill>
                  </a:tcPr>
                </a:tc>
                <a:tc>
                  <a:txBody>
                    <a:bodyPr/>
                    <a:lstStyle/>
                    <a:p>
                      <a:pPr algn="l"/>
                      <a:r>
                        <a:rPr sz="1050" b="0" i="0">
                          <a:solidFill>
                            <a:srgbClr val="334155"/>
                          </a:solidFill>
                          <a:latin typeface="Poppins"/>
                        </a:rPr>
                        <a:t>1,779 (1.20%)</a:t>
                      </a:r>
                    </a:p>
                  </a:txBody>
                  <a:tcPr marL="128016" marR="128016" marT="54864" marB="54864" anchor="ctr">
                    <a:solidFill>
                      <a:srgbClr val="FFFFFF"/>
                    </a:solidFill>
                  </a:tcPr>
                </a:tc>
                <a:tc>
                  <a:txBody>
                    <a:bodyPr/>
                    <a:lstStyle/>
                    <a:p>
                      <a:pPr algn="l"/>
                      <a:r>
                        <a:rPr sz="1050" b="0" i="0">
                          <a:solidFill>
                            <a:srgbClr val="334155"/>
                          </a:solidFill>
                          <a:latin typeface="Poppins"/>
                        </a:rPr>
                        <a:t>147,456</a:t>
                      </a:r>
                    </a:p>
                  </a:txBody>
                  <a:tcPr marL="128016" marR="128016" marT="54864" marB="54864" anchor="ctr">
                    <a:solidFill>
                      <a:srgbClr val="FFFFFF"/>
                    </a:solidFill>
                  </a:tcPr>
                </a:tc>
                <a:tc>
                  <a:txBody>
                    <a:bodyPr/>
                    <a:lstStyle/>
                    <a:p>
                      <a:pPr algn="l"/>
                      <a:r>
                        <a:rPr sz="1050" b="0" i="0">
                          <a:solidFill>
                            <a:srgbClr val="334155"/>
                          </a:solidFill>
                          <a:latin typeface="Poppins"/>
                        </a:rPr>
                        <a:t>1,775</a:t>
                      </a:r>
                    </a:p>
                  </a:txBody>
                  <a:tcPr marL="128016" marR="128016" marT="54864" marB="54864" anchor="ctr">
                    <a:solidFill>
                      <a:srgbClr val="FFFFFF"/>
                    </a:solidFill>
                  </a:tcPr>
                </a:tc>
                <a:tc>
                  <a:txBody>
                    <a:bodyPr/>
                    <a:lstStyle/>
                    <a:p>
                      <a:pPr algn="l"/>
                      <a:r>
                        <a:rPr sz="1050" b="0" i="0">
                          <a:solidFill>
                            <a:srgbClr val="334155"/>
                          </a:solidFill>
                          <a:latin typeface="Poppins"/>
                        </a:rPr>
                        <a:t>1.20%</a:t>
                      </a:r>
                    </a:p>
                  </a:txBody>
                  <a:tcPr marL="128016" marR="128016" marT="54864" marB="54864" anchor="ctr">
                    <a:solidFill>
                      <a:srgbClr val="FFFFFF"/>
                    </a:solidFill>
                  </a:tcPr>
                </a:tc>
                <a:tc>
                  <a:txBody>
                    <a:bodyPr/>
                    <a:lstStyle/>
                    <a:p>
                      <a:pPr algn="l"/>
                      <a:r>
                        <a:rPr sz="1050" b="0" i="0">
                          <a:solidFill>
                            <a:srgbClr val="334155"/>
                          </a:solidFill>
                          <a:latin typeface="Poppins"/>
                        </a:rPr>
                        <a:t>147,456</a:t>
                      </a:r>
                    </a:p>
                  </a:txBody>
                  <a:tcPr marL="128016" marR="128016" marT="54864" marB="54864" anchor="ctr">
                    <a:solidFill>
                      <a:srgbClr val="FFFFFF"/>
                    </a:solidFill>
                  </a:tcPr>
                </a:tc>
                <a:tc>
                  <a:txBody>
                    <a:bodyPr/>
                    <a:lstStyle/>
                    <a:p>
                      <a:pPr algn="l"/>
                      <a:r>
                        <a:rPr sz="1050" b="0" i="0">
                          <a:solidFill>
                            <a:srgbClr val="334155"/>
                          </a:solidFill>
                          <a:latin typeface="Poppins"/>
                        </a:rPr>
                        <a:t>1,775 (1.20%)</a:t>
                      </a:r>
                    </a:p>
                  </a:txBody>
                  <a:tcPr marL="128016" marR="128016" marT="54864" marB="54864" anchor="ctr">
                    <a:solidFill>
                      <a:srgbClr val="FFFFFF"/>
                    </a:solidFill>
                  </a:tcPr>
                </a:tc>
                <a:extLst>
                  <a:ext uri="{0D108BD9-81ED-4DB2-BD59-A6C34878D82A}">
                    <a16:rowId xmlns:a16="http://schemas.microsoft.com/office/drawing/2014/main" val="10007"/>
                  </a:ext>
                </a:extLst>
              </a:tr>
              <a:tr h="353290">
                <a:tc>
                  <a:txBody>
                    <a:bodyPr/>
                    <a:lstStyle/>
                    <a:p>
                      <a:pPr algn="l"/>
                      <a:r>
                        <a:rPr sz="1050" b="1" i="0">
                          <a:solidFill>
                            <a:srgbClr val="0F172A"/>
                          </a:solidFill>
                          <a:latin typeface="Poppins"/>
                        </a:rPr>
                        <a:t>dense_batch_norm</a:t>
                      </a:r>
                    </a:p>
                  </a:txBody>
                  <a:tcPr marL="128016" marR="128016" marT="54864" marB="54864" anchor="ctr">
                    <a:solidFill>
                      <a:srgbClr val="F8FAFC"/>
                    </a:solidFill>
                  </a:tcPr>
                </a:tc>
                <a:tc>
                  <a:txBody>
                    <a:bodyPr/>
                    <a:lstStyle/>
                    <a:p>
                      <a:pPr algn="l"/>
                      <a:r>
                        <a:rPr sz="1050" b="0" i="0">
                          <a:solidFill>
                            <a:srgbClr val="334155"/>
                          </a:solidFill>
                          <a:latin typeface="Poppins"/>
                        </a:rPr>
                        <a:t>BatchNorm (256-dim vectors)</a:t>
                      </a:r>
                    </a:p>
                  </a:txBody>
                  <a:tcPr marL="128016" marR="128016" marT="54864" marB="54864" anchor="ctr">
                    <a:solidFill>
                      <a:srgbClr val="F8FAFC"/>
                    </a:solidFill>
                  </a:tcPr>
                </a:tc>
                <a:tc>
                  <a:txBody>
                    <a:bodyPr/>
                    <a:lstStyle/>
                    <a:p>
                      <a:pPr algn="l"/>
                      <a:r>
                        <a:rPr sz="1050" b="0" i="0">
                          <a:solidFill>
                            <a:srgbClr val="334155"/>
                          </a:solidFill>
                          <a:latin typeface="Poppins"/>
                        </a:rPr>
                        <a:t>1,024</a:t>
                      </a:r>
                    </a:p>
                  </a:txBody>
                  <a:tcPr marL="128016" marR="128016" marT="54864" marB="54864" anchor="ctr">
                    <a:solidFill>
                      <a:srgbClr val="F8FAFC"/>
                    </a:solidFill>
                  </a:tcPr>
                </a:tc>
                <a:tc>
                  <a:txBody>
                    <a:bodyPr/>
                    <a:lstStyle/>
                    <a:p>
                      <a:pPr algn="l"/>
                      <a:r>
                        <a:rPr sz="1050" b="0" i="0">
                          <a:solidFill>
                            <a:srgbClr val="334155"/>
                          </a:solidFill>
                          <a:latin typeface="Poppins"/>
                        </a:rPr>
                        <a:t>3 (0.29%)</a:t>
                      </a:r>
                    </a:p>
                  </a:txBody>
                  <a:tcPr marL="128016" marR="128016" marT="54864" marB="54864" anchor="ctr">
                    <a:solidFill>
                      <a:srgbClr val="F8FAFC"/>
                    </a:solidFill>
                  </a:tcPr>
                </a:tc>
                <a:tc>
                  <a:txBody>
                    <a:bodyPr/>
                    <a:lstStyle/>
                    <a:p>
                      <a:pPr algn="l"/>
                      <a:r>
                        <a:rPr sz="1050" b="0" i="0">
                          <a:solidFill>
                            <a:srgbClr val="334155"/>
                          </a:solidFill>
                          <a:latin typeface="Poppins"/>
                        </a:rPr>
                        <a:t>— [Non-MAC]</a:t>
                      </a:r>
                    </a:p>
                  </a:txBody>
                  <a:tcPr marL="128016" marR="128016" marT="54864" marB="54864" anchor="ctr">
                    <a:solidFill>
                      <a:srgbClr val="F8FAFC"/>
                    </a:solidFill>
                  </a:tcPr>
                </a:tc>
                <a:tc>
                  <a:txBody>
                    <a:bodyPr/>
                    <a:lstStyle/>
                    <a:p>
                      <a:pPr algn="l"/>
                      <a:r>
                        <a:rPr sz="1050" b="0" i="0">
                          <a:solidFill>
                            <a:srgbClr val="334155"/>
                          </a:solidFill>
                          <a:latin typeface="Poppins"/>
                        </a:rPr>
                        <a:t>—</a:t>
                      </a:r>
                    </a:p>
                  </a:txBody>
                  <a:tcPr marL="128016" marR="128016" marT="54864" marB="54864" anchor="ctr">
                    <a:solidFill>
                      <a:srgbClr val="F8FAFC"/>
                    </a:solidFill>
                  </a:tcPr>
                </a:tc>
                <a:tc>
                  <a:txBody>
                    <a:bodyPr/>
                    <a:lstStyle/>
                    <a:p>
                      <a:pPr algn="l"/>
                      <a:r>
                        <a:rPr sz="1050" b="0" i="0">
                          <a:solidFill>
                            <a:srgbClr val="334155"/>
                          </a:solidFill>
                          <a:latin typeface="Poppins"/>
                        </a:rPr>
                        <a:t>—</a:t>
                      </a:r>
                    </a:p>
                  </a:txBody>
                  <a:tcPr marL="128016" marR="128016" marT="54864" marB="54864" anchor="ctr">
                    <a:solidFill>
                      <a:srgbClr val="F8FAFC"/>
                    </a:solidFill>
                  </a:tcPr>
                </a:tc>
                <a:tc>
                  <a:txBody>
                    <a:bodyPr/>
                    <a:lstStyle/>
                    <a:p>
                      <a:pPr algn="l"/>
                      <a:r>
                        <a:rPr sz="1050" b="0" i="0">
                          <a:solidFill>
                            <a:srgbClr val="334155"/>
                          </a:solidFill>
                          <a:latin typeface="Poppins"/>
                        </a:rPr>
                        <a:t>—</a:t>
                      </a:r>
                    </a:p>
                  </a:txBody>
                  <a:tcPr marL="128016" marR="128016" marT="54864" marB="54864" anchor="ctr">
                    <a:solidFill>
                      <a:srgbClr val="F8FAFC"/>
                    </a:solidFill>
                  </a:tcPr>
                </a:tc>
                <a:tc>
                  <a:txBody>
                    <a:bodyPr/>
                    <a:lstStyle/>
                    <a:p>
                      <a:pPr algn="l"/>
                      <a:r>
                        <a:rPr sz="1050" b="0" i="0">
                          <a:solidFill>
                            <a:srgbClr val="334155"/>
                          </a:solidFill>
                          <a:latin typeface="Poppins"/>
                        </a:rPr>
                        <a:t>—</a:t>
                      </a:r>
                    </a:p>
                  </a:txBody>
                  <a:tcPr marL="128016" marR="128016" marT="54864" marB="54864" anchor="ctr">
                    <a:solidFill>
                      <a:srgbClr val="F8FAFC"/>
                    </a:solidFill>
                  </a:tcPr>
                </a:tc>
                <a:extLst>
                  <a:ext uri="{0D108BD9-81ED-4DB2-BD59-A6C34878D82A}">
                    <a16:rowId xmlns:a16="http://schemas.microsoft.com/office/drawing/2014/main" val="10008"/>
                  </a:ext>
                </a:extLst>
              </a:tr>
              <a:tr h="353290">
                <a:tc>
                  <a:txBody>
                    <a:bodyPr/>
                    <a:lstStyle/>
                    <a:p>
                      <a:pPr algn="l"/>
                      <a:r>
                        <a:rPr sz="1050" b="1" i="0">
                          <a:solidFill>
                            <a:srgbClr val="0F172A"/>
                          </a:solidFill>
                          <a:latin typeface="Poppins"/>
                        </a:rPr>
                        <a:t>classifier (Classification Head)</a:t>
                      </a:r>
                    </a:p>
                  </a:txBody>
                  <a:tcPr marL="128016" marR="128016" marT="54864" marB="54864" anchor="ctr">
                    <a:solidFill>
                      <a:srgbClr val="FFFFFF"/>
                    </a:solidFill>
                  </a:tcPr>
                </a:tc>
                <a:tc>
                  <a:txBody>
                    <a:bodyPr/>
                    <a:lstStyle/>
                    <a:p>
                      <a:pPr algn="l"/>
                      <a:r>
                        <a:rPr sz="1050" b="0" i="0">
                          <a:solidFill>
                            <a:srgbClr val="334155"/>
                          </a:solidFill>
                          <a:latin typeface="Poppins"/>
                        </a:rPr>
                        <a:t>Dense (256 × 4) + 4 bias</a:t>
                      </a:r>
                    </a:p>
                  </a:txBody>
                  <a:tcPr marL="128016" marR="128016" marT="54864" marB="54864" anchor="ctr">
                    <a:solidFill>
                      <a:srgbClr val="FFFFFF"/>
                    </a:solidFill>
                  </a:tcPr>
                </a:tc>
                <a:tc>
                  <a:txBody>
                    <a:bodyPr/>
                    <a:lstStyle/>
                    <a:p>
                      <a:pPr algn="l"/>
                      <a:r>
                        <a:rPr sz="1050" b="0" i="0">
                          <a:solidFill>
                            <a:srgbClr val="334155"/>
                          </a:solidFill>
                          <a:latin typeface="Poppins"/>
                        </a:rPr>
                        <a:t>1,028</a:t>
                      </a:r>
                    </a:p>
                  </a:txBody>
                  <a:tcPr marL="128016" marR="128016" marT="54864" marB="54864" anchor="ctr">
                    <a:solidFill>
                      <a:srgbClr val="FFFFFF"/>
                    </a:solidFill>
                  </a:tcPr>
                </a:tc>
                <a:tc>
                  <a:txBody>
                    <a:bodyPr/>
                    <a:lstStyle/>
                    <a:p>
                      <a:pPr algn="l"/>
                      <a:r>
                        <a:rPr sz="1050" b="0" i="0">
                          <a:solidFill>
                            <a:srgbClr val="334155"/>
                          </a:solidFill>
                          <a:latin typeface="Poppins"/>
                        </a:rPr>
                        <a:t>16 (1.56%)</a:t>
                      </a:r>
                    </a:p>
                  </a:txBody>
                  <a:tcPr marL="128016" marR="128016" marT="54864" marB="54864" anchor="ctr">
                    <a:solidFill>
                      <a:srgbClr val="FFFFFF"/>
                    </a:solidFill>
                  </a:tcPr>
                </a:tc>
                <a:tc>
                  <a:txBody>
                    <a:bodyPr/>
                    <a:lstStyle/>
                    <a:p>
                      <a:pPr algn="l"/>
                      <a:r>
                        <a:rPr sz="1050" b="0" i="0">
                          <a:solidFill>
                            <a:srgbClr val="334155"/>
                          </a:solidFill>
                          <a:latin typeface="Poppins"/>
                        </a:rPr>
                        <a:t>1,024</a:t>
                      </a:r>
                    </a:p>
                  </a:txBody>
                  <a:tcPr marL="128016" marR="128016" marT="54864" marB="54864" anchor="ctr">
                    <a:solidFill>
                      <a:srgbClr val="FFFFFF"/>
                    </a:solidFill>
                  </a:tcPr>
                </a:tc>
                <a:tc>
                  <a:txBody>
                    <a:bodyPr/>
                    <a:lstStyle/>
                    <a:p>
                      <a:pPr algn="l"/>
                      <a:r>
                        <a:rPr sz="1050" b="0" i="0">
                          <a:solidFill>
                            <a:srgbClr val="334155"/>
                          </a:solidFill>
                          <a:latin typeface="Poppins"/>
                        </a:rPr>
                        <a:t>16</a:t>
                      </a:r>
                    </a:p>
                  </a:txBody>
                  <a:tcPr marL="128016" marR="128016" marT="54864" marB="54864" anchor="ctr">
                    <a:solidFill>
                      <a:srgbClr val="FFFFFF"/>
                    </a:solidFill>
                  </a:tcPr>
                </a:tc>
                <a:tc>
                  <a:txBody>
                    <a:bodyPr/>
                    <a:lstStyle/>
                    <a:p>
                      <a:pPr algn="l"/>
                      <a:r>
                        <a:rPr sz="1050" b="0" i="0">
                          <a:solidFill>
                            <a:srgbClr val="334155"/>
                          </a:solidFill>
                          <a:latin typeface="Poppins"/>
                        </a:rPr>
                        <a:t>1.56%</a:t>
                      </a:r>
                    </a:p>
                  </a:txBody>
                  <a:tcPr marL="128016" marR="128016" marT="54864" marB="54864" anchor="ctr">
                    <a:solidFill>
                      <a:srgbClr val="FFFFFF"/>
                    </a:solidFill>
                  </a:tcPr>
                </a:tc>
                <a:tc>
                  <a:txBody>
                    <a:bodyPr/>
                    <a:lstStyle/>
                    <a:p>
                      <a:pPr algn="l"/>
                      <a:r>
                        <a:rPr sz="1050" b="0" i="0">
                          <a:solidFill>
                            <a:srgbClr val="334155"/>
                          </a:solidFill>
                          <a:latin typeface="Poppins"/>
                        </a:rPr>
                        <a:t>1,024</a:t>
                      </a:r>
                    </a:p>
                  </a:txBody>
                  <a:tcPr marL="128016" marR="128016" marT="54864" marB="54864" anchor="ctr">
                    <a:solidFill>
                      <a:srgbClr val="FFFFFF"/>
                    </a:solidFill>
                  </a:tcPr>
                </a:tc>
                <a:tc>
                  <a:txBody>
                    <a:bodyPr/>
                    <a:lstStyle/>
                    <a:p>
                      <a:pPr algn="l"/>
                      <a:r>
                        <a:rPr sz="1050" b="0" i="0">
                          <a:solidFill>
                            <a:srgbClr val="334155"/>
                          </a:solidFill>
                          <a:latin typeface="Poppins"/>
                        </a:rPr>
                        <a:t>16 (1.56%)</a:t>
                      </a:r>
                    </a:p>
                  </a:txBody>
                  <a:tcPr marL="128016" marR="128016" marT="54864" marB="54864" anchor="ctr">
                    <a:solidFill>
                      <a:srgbClr val="FFFFFF"/>
                    </a:solidFill>
                  </a:tcPr>
                </a:tc>
                <a:extLst>
                  <a:ext uri="{0D108BD9-81ED-4DB2-BD59-A6C34878D82A}">
                    <a16:rowId xmlns:a16="http://schemas.microsoft.com/office/drawing/2014/main" val="10009"/>
                  </a:ext>
                </a:extLst>
              </a:tr>
              <a:tr h="353300">
                <a:tc>
                  <a:txBody>
                    <a:bodyPr/>
                    <a:lstStyle/>
                    <a:p>
                      <a:pPr algn="l"/>
                      <a:r>
                        <a:rPr sz="1050" b="1" i="0">
                          <a:solidFill>
                            <a:srgbClr val="0284C7"/>
                          </a:solidFill>
                          <a:latin typeface="Poppins"/>
                        </a:rPr>
                        <a:t>Global Model Total</a:t>
                      </a:r>
                    </a:p>
                  </a:txBody>
                  <a:tcPr marL="128016" marR="128016" marT="54864" marB="54864" anchor="ctr">
                    <a:solidFill>
                      <a:srgbClr val="E0F2FE"/>
                    </a:solidFill>
                  </a:tcPr>
                </a:tc>
                <a:tc>
                  <a:txBody>
                    <a:bodyPr/>
                    <a:lstStyle/>
                    <a:p>
                      <a:pPr algn="l"/>
                      <a:r>
                        <a:rPr sz="1050" b="1" i="0">
                          <a:solidFill>
                            <a:srgbClr val="0F172A"/>
                          </a:solidFill>
                          <a:latin typeface="Poppins"/>
                        </a:rPr>
                        <a:t>Full MobileNetV3-Small KD</a:t>
                      </a:r>
                    </a:p>
                  </a:txBody>
                  <a:tcPr marL="128016" marR="128016" marT="54864" marB="54864" anchor="ctr">
                    <a:solidFill>
                      <a:srgbClr val="E0F2FE"/>
                    </a:solidFill>
                  </a:tcPr>
                </a:tc>
                <a:tc>
                  <a:txBody>
                    <a:bodyPr/>
                    <a:lstStyle/>
                    <a:p>
                      <a:pPr algn="l"/>
                      <a:r>
                        <a:rPr sz="1050" b="1" i="0">
                          <a:solidFill>
                            <a:srgbClr val="0F172A"/>
                          </a:solidFill>
                          <a:latin typeface="Poppins"/>
                        </a:rPr>
                        <a:t>1,091,188</a:t>
                      </a:r>
                    </a:p>
                  </a:txBody>
                  <a:tcPr marL="128016" marR="128016" marT="54864" marB="54864" anchor="ctr">
                    <a:solidFill>
                      <a:srgbClr val="E0F2FE"/>
                    </a:solidFill>
                  </a:tcPr>
                </a:tc>
                <a:tc>
                  <a:txBody>
                    <a:bodyPr/>
                    <a:lstStyle/>
                    <a:p>
                      <a:pPr algn="l"/>
                      <a:r>
                        <a:rPr sz="1050" b="1" i="0">
                          <a:solidFill>
                            <a:srgbClr val="0F172A"/>
                          </a:solidFill>
                          <a:latin typeface="Poppins"/>
                        </a:rPr>
                        <a:t>20,086 (1.84%)</a:t>
                      </a:r>
                    </a:p>
                  </a:txBody>
                  <a:tcPr marL="128016" marR="128016" marT="54864" marB="54864" anchor="ctr">
                    <a:solidFill>
                      <a:srgbClr val="E0F2FE"/>
                    </a:solidFill>
                  </a:tcPr>
                </a:tc>
                <a:tc>
                  <a:txBody>
                    <a:bodyPr/>
                    <a:lstStyle/>
                    <a:p>
                      <a:pPr algn="l"/>
                      <a:r>
                        <a:rPr sz="1050" b="1" i="0">
                          <a:solidFill>
                            <a:srgbClr val="0F172A"/>
                          </a:solidFill>
                          <a:latin typeface="Poppins"/>
                        </a:rPr>
                        <a:t>1,031,104</a:t>
                      </a:r>
                    </a:p>
                  </a:txBody>
                  <a:tcPr marL="128016" marR="128016" marT="54864" marB="54864" anchor="ctr">
                    <a:solidFill>
                      <a:srgbClr val="E0F2FE"/>
                    </a:solidFill>
                  </a:tcPr>
                </a:tc>
                <a:tc>
                  <a:txBody>
                    <a:bodyPr/>
                    <a:lstStyle/>
                    <a:p>
                      <a:pPr algn="l"/>
                      <a:r>
                        <a:rPr sz="1050" b="1" i="0">
                          <a:solidFill>
                            <a:srgbClr val="0F172A"/>
                          </a:solidFill>
                          <a:latin typeface="Poppins"/>
                        </a:rPr>
                        <a:t>19,733</a:t>
                      </a:r>
                    </a:p>
                  </a:txBody>
                  <a:tcPr marL="128016" marR="128016" marT="54864" marB="54864" anchor="ctr">
                    <a:solidFill>
                      <a:srgbClr val="E0F2FE"/>
                    </a:solidFill>
                  </a:tcPr>
                </a:tc>
                <a:tc>
                  <a:txBody>
                    <a:bodyPr/>
                    <a:lstStyle/>
                    <a:p>
                      <a:pPr algn="l"/>
                      <a:r>
                        <a:rPr sz="1050" b="1" i="0">
                          <a:solidFill>
                            <a:srgbClr val="0F172A"/>
                          </a:solidFill>
                          <a:latin typeface="Poppins"/>
                        </a:rPr>
                        <a:t>1.91%</a:t>
                      </a:r>
                    </a:p>
                  </a:txBody>
                  <a:tcPr marL="128016" marR="128016" marT="54864" marB="54864" anchor="ctr">
                    <a:solidFill>
                      <a:srgbClr val="E0F2FE"/>
                    </a:solidFill>
                  </a:tcPr>
                </a:tc>
                <a:tc>
                  <a:txBody>
                    <a:bodyPr/>
                    <a:lstStyle/>
                    <a:p>
                      <a:pPr algn="l"/>
                      <a:r>
                        <a:rPr sz="1050" b="1" i="0">
                          <a:solidFill>
                            <a:srgbClr val="0F172A"/>
                          </a:solidFill>
                          <a:latin typeface="Poppins"/>
                        </a:rPr>
                        <a:t>56,300,032</a:t>
                      </a:r>
                    </a:p>
                  </a:txBody>
                  <a:tcPr marL="128016" marR="128016" marT="54864" marB="54864" anchor="ctr">
                    <a:solidFill>
                      <a:srgbClr val="E0F2FE"/>
                    </a:solidFill>
                  </a:tcPr>
                </a:tc>
                <a:tc>
                  <a:txBody>
                    <a:bodyPr/>
                    <a:lstStyle/>
                    <a:p>
                      <a:pPr algn="l"/>
                      <a:r>
                        <a:rPr sz="1050" b="1" i="0" dirty="0">
                          <a:solidFill>
                            <a:srgbClr val="0F172A"/>
                          </a:solidFill>
                          <a:latin typeface="Poppins"/>
                        </a:rPr>
                        <a:t>1,024,255 (1.82%)</a:t>
                      </a:r>
                    </a:p>
                  </a:txBody>
                  <a:tcPr marL="128016" marR="128016" marT="54864" marB="54864" anchor="ctr">
                    <a:solidFill>
                      <a:srgbClr val="E0F2FE"/>
                    </a:solidFill>
                  </a:tcPr>
                </a:tc>
                <a:extLst>
                  <a:ext uri="{0D108BD9-81ED-4DB2-BD59-A6C34878D82A}">
                    <a16:rowId xmlns:a16="http://schemas.microsoft.com/office/drawing/2014/main" val="10010"/>
                  </a:ext>
                </a:extLst>
              </a:tr>
            </a:tbl>
          </a:graphicData>
        </a:graphic>
      </p:graphicFrame>
      <p:sp>
        <p:nvSpPr>
          <p:cNvPr id="6" name="Rounded Rectangle 5"/>
          <p:cNvSpPr/>
          <p:nvPr/>
        </p:nvSpPr>
        <p:spPr>
          <a:xfrm>
            <a:off x="914400" y="5394960"/>
            <a:ext cx="8046720" cy="40233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56032" tIns="182880" rIns="256032" rtlCol="0" anchor="t"/>
          <a:lstStyle/>
          <a:p>
            <a:pPr algn="ctr"/>
            <a:r>
              <a:rPr b="1" i="0">
                <a:solidFill>
                  <a:srgbClr val="0284C7"/>
                </a:solidFill>
                <a:latin typeface="Poppins"/>
              </a:rPr>
              <a:t>Architectural Breakdown by Convolution Type</a:t>
            </a:r>
          </a:p>
          <a:p>
            <a:pPr>
              <a:spcBef>
                <a:spcPts val="450"/>
              </a:spcBef>
            </a:pPr>
            <a:r>
              <a:rPr sz="1400" b="1" i="0">
                <a:solidFill>
                  <a:srgbClr val="0F172A"/>
                </a:solidFill>
                <a:latin typeface="Poppins"/>
              </a:rPr>
              <a:t>• Parameter Reconciliation: </a:t>
            </a:r>
            <a:r>
              <a:rPr sz="1200" b="0" i="0">
                <a:solidFill>
                  <a:srgbClr val="334155"/>
                </a:solidFill>
                <a:latin typeface="Poppins"/>
              </a:rPr>
              <a:t>1,031,104 matrix kernel weights execute on MAC multipliers. 60,084 non-MAC vectors (BatchNorm params &amp; biases) do not use multipliers and are tracked separately (353 zeroed).</a:t>
            </a:r>
          </a:p>
          <a:p>
            <a:pPr>
              <a:spcBef>
                <a:spcPts val="450"/>
              </a:spcBef>
            </a:pPr>
            <a:r>
              <a:rPr sz="1400" b="1" i="0">
                <a:solidFill>
                  <a:srgbClr val="0F172A"/>
                </a:solidFill>
                <a:latin typeface="Poppins"/>
              </a:rPr>
              <a:t>• Pointwise (1×1) Conv2D Layers: </a:t>
            </a:r>
            <a:r>
              <a:rPr sz="1200" b="0" i="0">
                <a:solidFill>
                  <a:srgbClr val="334155"/>
                </a:solidFill>
                <a:latin typeface="Poppins"/>
              </a:rPr>
              <a:t>14,484 weights zeroed (2.04%); layer-group-specific impact remains to be isolated.</a:t>
            </a:r>
          </a:p>
          <a:p>
            <a:pPr>
              <a:spcBef>
                <a:spcPts val="450"/>
              </a:spcBef>
            </a:pPr>
            <a:r>
              <a:rPr sz="1400" b="1" i="0">
                <a:solidFill>
                  <a:srgbClr val="0F172A"/>
                </a:solidFill>
                <a:latin typeface="Poppins"/>
              </a:rPr>
              <a:t>• Depthwise (3×3 / 5×5) Conv2D Layers: </a:t>
            </a:r>
            <a:r>
              <a:rPr sz="1200" b="0" i="0">
                <a:solidFill>
                  <a:srgbClr val="334155"/>
                </a:solidFill>
                <a:latin typeface="Poppins"/>
              </a:rPr>
              <a:t>3,450 weights zeroed (1.99%); aggregate model predictions remained unchanged at the selected threshold.</a:t>
            </a:r>
          </a:p>
          <a:p>
            <a:pPr>
              <a:spcBef>
                <a:spcPts val="450"/>
              </a:spcBef>
            </a:pPr>
            <a:r>
              <a:rPr sz="1400" b="1" i="0">
                <a:solidFill>
                  <a:srgbClr val="0F172A"/>
                </a:solidFill>
                <a:latin typeface="Poppins"/>
              </a:rPr>
              <a:t>• Dense Head Layers: </a:t>
            </a:r>
            <a:r>
              <a:rPr sz="1200" b="0" i="0">
                <a:solidFill>
                  <a:srgbClr val="334155"/>
                </a:solidFill>
                <a:latin typeface="Poppins"/>
              </a:rPr>
              <a:t>1,791 zeroed Dense kernel coefficients (1,775 in dense_256, 16 in classifier); potential operation savings depend on the implemented datapath and zero-aware scheduling.</a:t>
            </a:r>
          </a:p>
        </p:txBody>
      </p:sp>
      <p:sp>
        <p:nvSpPr>
          <p:cNvPr id="7" name="Rounded Rectangle 6"/>
          <p:cNvSpPr/>
          <p:nvPr/>
        </p:nvSpPr>
        <p:spPr>
          <a:xfrm>
            <a:off x="9326880" y="5394960"/>
            <a:ext cx="8046720" cy="4023360"/>
          </a:xfrm>
          <a:prstGeom prst="roundRect">
            <a:avLst/>
          </a:prstGeom>
          <a:solidFill>
            <a:srgbClr val="182538"/>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square" lIns="256032" tIns="182880" rIns="256032" rtlCol="0" anchor="t"/>
          <a:lstStyle/>
          <a:p>
            <a:pPr algn="ctr"/>
            <a:r>
              <a:rPr b="1" i="0">
                <a:solidFill>
                  <a:srgbClr val="38BDF8"/>
                </a:solidFill>
                <a:latin typeface="Poppins"/>
              </a:rPr>
              <a:t>Software Evidence vs Theoretical Hardware Estimates</a:t>
            </a:r>
          </a:p>
          <a:p>
            <a:pPr>
              <a:spcBef>
                <a:spcPts val="450"/>
              </a:spcBef>
            </a:pPr>
            <a:r>
              <a:rPr sz="1400" b="1" i="0">
                <a:solidFill>
                  <a:srgbClr val="FFFFFF"/>
                </a:solidFill>
                <a:latin typeface="Poppins"/>
              </a:rPr>
              <a:t>• Measured in Software (Completed): </a:t>
            </a:r>
            <a:r>
              <a:rPr sz="1200" b="0" i="0">
                <a:solidFill>
                  <a:srgbClr val="E2E8F0"/>
                </a:solidFill>
                <a:latin typeface="Poppins"/>
              </a:rPr>
              <a:t>20,086 weights zeroed out of 1,091,188 (1.8407% sparsity); zero prediction changes across all 3,551 test images on evaluated checkpoint (88.54% test acc).</a:t>
            </a:r>
          </a:p>
          <a:p>
            <a:pPr>
              <a:spcBef>
                <a:spcPts val="450"/>
              </a:spcBef>
            </a:pPr>
            <a:r>
              <a:rPr sz="1400" b="1" i="0">
                <a:solidFill>
                  <a:srgbClr val="FFFFFF"/>
                </a:solidFill>
                <a:latin typeface="Poppins"/>
              </a:rPr>
              <a:t>• Theoretical MAC-Operation Estimate (*): </a:t>
            </a:r>
            <a:r>
              <a:rPr sz="1200" b="0" i="0">
                <a:solidFill>
                  <a:srgbClr val="E2E8F0"/>
                </a:solidFill>
                <a:latin typeface="Poppins"/>
              </a:rPr>
              <a:t>Operation counts (~56.3M dense MACs → ~1.02M skipped operations, 1.82%) are theoretical estimates based on nominal layer dimensions; potential cycle savings depend on datapath architecture and zero-aware scheduling.</a:t>
            </a:r>
          </a:p>
          <a:p>
            <a:pPr>
              <a:spcBef>
                <a:spcPts val="450"/>
              </a:spcBef>
            </a:pPr>
            <a:r>
              <a:rPr sz="1400" b="1" i="0">
                <a:solidFill>
                  <a:srgbClr val="FFFFFF"/>
                </a:solidFill>
                <a:latin typeface="Poppins"/>
              </a:rPr>
              <a:t>• Zero Metadata Overhead: </a:t>
            </a:r>
            <a:r>
              <a:rPr sz="1200" b="0" i="0">
                <a:solidFill>
                  <a:srgbClr val="E2E8F0"/>
                </a:solidFill>
                <a:latin typeface="Poppins"/>
              </a:rPr>
              <a:t>Preserves contiguous sequential tensor memory layout from BRAM; completely avoids 20%–35% CSR/CSC pointer RAM and decoding logic.</a:t>
            </a:r>
          </a:p>
          <a:p>
            <a:pPr>
              <a:spcBef>
                <a:spcPts val="450"/>
              </a:spcBef>
            </a:pPr>
            <a:r>
              <a:rPr sz="1400" b="1" i="0">
                <a:solidFill>
                  <a:srgbClr val="FFFFFF"/>
                </a:solidFill>
                <a:latin typeface="Poppins"/>
              </a:rPr>
              <a:t>• Proposed Hardware Target (Review-3 Scope): </a:t>
            </a:r>
            <a:r>
              <a:rPr sz="1200" b="0" i="0">
                <a:solidFill>
                  <a:srgbClr val="E2E8F0"/>
                </a:solidFill>
                <a:latin typeface="Poppins"/>
              </a:rPr>
              <a:t>In-situ 1-bit zero comparator asserting multiplier clock-enable (CE = 0). Actual FPGA power reduction and timing will be measured post-synthesis.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475488"/>
            <a:ext cx="16459200" cy="553998"/>
          </a:xfrm>
          <a:prstGeom prst="rect">
            <a:avLst/>
          </a:prstGeom>
          <a:noFill/>
        </p:spPr>
        <p:txBody>
          <a:bodyPr wrap="square" lIns="0" tIns="0" rIns="0" bIns="0">
            <a:spAutoFit/>
          </a:bodyPr>
          <a:lstStyle/>
          <a:p>
            <a:r>
              <a:rPr sz="3600" b="1" i="0">
                <a:solidFill>
                  <a:srgbClr val="0F172A"/>
                </a:solidFill>
                <a:latin typeface="Poppins"/>
              </a:rPr>
              <a:t>Fine-Grained Localization &amp; The Accuracy Cliff Phenomenon</a:t>
            </a:r>
          </a:p>
        </p:txBody>
      </p:sp>
      <p:sp>
        <p:nvSpPr>
          <p:cNvPr id="3" name="Rectangle 2"/>
          <p:cNvSpPr/>
          <p:nvPr/>
        </p:nvSpPr>
        <p:spPr>
          <a:xfrm>
            <a:off x="914400" y="9646920"/>
            <a:ext cx="16459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 name="TextBox 3"/>
          <p:cNvSpPr txBox="1"/>
          <p:nvPr/>
        </p:nvSpPr>
        <p:spPr>
          <a:xfrm>
            <a:off x="914400" y="9738360"/>
            <a:ext cx="13239202" cy="184666"/>
          </a:xfrm>
          <a:prstGeom prst="rect">
            <a:avLst/>
          </a:prstGeom>
          <a:noFill/>
        </p:spPr>
        <p:txBody>
          <a:bodyPr wrap="none" lIns="0" tIns="0" rIns="0" bIns="0">
            <a:spAutoFit/>
          </a:bodyPr>
          <a:lstStyle/>
          <a:p>
            <a:r>
              <a:rPr sz="1200" b="0" i="0">
                <a:solidFill>
                  <a:srgbClr val="64748B"/>
                </a:solidFill>
                <a:latin typeface="Poppins"/>
              </a:rPr>
              <a:t>Project-1 Review-2  |  MNE_PANEL_3  |  Venue: TT-237-A  |  SENSE, VIT Vellore                        Department of Electronics and Communication Engineering                        </a:t>
            </a:r>
            <a:r>
              <a:rPr sz="1200" b="1" i="0">
                <a:solidFill>
                  <a:srgbClr val="0284C7"/>
                </a:solidFill>
                <a:latin typeface="Poppins"/>
              </a:rPr>
              <a:t>Slide 12 of 18</a:t>
            </a:r>
          </a:p>
        </p:txBody>
      </p:sp>
      <p:sp>
        <p:nvSpPr>
          <p:cNvPr id="5" name="Rounded Rectangle 4"/>
          <p:cNvSpPr/>
          <p:nvPr/>
        </p:nvSpPr>
        <p:spPr>
          <a:xfrm>
            <a:off x="914400" y="1325880"/>
            <a:ext cx="8412480" cy="8092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pic>
        <p:nvPicPr>
          <p:cNvPr id="6" name="Picture 5" descr="image.png"/>
          <p:cNvPicPr>
            <a:picLocks noChangeAspect="1"/>
          </p:cNvPicPr>
          <p:nvPr/>
        </p:nvPicPr>
        <p:blipFill>
          <a:blip r:embed="rId2"/>
          <a:stretch>
            <a:fillRect/>
          </a:stretch>
        </p:blipFill>
        <p:spPr>
          <a:xfrm>
            <a:off x="457361" y="1252728"/>
            <a:ext cx="9006679" cy="5833872"/>
          </a:xfrm>
          <a:prstGeom prst="rect">
            <a:avLst/>
          </a:prstGeom>
        </p:spPr>
      </p:pic>
      <p:sp>
        <p:nvSpPr>
          <p:cNvPr id="7" name="Rounded Rectangle 6"/>
          <p:cNvSpPr/>
          <p:nvPr/>
        </p:nvSpPr>
        <p:spPr>
          <a:xfrm>
            <a:off x="1097280" y="7086600"/>
            <a:ext cx="8046720" cy="2331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01168" tIns="137160" rIns="201168" rtlCol="0" anchor="t"/>
          <a:lstStyle/>
          <a:p>
            <a:pPr algn="ctr"/>
            <a:r>
              <a:rPr sz="1600" b="1" i="0">
                <a:solidFill>
                  <a:srgbClr val="0284C7"/>
                </a:solidFill>
                <a:latin typeface="Poppins"/>
              </a:rPr>
              <a:t>• Fine-Grained Zoom Protocol: </a:t>
            </a:r>
            <a:r>
              <a:rPr sz="1600" b="0" i="0">
                <a:solidFill>
                  <a:srgbClr val="334155"/>
                </a:solidFill>
                <a:latin typeface="Poppins"/>
              </a:rPr>
              <a:t>Evaluated at uniform Δτ = 0.0005 step increments across 3,442 validation images. The evaluated checkpoint shows a sharp accuracy decline in this threshold region ([0.0160, 0.0165]).</a:t>
            </a:r>
          </a:p>
        </p:txBody>
      </p:sp>
      <p:sp>
        <p:nvSpPr>
          <p:cNvPr id="8" name="Rounded Rectangle 7"/>
          <p:cNvSpPr/>
          <p:nvPr/>
        </p:nvSpPr>
        <p:spPr>
          <a:xfrm>
            <a:off x="9601200" y="1325880"/>
            <a:ext cx="7772400" cy="5303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219456" rIns="274320" rtlCol="0" anchor="t"/>
          <a:lstStyle/>
          <a:p>
            <a:pPr algn="l"/>
            <a:r>
              <a:rPr sz="2000" b="1" i="0">
                <a:solidFill>
                  <a:srgbClr val="0F172A"/>
                </a:solidFill>
                <a:latin typeface="Poppins"/>
              </a:rPr>
              <a:t>Three Documented Behavioral Regimes</a:t>
            </a:r>
          </a:p>
          <a:p>
            <a:pPr algn="l">
              <a:spcBef>
                <a:spcPts val="700"/>
              </a:spcBef>
            </a:pPr>
            <a:r>
              <a:rPr b="1" i="0">
                <a:solidFill>
                  <a:srgbClr val="059669"/>
                </a:solidFill>
                <a:latin typeface="Poppins"/>
              </a:rPr>
              <a:t>1. Invariant Plateau &amp; Buffer (τ ≤ 0.0105)</a:t>
            </a:r>
          </a:p>
          <a:p>
            <a:pPr algn="l">
              <a:spcBef>
                <a:spcPts val="250"/>
              </a:spcBef>
            </a:pPr>
            <a:r>
              <a:rPr sz="1600" b="0" i="0">
                <a:solidFill>
                  <a:srgbClr val="334155"/>
                </a:solidFill>
                <a:latin typeface="Poppins"/>
              </a:rPr>
              <a:t>Validation accuracy holds rock-solid at 94.92% (at τ = 10⁻³) with minimal change down to 94.48% at τ = 0.0105 (10.30% sparsity).</a:t>
            </a:r>
          </a:p>
          <a:p>
            <a:pPr algn="l">
              <a:spcBef>
                <a:spcPts val="700"/>
              </a:spcBef>
            </a:pPr>
            <a:r>
              <a:rPr b="1" i="0">
                <a:solidFill>
                  <a:srgbClr val="D97706"/>
                </a:solidFill>
                <a:latin typeface="Poppins"/>
              </a:rPr>
              <a:t>2. Linear Degradation Window (0.0110 ≤ τ ≤ 0.0160)</a:t>
            </a:r>
          </a:p>
          <a:p>
            <a:pPr algn="l">
              <a:spcBef>
                <a:spcPts val="250"/>
              </a:spcBef>
            </a:pPr>
            <a:r>
              <a:rPr sz="1600" b="0" i="0">
                <a:solidFill>
                  <a:srgbClr val="334155"/>
                </a:solidFill>
                <a:latin typeface="Poppins"/>
              </a:rPr>
              <a:t>Controlled linear decline from 93.06% down to 87.86% (10.74% to 14.99% sparsity) as non-critical filters are progressively zeroed.</a:t>
            </a:r>
          </a:p>
          <a:p>
            <a:pPr algn="l">
              <a:spcBef>
                <a:spcPts val="700"/>
              </a:spcBef>
            </a:pPr>
            <a:r>
              <a:rPr b="1" i="0">
                <a:solidFill>
                  <a:srgbClr val="E11D48"/>
                </a:solidFill>
                <a:latin typeface="Poppins"/>
              </a:rPr>
              <a:t>3. Critical Knife-Edge Cliff (τ ∈ [0.0160, 0.0165])</a:t>
            </a:r>
          </a:p>
          <a:p>
            <a:pPr algn="l">
              <a:spcBef>
                <a:spcPts val="250"/>
              </a:spcBef>
            </a:pPr>
            <a:r>
              <a:rPr sz="1600" b="0" i="0">
                <a:solidFill>
                  <a:srgbClr val="334155"/>
                </a:solidFill>
                <a:latin typeface="Poppins"/>
              </a:rPr>
              <a:t>Catastrophic collapse: drops by -26.67 percentage points (87.86% → 61.19%) upon zeroing 4,588 additional weights (0.42% of parameters). The observed decline suggests that some parameters removed in this range are important to classification.</a:t>
            </a:r>
          </a:p>
        </p:txBody>
      </p:sp>
      <p:sp>
        <p:nvSpPr>
          <p:cNvPr id="9" name="Rounded Rectangle 8"/>
          <p:cNvSpPr/>
          <p:nvPr/>
        </p:nvSpPr>
        <p:spPr>
          <a:xfrm>
            <a:off x="9601200" y="6812280"/>
            <a:ext cx="7772400" cy="2606040"/>
          </a:xfrm>
          <a:prstGeom prst="roundRect">
            <a:avLst/>
          </a:prstGeom>
          <a:solidFill>
            <a:srgbClr val="182538"/>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square" lIns="256032" tIns="201168" rIns="256032" rtlCol="0" anchor="t"/>
          <a:lstStyle/>
          <a:p>
            <a:pPr algn="l"/>
            <a:r>
              <a:rPr sz="2000" b="1" i="0" dirty="0">
                <a:solidFill>
                  <a:srgbClr val="38BDF8"/>
                </a:solidFill>
                <a:latin typeface="Poppins"/>
              </a:rPr>
              <a:t> 16× Numerical Threshold Margin</a:t>
            </a:r>
          </a:p>
          <a:p>
            <a:pPr algn="l">
              <a:spcBef>
                <a:spcPts val="600"/>
              </a:spcBef>
            </a:pPr>
            <a:r>
              <a:rPr sz="1600" b="0" i="0" dirty="0">
                <a:solidFill>
                  <a:srgbClr val="F1F5F9"/>
                </a:solidFill>
                <a:latin typeface="Poppins"/>
              </a:rPr>
              <a:t>Our chosen operating threshold (τ = 10⁻³ = 0.001) is 16× below the observed validation accuracy-cliff breakpoint (τ = 0.0160), providing a conservative numerical operating margin for the evaluated model. Environmental variation tolerance and post-quantization robustness will be evaluated in subsequent hardware phases.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475488"/>
            <a:ext cx="16459200" cy="492443"/>
          </a:xfrm>
          <a:prstGeom prst="rect">
            <a:avLst/>
          </a:prstGeom>
          <a:noFill/>
        </p:spPr>
        <p:txBody>
          <a:bodyPr wrap="square" lIns="0" tIns="0" rIns="0" bIns="0">
            <a:spAutoFit/>
          </a:bodyPr>
          <a:lstStyle/>
          <a:p>
            <a:r>
              <a:rPr sz="3200" b="1" i="0">
                <a:solidFill>
                  <a:srgbClr val="0F172A"/>
                </a:solidFill>
                <a:latin typeface="Poppins"/>
              </a:rPr>
              <a:t>Held-Out Test Set Audit &amp; Full Inference Invariance Verification</a:t>
            </a:r>
          </a:p>
        </p:txBody>
      </p:sp>
      <p:sp>
        <p:nvSpPr>
          <p:cNvPr id="3" name="Rectangle 2"/>
          <p:cNvSpPr/>
          <p:nvPr/>
        </p:nvSpPr>
        <p:spPr>
          <a:xfrm>
            <a:off x="914400" y="9646920"/>
            <a:ext cx="16459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 name="TextBox 3"/>
          <p:cNvSpPr txBox="1"/>
          <p:nvPr/>
        </p:nvSpPr>
        <p:spPr>
          <a:xfrm>
            <a:off x="914400" y="9738360"/>
            <a:ext cx="12051376" cy="169277"/>
          </a:xfrm>
          <a:prstGeom prst="rect">
            <a:avLst/>
          </a:prstGeom>
          <a:noFill/>
        </p:spPr>
        <p:txBody>
          <a:bodyPr wrap="none" lIns="0" tIns="0" rIns="0" bIns="0">
            <a:spAutoFit/>
          </a:bodyPr>
          <a:lstStyle/>
          <a:p>
            <a:r>
              <a:rPr sz="1100" b="0" i="0">
                <a:solidFill>
                  <a:srgbClr val="64748B"/>
                </a:solidFill>
                <a:latin typeface="Poppins"/>
              </a:rPr>
              <a:t>Project-1 Review-2  |  MNE_PANEL_3  |  Venue: TT-237-A  |  SENSE, VIT Vellore                        Department of Electronics and Communication Engineering                        </a:t>
            </a:r>
            <a:r>
              <a:rPr sz="1100" b="1" i="0">
                <a:solidFill>
                  <a:srgbClr val="0284C7"/>
                </a:solidFill>
                <a:latin typeface="Poppins"/>
              </a:rPr>
              <a:t>Slide 13 of 18</a:t>
            </a:r>
          </a:p>
        </p:txBody>
      </p:sp>
      <p:sp>
        <p:nvSpPr>
          <p:cNvPr id="5" name="Rounded Rectangle 4"/>
          <p:cNvSpPr/>
          <p:nvPr/>
        </p:nvSpPr>
        <p:spPr>
          <a:xfrm>
            <a:off x="914400" y="1325880"/>
            <a:ext cx="804672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37160" rIns="228600" rtlCol="0" anchor="t"/>
          <a:lstStyle/>
          <a:p>
            <a:pPr algn="l"/>
            <a:r>
              <a:rPr sz="1600" b="1" i="0">
                <a:solidFill>
                  <a:srgbClr val="0F172A"/>
                </a:solidFill>
                <a:latin typeface="Poppins"/>
              </a:rPr>
              <a:t>Evaluation Protocol &amp; Final Test Set Audit</a:t>
            </a:r>
          </a:p>
          <a:p>
            <a:pPr algn="l">
              <a:spcBef>
                <a:spcPts val="300"/>
              </a:spcBef>
            </a:pPr>
            <a:r>
              <a:rPr sz="1100" b="0" i="0">
                <a:solidFill>
                  <a:srgbClr val="334155"/>
                </a:solidFill>
                <a:latin typeface="Poppins"/>
              </a:rPr>
              <a:t>The validation set was used to select the operating threshold (τ = 10⁻³). The selected zeroed model was then evaluated on 3,551 independent test images. The original and zeroed models produced identical predictions on all evaluated test samples, maintaining 88.54% test accuracy.</a:t>
            </a:r>
          </a:p>
        </p:txBody>
      </p:sp>
      <p:sp>
        <p:nvSpPr>
          <p:cNvPr id="6" name="Rounded Rectangle 5"/>
          <p:cNvSpPr/>
          <p:nvPr/>
        </p:nvSpPr>
        <p:spPr>
          <a:xfrm>
            <a:off x="914400" y="2834640"/>
            <a:ext cx="8046720" cy="15544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ctr"/>
            <a:r>
              <a:rPr sz="3200" b="1" i="0">
                <a:solidFill>
                  <a:srgbClr val="059669"/>
                </a:solidFill>
                <a:latin typeface="Poppins"/>
              </a:rPr>
              <a:t>0 / 3,551 Changes</a:t>
            </a:r>
          </a:p>
          <a:p>
            <a:pPr algn="ctr">
              <a:spcBef>
                <a:spcPts val="300"/>
              </a:spcBef>
            </a:pPr>
            <a:r>
              <a:rPr sz="1400" b="1" i="0">
                <a:solidFill>
                  <a:srgbClr val="0F172A"/>
                </a:solidFill>
                <a:latin typeface="Poppins"/>
              </a:rPr>
              <a:t>Observed Test-Set Invariance</a:t>
            </a:r>
          </a:p>
          <a:p>
            <a:pPr algn="ctr">
              <a:spcBef>
                <a:spcPts val="200"/>
              </a:spcBef>
            </a:pPr>
            <a:r>
              <a:rPr sz="1050" b="0" i="0">
                <a:solidFill>
                  <a:srgbClr val="64748B"/>
                </a:solidFill>
                <a:latin typeface="Poppins"/>
              </a:rPr>
              <a:t>Test Acc: 88.54% (Pristine) == 88.54% (Zeroed) on evaluated V5 checkpoint</a:t>
            </a:r>
          </a:p>
        </p:txBody>
      </p:sp>
      <p:graphicFrame>
        <p:nvGraphicFramePr>
          <p:cNvPr id="7" name="Table 6"/>
          <p:cNvGraphicFramePr>
            <a:graphicFrameLocks noGrp="1"/>
          </p:cNvGraphicFramePr>
          <p:nvPr/>
        </p:nvGraphicFramePr>
        <p:xfrm>
          <a:off x="914400" y="4526280"/>
          <a:ext cx="8046720" cy="320040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gridCol w="1737360">
                  <a:extLst>
                    <a:ext uri="{9D8B030D-6E8A-4147-A177-3AD203B41FA5}">
                      <a16:colId xmlns:a16="http://schemas.microsoft.com/office/drawing/2014/main" val="20006"/>
                    </a:ext>
                  </a:extLst>
                </a:gridCol>
              </a:tblGrid>
              <a:tr h="533400">
                <a:tc>
                  <a:txBody>
                    <a:bodyPr/>
                    <a:lstStyle/>
                    <a:p>
                      <a:pPr algn="l"/>
                      <a:r>
                        <a:rPr sz="1050" b="1" i="0">
                          <a:solidFill>
                            <a:srgbClr val="FFFFFF"/>
                          </a:solidFill>
                          <a:latin typeface="Poppins"/>
                        </a:rPr>
                        <a:t>Test Defect Class</a:t>
                      </a:r>
                    </a:p>
                  </a:txBody>
                  <a:tcPr marL="128016" marR="128016" marT="73152" marB="73152" anchor="ctr">
                    <a:solidFill>
                      <a:srgbClr val="0F172A"/>
                    </a:solidFill>
                  </a:tcPr>
                </a:tc>
                <a:tc>
                  <a:txBody>
                    <a:bodyPr/>
                    <a:lstStyle/>
                    <a:p>
                      <a:pPr algn="l"/>
                      <a:r>
                        <a:rPr sz="1050" b="1" i="0">
                          <a:solidFill>
                            <a:srgbClr val="FFFFFF"/>
                          </a:solidFill>
                          <a:latin typeface="Poppins"/>
                        </a:rPr>
                        <a:t>Samples</a:t>
                      </a:r>
                    </a:p>
                  </a:txBody>
                  <a:tcPr marL="128016" marR="128016" marT="73152" marB="73152" anchor="ctr">
                    <a:solidFill>
                      <a:srgbClr val="0F172A"/>
                    </a:solidFill>
                  </a:tcPr>
                </a:tc>
                <a:tc>
                  <a:txBody>
                    <a:bodyPr/>
                    <a:lstStyle/>
                    <a:p>
                      <a:pPr algn="l"/>
                      <a:r>
                        <a:rPr sz="1050" b="1" i="0">
                          <a:solidFill>
                            <a:srgbClr val="FFFFFF"/>
                          </a:solidFill>
                          <a:latin typeface="Poppins"/>
                        </a:rPr>
                        <a:t>Share</a:t>
                      </a:r>
                    </a:p>
                  </a:txBody>
                  <a:tcPr marL="128016" marR="128016" marT="73152" marB="73152" anchor="ctr">
                    <a:solidFill>
                      <a:srgbClr val="0F172A"/>
                    </a:solidFill>
                  </a:tcPr>
                </a:tc>
                <a:tc>
                  <a:txBody>
                    <a:bodyPr/>
                    <a:lstStyle/>
                    <a:p>
                      <a:pPr algn="l"/>
                      <a:r>
                        <a:rPr sz="1050" b="1" i="0">
                          <a:solidFill>
                            <a:srgbClr val="FFFFFF"/>
                          </a:solidFill>
                          <a:latin typeface="Poppins"/>
                        </a:rPr>
                        <a:t>Precision</a:t>
                      </a:r>
                    </a:p>
                  </a:txBody>
                  <a:tcPr marL="128016" marR="128016" marT="73152" marB="73152" anchor="ctr">
                    <a:solidFill>
                      <a:srgbClr val="0F172A"/>
                    </a:solidFill>
                  </a:tcPr>
                </a:tc>
                <a:tc>
                  <a:txBody>
                    <a:bodyPr/>
                    <a:lstStyle/>
                    <a:p>
                      <a:pPr algn="l"/>
                      <a:r>
                        <a:rPr sz="1050" b="1" i="0">
                          <a:solidFill>
                            <a:srgbClr val="FFFFFF"/>
                          </a:solidFill>
                          <a:latin typeface="Poppins"/>
                        </a:rPr>
                        <a:t>Recall</a:t>
                      </a:r>
                    </a:p>
                  </a:txBody>
                  <a:tcPr marL="128016" marR="128016" marT="73152" marB="73152" anchor="ctr">
                    <a:solidFill>
                      <a:srgbClr val="0F172A"/>
                    </a:solidFill>
                  </a:tcPr>
                </a:tc>
                <a:tc>
                  <a:txBody>
                    <a:bodyPr/>
                    <a:lstStyle/>
                    <a:p>
                      <a:pPr algn="l"/>
                      <a:r>
                        <a:rPr sz="1050" b="1" i="0">
                          <a:solidFill>
                            <a:srgbClr val="FFFFFF"/>
                          </a:solidFill>
                          <a:latin typeface="Poppins"/>
                        </a:rPr>
                        <a:t>F1-Score</a:t>
                      </a:r>
                    </a:p>
                  </a:txBody>
                  <a:tcPr marL="128016" marR="128016" marT="73152" marB="73152" anchor="ctr">
                    <a:solidFill>
                      <a:srgbClr val="0F172A"/>
                    </a:solidFill>
                  </a:tcPr>
                </a:tc>
                <a:tc>
                  <a:txBody>
                    <a:bodyPr/>
                    <a:lstStyle/>
                    <a:p>
                      <a:pPr algn="l"/>
                      <a:r>
                        <a:rPr sz="1050" b="1" i="0">
                          <a:solidFill>
                            <a:srgbClr val="FFFFFF"/>
                          </a:solidFill>
                          <a:latin typeface="Poppins"/>
                        </a:rPr>
                        <a:t>Prediction Drift</a:t>
                      </a:r>
                    </a:p>
                  </a:txBody>
                  <a:tcPr marL="128016" marR="128016" marT="73152" marB="73152" anchor="ctr">
                    <a:solidFill>
                      <a:srgbClr val="0F172A"/>
                    </a:solidFill>
                  </a:tcPr>
                </a:tc>
                <a:extLst>
                  <a:ext uri="{0D108BD9-81ED-4DB2-BD59-A6C34878D82A}">
                    <a16:rowId xmlns:a16="http://schemas.microsoft.com/office/drawing/2014/main" val="10000"/>
                  </a:ext>
                </a:extLst>
              </a:tr>
              <a:tr h="533400">
                <a:tc>
                  <a:txBody>
                    <a:bodyPr/>
                    <a:lstStyle/>
                    <a:p>
                      <a:pPr algn="l"/>
                      <a:r>
                        <a:rPr sz="980" b="1" i="0">
                          <a:solidFill>
                            <a:srgbClr val="0F172A"/>
                          </a:solidFill>
                          <a:latin typeface="Poppins"/>
                        </a:rPr>
                        <a:t>Bird-drop</a:t>
                      </a:r>
                    </a:p>
                  </a:txBody>
                  <a:tcPr marL="128016" marR="128016" marT="54864" marB="54864" anchor="ctr">
                    <a:solidFill>
                      <a:srgbClr val="FFFFFF"/>
                    </a:solidFill>
                  </a:tcPr>
                </a:tc>
                <a:tc>
                  <a:txBody>
                    <a:bodyPr/>
                    <a:lstStyle/>
                    <a:p>
                      <a:pPr algn="l"/>
                      <a:r>
                        <a:rPr sz="980" b="0" i="0">
                          <a:solidFill>
                            <a:srgbClr val="334155"/>
                          </a:solidFill>
                          <a:latin typeface="Poppins"/>
                        </a:rPr>
                        <a:t>832</a:t>
                      </a:r>
                    </a:p>
                  </a:txBody>
                  <a:tcPr marL="128016" marR="128016" marT="54864" marB="54864" anchor="ctr">
                    <a:solidFill>
                      <a:srgbClr val="FFFFFF"/>
                    </a:solidFill>
                  </a:tcPr>
                </a:tc>
                <a:tc>
                  <a:txBody>
                    <a:bodyPr/>
                    <a:lstStyle/>
                    <a:p>
                      <a:pPr algn="l"/>
                      <a:r>
                        <a:rPr sz="980" b="0" i="0">
                          <a:solidFill>
                            <a:srgbClr val="334155"/>
                          </a:solidFill>
                          <a:latin typeface="Poppins"/>
                        </a:rPr>
                        <a:t>23.4%</a:t>
                      </a:r>
                    </a:p>
                  </a:txBody>
                  <a:tcPr marL="128016" marR="128016" marT="54864" marB="54864" anchor="ctr">
                    <a:solidFill>
                      <a:srgbClr val="FFFFFF"/>
                    </a:solidFill>
                  </a:tcPr>
                </a:tc>
                <a:tc>
                  <a:txBody>
                    <a:bodyPr/>
                    <a:lstStyle/>
                    <a:p>
                      <a:pPr algn="l"/>
                      <a:r>
                        <a:rPr sz="980" b="0" i="0">
                          <a:solidFill>
                            <a:srgbClr val="334155"/>
                          </a:solidFill>
                          <a:latin typeface="Poppins"/>
                        </a:rPr>
                        <a:t>0.8915</a:t>
                      </a:r>
                    </a:p>
                  </a:txBody>
                  <a:tcPr marL="128016" marR="128016" marT="54864" marB="54864" anchor="ctr">
                    <a:solidFill>
                      <a:srgbClr val="FFFFFF"/>
                    </a:solidFill>
                  </a:tcPr>
                </a:tc>
                <a:tc>
                  <a:txBody>
                    <a:bodyPr/>
                    <a:lstStyle/>
                    <a:p>
                      <a:pPr algn="l"/>
                      <a:r>
                        <a:rPr sz="980" b="0" i="0">
                          <a:solidFill>
                            <a:srgbClr val="334155"/>
                          </a:solidFill>
                          <a:latin typeface="Poppins"/>
                        </a:rPr>
                        <a:t>0.8293</a:t>
                      </a:r>
                    </a:p>
                  </a:txBody>
                  <a:tcPr marL="128016" marR="128016" marT="54864" marB="54864" anchor="ctr">
                    <a:solidFill>
                      <a:srgbClr val="FFFFFF"/>
                    </a:solidFill>
                  </a:tcPr>
                </a:tc>
                <a:tc>
                  <a:txBody>
                    <a:bodyPr/>
                    <a:lstStyle/>
                    <a:p>
                      <a:pPr algn="l"/>
                      <a:r>
                        <a:rPr sz="980" b="0" i="0">
                          <a:solidFill>
                            <a:srgbClr val="334155"/>
                          </a:solidFill>
                          <a:latin typeface="Poppins"/>
                        </a:rPr>
                        <a:t>0.8593</a:t>
                      </a:r>
                    </a:p>
                  </a:txBody>
                  <a:tcPr marL="128016" marR="128016" marT="54864" marB="54864" anchor="ctr">
                    <a:solidFill>
                      <a:srgbClr val="FFFFFF"/>
                    </a:solidFill>
                  </a:tcPr>
                </a:tc>
                <a:tc>
                  <a:txBody>
                    <a:bodyPr/>
                    <a:lstStyle/>
                    <a:p>
                      <a:pPr algn="l"/>
                      <a:r>
                        <a:rPr sz="980" b="0" i="0">
                          <a:solidFill>
                            <a:srgbClr val="334155"/>
                          </a:solidFill>
                          <a:latin typeface="Poppins"/>
                        </a:rPr>
                        <a:t>0 changes (100% Invariant)</a:t>
                      </a:r>
                    </a:p>
                  </a:txBody>
                  <a:tcPr marL="128016" marR="128016" marT="54864" marB="54864" anchor="ctr">
                    <a:solidFill>
                      <a:srgbClr val="FFFFFF"/>
                    </a:solidFill>
                  </a:tcPr>
                </a:tc>
                <a:extLst>
                  <a:ext uri="{0D108BD9-81ED-4DB2-BD59-A6C34878D82A}">
                    <a16:rowId xmlns:a16="http://schemas.microsoft.com/office/drawing/2014/main" val="10001"/>
                  </a:ext>
                </a:extLst>
              </a:tr>
              <a:tr h="533400">
                <a:tc>
                  <a:txBody>
                    <a:bodyPr/>
                    <a:lstStyle/>
                    <a:p>
                      <a:pPr algn="l"/>
                      <a:r>
                        <a:rPr sz="980" b="1" i="0">
                          <a:solidFill>
                            <a:srgbClr val="0F172A"/>
                          </a:solidFill>
                          <a:latin typeface="Poppins"/>
                        </a:rPr>
                        <a:t>Clean Panel</a:t>
                      </a:r>
                    </a:p>
                  </a:txBody>
                  <a:tcPr marL="128016" marR="128016" marT="54864" marB="54864" anchor="ctr">
                    <a:solidFill>
                      <a:srgbClr val="F8FAFC"/>
                    </a:solidFill>
                  </a:tcPr>
                </a:tc>
                <a:tc>
                  <a:txBody>
                    <a:bodyPr/>
                    <a:lstStyle/>
                    <a:p>
                      <a:pPr algn="l"/>
                      <a:r>
                        <a:rPr sz="980" b="0" i="0">
                          <a:solidFill>
                            <a:srgbClr val="334155"/>
                          </a:solidFill>
                          <a:latin typeface="Poppins"/>
                        </a:rPr>
                        <a:t>1,130</a:t>
                      </a:r>
                    </a:p>
                  </a:txBody>
                  <a:tcPr marL="128016" marR="128016" marT="54864" marB="54864" anchor="ctr">
                    <a:solidFill>
                      <a:srgbClr val="F8FAFC"/>
                    </a:solidFill>
                  </a:tcPr>
                </a:tc>
                <a:tc>
                  <a:txBody>
                    <a:bodyPr/>
                    <a:lstStyle/>
                    <a:p>
                      <a:pPr algn="l"/>
                      <a:r>
                        <a:rPr sz="980" b="0" i="0">
                          <a:solidFill>
                            <a:srgbClr val="334155"/>
                          </a:solidFill>
                          <a:latin typeface="Poppins"/>
                        </a:rPr>
                        <a:t>31.8%</a:t>
                      </a:r>
                    </a:p>
                  </a:txBody>
                  <a:tcPr marL="128016" marR="128016" marT="54864" marB="54864" anchor="ctr">
                    <a:solidFill>
                      <a:srgbClr val="F8FAFC"/>
                    </a:solidFill>
                  </a:tcPr>
                </a:tc>
                <a:tc>
                  <a:txBody>
                    <a:bodyPr/>
                    <a:lstStyle/>
                    <a:p>
                      <a:pPr algn="l"/>
                      <a:r>
                        <a:rPr sz="980" b="0" i="0">
                          <a:solidFill>
                            <a:srgbClr val="334155"/>
                          </a:solidFill>
                          <a:latin typeface="Poppins"/>
                        </a:rPr>
                        <a:t>0.8888</a:t>
                      </a:r>
                    </a:p>
                  </a:txBody>
                  <a:tcPr marL="128016" marR="128016" marT="54864" marB="54864" anchor="ctr">
                    <a:solidFill>
                      <a:srgbClr val="F8FAFC"/>
                    </a:solidFill>
                  </a:tcPr>
                </a:tc>
                <a:tc>
                  <a:txBody>
                    <a:bodyPr/>
                    <a:lstStyle/>
                    <a:p>
                      <a:pPr algn="l"/>
                      <a:r>
                        <a:rPr sz="980" b="0" i="0">
                          <a:solidFill>
                            <a:srgbClr val="334155"/>
                          </a:solidFill>
                          <a:latin typeface="Poppins"/>
                        </a:rPr>
                        <a:t>0.9690</a:t>
                      </a:r>
                    </a:p>
                  </a:txBody>
                  <a:tcPr marL="128016" marR="128016" marT="54864" marB="54864" anchor="ctr">
                    <a:solidFill>
                      <a:srgbClr val="F8FAFC"/>
                    </a:solidFill>
                  </a:tcPr>
                </a:tc>
                <a:tc>
                  <a:txBody>
                    <a:bodyPr/>
                    <a:lstStyle/>
                    <a:p>
                      <a:pPr algn="l"/>
                      <a:r>
                        <a:rPr sz="980" b="0" i="0">
                          <a:solidFill>
                            <a:srgbClr val="334155"/>
                          </a:solidFill>
                          <a:latin typeface="Poppins"/>
                        </a:rPr>
                        <a:t>0.9272</a:t>
                      </a:r>
                    </a:p>
                  </a:txBody>
                  <a:tcPr marL="128016" marR="128016" marT="54864" marB="54864" anchor="ctr">
                    <a:solidFill>
                      <a:srgbClr val="F8FAFC"/>
                    </a:solidFill>
                  </a:tcPr>
                </a:tc>
                <a:tc>
                  <a:txBody>
                    <a:bodyPr/>
                    <a:lstStyle/>
                    <a:p>
                      <a:pPr algn="l"/>
                      <a:r>
                        <a:rPr sz="980" b="0" i="0">
                          <a:solidFill>
                            <a:srgbClr val="334155"/>
                          </a:solidFill>
                          <a:latin typeface="Poppins"/>
                        </a:rPr>
                        <a:t>0 changes (100% Invariant)</a:t>
                      </a:r>
                    </a:p>
                  </a:txBody>
                  <a:tcPr marL="128016" marR="128016" marT="54864" marB="54864" anchor="ctr">
                    <a:solidFill>
                      <a:srgbClr val="F8FAFC"/>
                    </a:solidFill>
                  </a:tcPr>
                </a:tc>
                <a:extLst>
                  <a:ext uri="{0D108BD9-81ED-4DB2-BD59-A6C34878D82A}">
                    <a16:rowId xmlns:a16="http://schemas.microsoft.com/office/drawing/2014/main" val="10002"/>
                  </a:ext>
                </a:extLst>
              </a:tr>
              <a:tr h="533400">
                <a:tc>
                  <a:txBody>
                    <a:bodyPr/>
                    <a:lstStyle/>
                    <a:p>
                      <a:pPr algn="l"/>
                      <a:r>
                        <a:rPr sz="980" b="1" i="0">
                          <a:solidFill>
                            <a:srgbClr val="0F172A"/>
                          </a:solidFill>
                          <a:latin typeface="Poppins"/>
                        </a:rPr>
                        <a:t>Dusty Layer</a:t>
                      </a:r>
                    </a:p>
                  </a:txBody>
                  <a:tcPr marL="128016" marR="128016" marT="54864" marB="54864" anchor="ctr">
                    <a:solidFill>
                      <a:srgbClr val="FFFFFF"/>
                    </a:solidFill>
                  </a:tcPr>
                </a:tc>
                <a:tc>
                  <a:txBody>
                    <a:bodyPr/>
                    <a:lstStyle/>
                    <a:p>
                      <a:pPr algn="l"/>
                      <a:r>
                        <a:rPr sz="980" b="0" i="0">
                          <a:solidFill>
                            <a:srgbClr val="334155"/>
                          </a:solidFill>
                          <a:latin typeface="Poppins"/>
                        </a:rPr>
                        <a:t>1,068</a:t>
                      </a:r>
                    </a:p>
                  </a:txBody>
                  <a:tcPr marL="128016" marR="128016" marT="54864" marB="54864" anchor="ctr">
                    <a:solidFill>
                      <a:srgbClr val="FFFFFF"/>
                    </a:solidFill>
                  </a:tcPr>
                </a:tc>
                <a:tc>
                  <a:txBody>
                    <a:bodyPr/>
                    <a:lstStyle/>
                    <a:p>
                      <a:pPr algn="l"/>
                      <a:r>
                        <a:rPr sz="980" b="0" i="0">
                          <a:solidFill>
                            <a:srgbClr val="334155"/>
                          </a:solidFill>
                          <a:latin typeface="Poppins"/>
                        </a:rPr>
                        <a:t>30.1%</a:t>
                      </a:r>
                    </a:p>
                  </a:txBody>
                  <a:tcPr marL="128016" marR="128016" marT="54864" marB="54864" anchor="ctr">
                    <a:solidFill>
                      <a:srgbClr val="FFFFFF"/>
                    </a:solidFill>
                  </a:tcPr>
                </a:tc>
                <a:tc>
                  <a:txBody>
                    <a:bodyPr/>
                    <a:lstStyle/>
                    <a:p>
                      <a:pPr algn="l"/>
                      <a:r>
                        <a:rPr sz="980" b="0" i="0">
                          <a:solidFill>
                            <a:srgbClr val="334155"/>
                          </a:solidFill>
                          <a:latin typeface="Poppins"/>
                        </a:rPr>
                        <a:t>0.8623</a:t>
                      </a:r>
                    </a:p>
                  </a:txBody>
                  <a:tcPr marL="128016" marR="128016" marT="54864" marB="54864" anchor="ctr">
                    <a:solidFill>
                      <a:srgbClr val="FFFFFF"/>
                    </a:solidFill>
                  </a:tcPr>
                </a:tc>
                <a:tc>
                  <a:txBody>
                    <a:bodyPr/>
                    <a:lstStyle/>
                    <a:p>
                      <a:pPr algn="l"/>
                      <a:r>
                        <a:rPr sz="980" b="0" i="0">
                          <a:solidFill>
                            <a:srgbClr val="334155"/>
                          </a:solidFill>
                          <a:latin typeface="Poppins"/>
                        </a:rPr>
                        <a:t>0.8792</a:t>
                      </a:r>
                    </a:p>
                  </a:txBody>
                  <a:tcPr marL="128016" marR="128016" marT="54864" marB="54864" anchor="ctr">
                    <a:solidFill>
                      <a:srgbClr val="FFFFFF"/>
                    </a:solidFill>
                  </a:tcPr>
                </a:tc>
                <a:tc>
                  <a:txBody>
                    <a:bodyPr/>
                    <a:lstStyle/>
                    <a:p>
                      <a:pPr algn="l"/>
                      <a:r>
                        <a:rPr sz="980" b="0" i="0">
                          <a:solidFill>
                            <a:srgbClr val="334155"/>
                          </a:solidFill>
                          <a:latin typeface="Poppins"/>
                        </a:rPr>
                        <a:t>0.8707</a:t>
                      </a:r>
                    </a:p>
                  </a:txBody>
                  <a:tcPr marL="128016" marR="128016" marT="54864" marB="54864" anchor="ctr">
                    <a:solidFill>
                      <a:srgbClr val="FFFFFF"/>
                    </a:solidFill>
                  </a:tcPr>
                </a:tc>
                <a:tc>
                  <a:txBody>
                    <a:bodyPr/>
                    <a:lstStyle/>
                    <a:p>
                      <a:pPr algn="l"/>
                      <a:r>
                        <a:rPr sz="980" b="0" i="0">
                          <a:solidFill>
                            <a:srgbClr val="334155"/>
                          </a:solidFill>
                          <a:latin typeface="Poppins"/>
                        </a:rPr>
                        <a:t>0 changes (100% Invariant)</a:t>
                      </a:r>
                    </a:p>
                  </a:txBody>
                  <a:tcPr marL="128016" marR="128016" marT="54864" marB="54864" anchor="ctr">
                    <a:solidFill>
                      <a:srgbClr val="FFFFFF"/>
                    </a:solidFill>
                  </a:tcPr>
                </a:tc>
                <a:extLst>
                  <a:ext uri="{0D108BD9-81ED-4DB2-BD59-A6C34878D82A}">
                    <a16:rowId xmlns:a16="http://schemas.microsoft.com/office/drawing/2014/main" val="10003"/>
                  </a:ext>
                </a:extLst>
              </a:tr>
              <a:tr h="533400">
                <a:tc>
                  <a:txBody>
                    <a:bodyPr/>
                    <a:lstStyle/>
                    <a:p>
                      <a:pPr algn="l"/>
                      <a:r>
                        <a:rPr sz="980" b="1" i="0">
                          <a:solidFill>
                            <a:srgbClr val="0F172A"/>
                          </a:solidFill>
                          <a:latin typeface="Poppins"/>
                        </a:rPr>
                        <a:t>Physical Damage</a:t>
                      </a:r>
                    </a:p>
                  </a:txBody>
                  <a:tcPr marL="128016" marR="128016" marT="54864" marB="54864" anchor="ctr">
                    <a:solidFill>
                      <a:srgbClr val="F8FAFC"/>
                    </a:solidFill>
                  </a:tcPr>
                </a:tc>
                <a:tc>
                  <a:txBody>
                    <a:bodyPr/>
                    <a:lstStyle/>
                    <a:p>
                      <a:pPr algn="l"/>
                      <a:r>
                        <a:rPr sz="980" b="0" i="0">
                          <a:solidFill>
                            <a:srgbClr val="334155"/>
                          </a:solidFill>
                          <a:latin typeface="Poppins"/>
                        </a:rPr>
                        <a:t>521</a:t>
                      </a:r>
                    </a:p>
                  </a:txBody>
                  <a:tcPr marL="128016" marR="128016" marT="54864" marB="54864" anchor="ctr">
                    <a:solidFill>
                      <a:srgbClr val="F8FAFC"/>
                    </a:solidFill>
                  </a:tcPr>
                </a:tc>
                <a:tc>
                  <a:txBody>
                    <a:bodyPr/>
                    <a:lstStyle/>
                    <a:p>
                      <a:pPr algn="l"/>
                      <a:r>
                        <a:rPr sz="980" b="0" i="0">
                          <a:solidFill>
                            <a:srgbClr val="334155"/>
                          </a:solidFill>
                          <a:latin typeface="Poppins"/>
                        </a:rPr>
                        <a:t>14.7%</a:t>
                      </a:r>
                    </a:p>
                  </a:txBody>
                  <a:tcPr marL="128016" marR="128016" marT="54864" marB="54864" anchor="ctr">
                    <a:solidFill>
                      <a:srgbClr val="F8FAFC"/>
                    </a:solidFill>
                  </a:tcPr>
                </a:tc>
                <a:tc>
                  <a:txBody>
                    <a:bodyPr/>
                    <a:lstStyle/>
                    <a:p>
                      <a:pPr algn="l"/>
                      <a:r>
                        <a:rPr sz="980" b="0" i="0">
                          <a:solidFill>
                            <a:srgbClr val="334155"/>
                          </a:solidFill>
                          <a:latin typeface="Poppins"/>
                        </a:rPr>
                        <a:t>0.9211</a:t>
                      </a:r>
                    </a:p>
                  </a:txBody>
                  <a:tcPr marL="128016" marR="128016" marT="54864" marB="54864" anchor="ctr">
                    <a:solidFill>
                      <a:srgbClr val="F8FAFC"/>
                    </a:solidFill>
                  </a:tcPr>
                </a:tc>
                <a:tc>
                  <a:txBody>
                    <a:bodyPr/>
                    <a:lstStyle/>
                    <a:p>
                      <a:pPr algn="l"/>
                      <a:r>
                        <a:rPr sz="980" b="0" i="0">
                          <a:solidFill>
                            <a:srgbClr val="334155"/>
                          </a:solidFill>
                          <a:latin typeface="Poppins"/>
                        </a:rPr>
                        <a:t>0.8061</a:t>
                      </a:r>
                    </a:p>
                  </a:txBody>
                  <a:tcPr marL="128016" marR="128016" marT="54864" marB="54864" anchor="ctr">
                    <a:solidFill>
                      <a:srgbClr val="F8FAFC"/>
                    </a:solidFill>
                  </a:tcPr>
                </a:tc>
                <a:tc>
                  <a:txBody>
                    <a:bodyPr/>
                    <a:lstStyle/>
                    <a:p>
                      <a:pPr algn="l"/>
                      <a:r>
                        <a:rPr sz="980" b="0" i="0">
                          <a:solidFill>
                            <a:srgbClr val="334155"/>
                          </a:solidFill>
                          <a:latin typeface="Poppins"/>
                        </a:rPr>
                        <a:t>0.8598</a:t>
                      </a:r>
                    </a:p>
                  </a:txBody>
                  <a:tcPr marL="128016" marR="128016" marT="54864" marB="54864" anchor="ctr">
                    <a:solidFill>
                      <a:srgbClr val="F8FAFC"/>
                    </a:solidFill>
                  </a:tcPr>
                </a:tc>
                <a:tc>
                  <a:txBody>
                    <a:bodyPr/>
                    <a:lstStyle/>
                    <a:p>
                      <a:pPr algn="l"/>
                      <a:r>
                        <a:rPr sz="980" b="0" i="0">
                          <a:solidFill>
                            <a:srgbClr val="334155"/>
                          </a:solidFill>
                          <a:latin typeface="Poppins"/>
                        </a:rPr>
                        <a:t>0 changes (100% Invariant)</a:t>
                      </a:r>
                    </a:p>
                  </a:txBody>
                  <a:tcPr marL="128016" marR="128016" marT="54864" marB="54864" anchor="ctr">
                    <a:solidFill>
                      <a:srgbClr val="F8FAFC"/>
                    </a:solidFill>
                  </a:tcPr>
                </a:tc>
                <a:extLst>
                  <a:ext uri="{0D108BD9-81ED-4DB2-BD59-A6C34878D82A}">
                    <a16:rowId xmlns:a16="http://schemas.microsoft.com/office/drawing/2014/main" val="10004"/>
                  </a:ext>
                </a:extLst>
              </a:tr>
              <a:tr h="533400">
                <a:tc>
                  <a:txBody>
                    <a:bodyPr/>
                    <a:lstStyle/>
                    <a:p>
                      <a:pPr algn="l"/>
                      <a:r>
                        <a:rPr sz="980" b="1" i="0">
                          <a:solidFill>
                            <a:srgbClr val="0284C7"/>
                          </a:solidFill>
                          <a:latin typeface="Poppins"/>
                        </a:rPr>
                        <a:t>Total Held-Out Test Set</a:t>
                      </a:r>
                    </a:p>
                  </a:txBody>
                  <a:tcPr marL="128016" marR="128016" marT="54864" marB="54864" anchor="ctr">
                    <a:solidFill>
                      <a:srgbClr val="F1F5F9"/>
                    </a:solidFill>
                  </a:tcPr>
                </a:tc>
                <a:tc>
                  <a:txBody>
                    <a:bodyPr/>
                    <a:lstStyle/>
                    <a:p>
                      <a:pPr algn="l"/>
                      <a:r>
                        <a:rPr sz="980" b="1" i="0">
                          <a:solidFill>
                            <a:srgbClr val="0F172A"/>
                          </a:solidFill>
                          <a:latin typeface="Poppins"/>
                        </a:rPr>
                        <a:t>3,551</a:t>
                      </a:r>
                    </a:p>
                  </a:txBody>
                  <a:tcPr marL="128016" marR="128016" marT="54864" marB="54864" anchor="ctr">
                    <a:solidFill>
                      <a:srgbClr val="F1F5F9"/>
                    </a:solidFill>
                  </a:tcPr>
                </a:tc>
                <a:tc>
                  <a:txBody>
                    <a:bodyPr/>
                    <a:lstStyle/>
                    <a:p>
                      <a:pPr algn="l"/>
                      <a:r>
                        <a:rPr sz="980" b="1" i="0">
                          <a:solidFill>
                            <a:srgbClr val="0F172A"/>
                          </a:solidFill>
                          <a:latin typeface="Poppins"/>
                        </a:rPr>
                        <a:t>100.0%</a:t>
                      </a:r>
                    </a:p>
                  </a:txBody>
                  <a:tcPr marL="128016" marR="128016" marT="54864" marB="54864" anchor="ctr">
                    <a:solidFill>
                      <a:srgbClr val="F1F5F9"/>
                    </a:solidFill>
                  </a:tcPr>
                </a:tc>
                <a:tc>
                  <a:txBody>
                    <a:bodyPr/>
                    <a:lstStyle/>
                    <a:p>
                      <a:pPr algn="l"/>
                      <a:r>
                        <a:rPr sz="980" b="1" i="0">
                          <a:solidFill>
                            <a:srgbClr val="0F172A"/>
                          </a:solidFill>
                          <a:latin typeface="Poppins"/>
                        </a:rPr>
                        <a:t>0.8862</a:t>
                      </a:r>
                    </a:p>
                  </a:txBody>
                  <a:tcPr marL="128016" marR="128016" marT="54864" marB="54864" anchor="ctr">
                    <a:solidFill>
                      <a:srgbClr val="F1F5F9"/>
                    </a:solidFill>
                  </a:tcPr>
                </a:tc>
                <a:tc>
                  <a:txBody>
                    <a:bodyPr/>
                    <a:lstStyle/>
                    <a:p>
                      <a:pPr algn="l"/>
                      <a:r>
                        <a:rPr sz="980" b="1" i="0">
                          <a:solidFill>
                            <a:srgbClr val="0F172A"/>
                          </a:solidFill>
                          <a:latin typeface="Poppins"/>
                        </a:rPr>
                        <a:t>0.8854</a:t>
                      </a:r>
                    </a:p>
                  </a:txBody>
                  <a:tcPr marL="128016" marR="128016" marT="54864" marB="54864" anchor="ctr">
                    <a:solidFill>
                      <a:srgbClr val="F1F5F9"/>
                    </a:solidFill>
                  </a:tcPr>
                </a:tc>
                <a:tc>
                  <a:txBody>
                    <a:bodyPr/>
                    <a:lstStyle/>
                    <a:p>
                      <a:pPr algn="l"/>
                      <a:r>
                        <a:rPr sz="980" b="1" i="0">
                          <a:solidFill>
                            <a:srgbClr val="0F172A"/>
                          </a:solidFill>
                          <a:latin typeface="Poppins"/>
                        </a:rPr>
                        <a:t>0.8844</a:t>
                      </a:r>
                    </a:p>
                  </a:txBody>
                  <a:tcPr marL="128016" marR="128016" marT="54864" marB="54864" anchor="ctr">
                    <a:solidFill>
                      <a:srgbClr val="F1F5F9"/>
                    </a:solidFill>
                  </a:tcPr>
                </a:tc>
                <a:tc>
                  <a:txBody>
                    <a:bodyPr/>
                    <a:lstStyle/>
                    <a:p>
                      <a:pPr algn="l"/>
                      <a:r>
                        <a:rPr sz="980" b="1" i="0">
                          <a:solidFill>
                            <a:srgbClr val="0F172A"/>
                          </a:solidFill>
                          <a:latin typeface="Poppins"/>
                        </a:rPr>
                        <a:t>0 / 3,551 Changes (100%)</a:t>
                      </a:r>
                    </a:p>
                  </a:txBody>
                  <a:tcPr marL="128016" marR="128016" marT="54864" marB="54864" anchor="ctr">
                    <a:solidFill>
                      <a:srgbClr val="F1F5F9"/>
                    </a:solidFill>
                  </a:tcPr>
                </a:tc>
                <a:extLst>
                  <a:ext uri="{0D108BD9-81ED-4DB2-BD59-A6C34878D82A}">
                    <a16:rowId xmlns:a16="http://schemas.microsoft.com/office/drawing/2014/main" val="10005"/>
                  </a:ext>
                </a:extLst>
              </a:tr>
            </a:tbl>
          </a:graphicData>
        </a:graphic>
      </p:graphicFrame>
      <p:sp>
        <p:nvSpPr>
          <p:cNvPr id="8" name="Rounded Rectangle 7"/>
          <p:cNvSpPr/>
          <p:nvPr/>
        </p:nvSpPr>
        <p:spPr>
          <a:xfrm>
            <a:off x="914400" y="7863840"/>
            <a:ext cx="8046720" cy="1554480"/>
          </a:xfrm>
          <a:prstGeom prst="roundRect">
            <a:avLst/>
          </a:prstGeom>
          <a:solidFill>
            <a:srgbClr val="182538"/>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square" lIns="228600" tIns="164592" rIns="228600" rtlCol="0" anchor="t"/>
          <a:lstStyle/>
          <a:p>
            <a:pPr algn="l"/>
            <a:r>
              <a:rPr sz="1600" b="1" i="0" dirty="0">
                <a:solidFill>
                  <a:srgbClr val="38BDF8"/>
                </a:solidFill>
                <a:latin typeface="Poppins"/>
              </a:rPr>
              <a:t>Observed Test-Set Prediction Invariance</a:t>
            </a:r>
          </a:p>
          <a:p>
            <a:pPr algn="l">
              <a:spcBef>
                <a:spcPts val="400"/>
              </a:spcBef>
            </a:pPr>
            <a:r>
              <a:rPr sz="1100" b="0" i="0" dirty="0">
                <a:solidFill>
                  <a:srgbClr val="F1F5F9"/>
                </a:solidFill>
                <a:latin typeface="Poppins"/>
              </a:rPr>
              <a:t>Zeroing 20,086 negligible weights induces zero prediction changes across all 3,551 test images on the evaluated V5 checkpoint.
Note: Test-set invariance is an observed result for the evaluated checkpoint and dataset, not a guarantee of generalization to unseen environments.</a:t>
            </a:r>
          </a:p>
        </p:txBody>
      </p:sp>
      <p:sp>
        <p:nvSpPr>
          <p:cNvPr id="9" name="Rounded Rectangle 8"/>
          <p:cNvSpPr/>
          <p:nvPr/>
        </p:nvSpPr>
        <p:spPr>
          <a:xfrm>
            <a:off x="9235440" y="1325880"/>
            <a:ext cx="8138160" cy="8092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pic>
        <p:nvPicPr>
          <p:cNvPr id="10" name="Picture 9" descr="image.png"/>
          <p:cNvPicPr>
            <a:picLocks noChangeAspect="1"/>
          </p:cNvPicPr>
          <p:nvPr/>
        </p:nvPicPr>
        <p:blipFill>
          <a:blip r:embed="rId2"/>
          <a:stretch>
            <a:fillRect/>
          </a:stretch>
        </p:blipFill>
        <p:spPr>
          <a:xfrm>
            <a:off x="9418320" y="1508760"/>
            <a:ext cx="7772400" cy="4983480"/>
          </a:xfrm>
          <a:prstGeom prst="rect">
            <a:avLst/>
          </a:prstGeom>
        </p:spPr>
      </p:pic>
      <p:sp>
        <p:nvSpPr>
          <p:cNvPr id="11" name="Rounded Rectangle 10"/>
          <p:cNvSpPr/>
          <p:nvPr/>
        </p:nvSpPr>
        <p:spPr>
          <a:xfrm>
            <a:off x="9418320" y="6675120"/>
            <a:ext cx="7772400" cy="2560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01168" tIns="137160" rIns="201168" rtlCol="0" anchor="t"/>
          <a:lstStyle/>
          <a:p>
            <a:pPr algn="ctr"/>
            <a:r>
              <a:rPr sz="1400" b="1" i="0">
                <a:solidFill>
                  <a:srgbClr val="0284C7"/>
                </a:solidFill>
                <a:latin typeface="Poppins"/>
              </a:rPr>
              <a:t>• Observed Invariance: </a:t>
            </a:r>
            <a:r>
              <a:rPr sz="1400" b="0" i="0">
                <a:solidFill>
                  <a:srgbClr val="334155"/>
                </a:solidFill>
                <a:latin typeface="Poppins"/>
              </a:rPr>
              <a:t>Confusion matrices before vs after zeroing are bit-for-bit identical across all defect categories on the evaluated test samples for the current checkpoint.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4286">
              <a:srgbClr val="FFFFFF">
                <a:alpha val="100000"/>
              </a:srgbClr>
            </a:gs>
            <a:gs pos="28571">
              <a:srgbClr val="FFFFFF">
                <a:alpha val="100000"/>
              </a:srgbClr>
            </a:gs>
            <a:gs pos="42857">
              <a:srgbClr val="FFFFFF">
                <a:alpha val="100000"/>
              </a:srgbClr>
            </a:gs>
            <a:gs pos="57143">
              <a:srgbClr val="FFFFFF">
                <a:alpha val="100000"/>
              </a:srgbClr>
            </a:gs>
            <a:gs pos="71429">
              <a:srgbClr val="DAF9FF">
                <a:alpha val="100000"/>
              </a:srgbClr>
            </a:gs>
            <a:gs pos="85714">
              <a:srgbClr val="89EAFE">
                <a:alpha val="100000"/>
              </a:srgbClr>
            </a:gs>
            <a:gs pos="100000">
              <a:srgbClr val="3B97EC">
                <a:alpha val="100000"/>
              </a:srgbClr>
            </a:gs>
          </a:gsLst>
          <a:lin ang="2700000"/>
        </a:gradFill>
        <a:effectLst/>
      </p:bgPr>
    </p:bg>
    <p:spTree>
      <p:nvGrpSpPr>
        <p:cNvPr id="1" name="">
          <a:extLst>
            <a:ext uri="{FF2B5EF4-FFF2-40B4-BE49-F238E27FC236}">
              <a16:creationId xmlns:a16="http://schemas.microsoft.com/office/drawing/2014/main" id="{DF1FAB31-269B-933E-B9C3-28A3BE56A0E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7FF6B20-44E7-5B8A-A398-7E1D8860EDD2}"/>
              </a:ext>
            </a:extLst>
          </p:cNvPr>
          <p:cNvSpPr txBox="1"/>
          <p:nvPr/>
        </p:nvSpPr>
        <p:spPr>
          <a:xfrm>
            <a:off x="914400" y="475488"/>
            <a:ext cx="16459200" cy="415498"/>
          </a:xfrm>
          <a:prstGeom prst="rect">
            <a:avLst/>
          </a:prstGeom>
          <a:noFill/>
        </p:spPr>
        <p:txBody>
          <a:bodyPr wrap="square" lIns="0" tIns="0" rIns="0" bIns="0">
            <a:spAutoFit/>
          </a:bodyPr>
          <a:lstStyle/>
          <a:p>
            <a:r>
              <a:rPr sz="2700" b="1" i="0" dirty="0">
                <a:solidFill>
                  <a:srgbClr val="0F172A"/>
                </a:solidFill>
                <a:latin typeface="Poppins"/>
              </a:rPr>
              <a:t>Review-2 : Work Done &amp; Work to be Done </a:t>
            </a:r>
          </a:p>
        </p:txBody>
      </p:sp>
      <p:sp>
        <p:nvSpPr>
          <p:cNvPr id="5" name="Rectangle 4">
            <a:extLst>
              <a:ext uri="{FF2B5EF4-FFF2-40B4-BE49-F238E27FC236}">
                <a16:creationId xmlns:a16="http://schemas.microsoft.com/office/drawing/2014/main" id="{77983CAE-4C59-F71E-97A9-F8653CF6C104}"/>
              </a:ext>
            </a:extLst>
          </p:cNvPr>
          <p:cNvSpPr/>
          <p:nvPr/>
        </p:nvSpPr>
        <p:spPr>
          <a:xfrm>
            <a:off x="914400" y="9646920"/>
            <a:ext cx="164592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C5C1F008-ADB2-77D8-6BB4-B61763C5F9C9}"/>
              </a:ext>
            </a:extLst>
          </p:cNvPr>
          <p:cNvSpPr txBox="1"/>
          <p:nvPr/>
        </p:nvSpPr>
        <p:spPr>
          <a:xfrm>
            <a:off x="914400" y="9738360"/>
            <a:ext cx="16459200" cy="365760"/>
          </a:xfrm>
          <a:prstGeom prst="rect">
            <a:avLst/>
          </a:prstGeom>
          <a:noFill/>
        </p:spPr>
        <p:txBody>
          <a:bodyPr wrap="none" lIns="0" tIns="0" rIns="0" bIns="0">
            <a:spAutoFit/>
          </a:bodyPr>
          <a:lstStyle/>
          <a:p>
            <a:r>
              <a:rPr sz="1000" b="0" i="0">
                <a:solidFill>
                  <a:srgbClr val="64748B"/>
                </a:solidFill>
                <a:latin typeface="Poppins"/>
              </a:rPr>
              <a:t>Project-1 Review-2  |  MNE_PANEL_3  |  Venue: TT-237-A  |  SENSE, VIT Vellore                        Department of Micro and Nanoelectronics                        </a:t>
            </a:r>
            <a:r>
              <a:rPr sz="1000" b="1" i="0">
                <a:solidFill>
                  <a:srgbClr val="0284C7"/>
                </a:solidFill>
                <a:latin typeface="Poppins"/>
              </a:rPr>
              <a:t>Slide 14 of 16</a:t>
            </a:r>
          </a:p>
        </p:txBody>
      </p:sp>
      <p:sp>
        <p:nvSpPr>
          <p:cNvPr id="9" name="Rounded Rectangle 4">
            <a:extLst>
              <a:ext uri="{FF2B5EF4-FFF2-40B4-BE49-F238E27FC236}">
                <a16:creationId xmlns:a16="http://schemas.microsoft.com/office/drawing/2014/main" id="{30858408-786A-44DF-9CF8-6A364D9D7937}"/>
              </a:ext>
            </a:extLst>
          </p:cNvPr>
          <p:cNvSpPr/>
          <p:nvPr/>
        </p:nvSpPr>
        <p:spPr>
          <a:xfrm>
            <a:off x="914400" y="1325880"/>
            <a:ext cx="7620000" cy="75514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56032" tIns="182880" rIns="256032" rtlCol="0" anchor="t"/>
          <a:lstStyle/>
          <a:p>
            <a:pPr algn="l"/>
            <a:r>
              <a:rPr sz="2000" b="1" i="0" dirty="0">
                <a:solidFill>
                  <a:srgbClr val="059669"/>
                </a:solidFill>
                <a:latin typeface="Poppins"/>
              </a:rPr>
              <a:t>Completed Work </a:t>
            </a:r>
            <a:r>
              <a:rPr lang="en-IN" sz="2000" b="1" i="0" dirty="0">
                <a:solidFill>
                  <a:srgbClr val="059669"/>
                </a:solidFill>
                <a:latin typeface="Poppins"/>
              </a:rPr>
              <a:t>Done</a:t>
            </a:r>
          </a:p>
          <a:p>
            <a:pPr algn="l"/>
            <a:endParaRPr lang="en-IN" sz="2000" b="1" i="0" dirty="0">
              <a:solidFill>
                <a:srgbClr val="059669"/>
              </a:solidFill>
              <a:latin typeface="Poppins"/>
            </a:endParaRPr>
          </a:p>
          <a:p>
            <a:pPr algn="l"/>
            <a:r>
              <a:rPr sz="1600" b="1" i="0" dirty="0">
                <a:solidFill>
                  <a:srgbClr val="0284C7"/>
                </a:solidFill>
                <a:latin typeface="Poppins"/>
              </a:rPr>
              <a:t>✔ Timeline &amp; Progress: </a:t>
            </a:r>
            <a:r>
              <a:rPr sz="1400" b="0" i="0" dirty="0">
                <a:solidFill>
                  <a:srgbClr val="334155"/>
                </a:solidFill>
                <a:latin typeface="Poppins"/>
              </a:rPr>
              <a:t>Commenced July Last Week (W4); achieved 40% milestone on schedule by Oct Week 2 (Review-2).</a:t>
            </a:r>
          </a:p>
          <a:p>
            <a:pPr algn="l">
              <a:spcBef>
                <a:spcPts val="400"/>
              </a:spcBef>
            </a:pPr>
            <a:r>
              <a:rPr sz="1600" b="1" i="0" dirty="0">
                <a:solidFill>
                  <a:srgbClr val="0284C7"/>
                </a:solidFill>
                <a:latin typeface="Poppins"/>
              </a:rPr>
              <a:t>✔ RGB Solar-Panel Dataset: </a:t>
            </a:r>
            <a:r>
              <a:rPr sz="1400" b="0" i="0" dirty="0">
                <a:solidFill>
                  <a:srgbClr val="334155"/>
                </a:solidFill>
                <a:latin typeface="Poppins"/>
              </a:rPr>
              <a:t>Curated &amp; stratified 23,144 images across a 4-class stratified dataset (Bird, Clean, Dust, Damage).</a:t>
            </a:r>
          </a:p>
          <a:p>
            <a:pPr algn="l">
              <a:spcBef>
                <a:spcPts val="400"/>
              </a:spcBef>
            </a:pPr>
            <a:r>
              <a:rPr sz="1600" b="1" i="0" dirty="0">
                <a:solidFill>
                  <a:srgbClr val="0284C7"/>
                </a:solidFill>
                <a:latin typeface="Poppins"/>
              </a:rPr>
              <a:t>✔ 10 Controlled </a:t>
            </a:r>
            <a:r>
              <a:rPr lang="en-IN" sz="1600" b="1" i="0" dirty="0">
                <a:solidFill>
                  <a:srgbClr val="0284C7"/>
                </a:solidFill>
                <a:latin typeface="Poppins"/>
              </a:rPr>
              <a:t>Experiments</a:t>
            </a:r>
            <a:r>
              <a:rPr sz="1600" b="1" i="0" dirty="0">
                <a:solidFill>
                  <a:srgbClr val="0284C7"/>
                </a:solidFill>
                <a:latin typeface="Poppins"/>
              </a:rPr>
              <a:t>: </a:t>
            </a:r>
            <a:r>
              <a:rPr sz="1400" b="0" i="0" dirty="0">
                <a:solidFill>
                  <a:srgbClr val="334155"/>
                </a:solidFill>
                <a:latin typeface="Poppins"/>
              </a:rPr>
              <a:t>Validated minimal rotation + </a:t>
            </a:r>
            <a:r>
              <a:rPr sz="1400" b="0" i="0" dirty="0" err="1">
                <a:solidFill>
                  <a:srgbClr val="334155"/>
                </a:solidFill>
                <a:latin typeface="Poppins"/>
              </a:rPr>
              <a:t>HistEq</a:t>
            </a:r>
            <a:r>
              <a:rPr sz="1400" b="0" i="0" dirty="0">
                <a:solidFill>
                  <a:srgbClr val="334155"/>
                </a:solidFill>
                <a:latin typeface="Poppins"/>
              </a:rPr>
              <a:t> preserves delicate hairline solar crack features.</a:t>
            </a:r>
          </a:p>
          <a:p>
            <a:pPr algn="l">
              <a:spcBef>
                <a:spcPts val="400"/>
              </a:spcBef>
            </a:pPr>
            <a:r>
              <a:rPr sz="1600" b="1" i="0" dirty="0">
                <a:solidFill>
                  <a:srgbClr val="0284C7"/>
                </a:solidFill>
                <a:latin typeface="Poppins"/>
              </a:rPr>
              <a:t>✔ Backbone Benchmarking: </a:t>
            </a:r>
            <a:r>
              <a:rPr sz="1400" b="0" i="0" dirty="0">
                <a:solidFill>
                  <a:srgbClr val="334155"/>
                </a:solidFill>
                <a:latin typeface="Poppins"/>
              </a:rPr>
              <a:t>Evaluated MobileNetV3 vs EfficientNetV2; established edge memory suitability.</a:t>
            </a:r>
          </a:p>
          <a:p>
            <a:pPr algn="l">
              <a:spcBef>
                <a:spcPts val="400"/>
              </a:spcBef>
            </a:pPr>
            <a:r>
              <a:rPr sz="1600" b="1" i="0" dirty="0">
                <a:solidFill>
                  <a:srgbClr val="0284C7"/>
                </a:solidFill>
                <a:latin typeface="Poppins"/>
              </a:rPr>
              <a:t>✔ Knowledge Distillation: </a:t>
            </a:r>
            <a:r>
              <a:rPr sz="1400" b="0" i="0" dirty="0">
                <a:solidFill>
                  <a:srgbClr val="334155"/>
                </a:solidFill>
                <a:latin typeface="Poppins"/>
              </a:rPr>
              <a:t>Trained student achieving 94.92% Val Acc (+8.11 pp) &amp; 5.76× parameter compression.</a:t>
            </a:r>
          </a:p>
          <a:p>
            <a:pPr algn="l">
              <a:spcBef>
                <a:spcPts val="400"/>
              </a:spcBef>
            </a:pPr>
            <a:r>
              <a:rPr sz="1600" b="1" i="0" dirty="0">
                <a:solidFill>
                  <a:srgbClr val="0284C7"/>
                </a:solidFill>
                <a:latin typeface="Poppins"/>
              </a:rPr>
              <a:t>✔ Numerical Weight Zeroing: </a:t>
            </a:r>
            <a:r>
              <a:rPr sz="1400" b="0" i="0" dirty="0">
                <a:solidFill>
                  <a:srgbClr val="334155"/>
                </a:solidFill>
                <a:latin typeface="Poppins"/>
              </a:rPr>
              <a:t>Deployed at τ = 10⁻³, zeroing 20,086 parameters without any accuracy drop.</a:t>
            </a:r>
          </a:p>
          <a:p>
            <a:pPr algn="l">
              <a:spcBef>
                <a:spcPts val="400"/>
              </a:spcBef>
            </a:pPr>
            <a:r>
              <a:rPr sz="1600" b="1" i="0" dirty="0">
                <a:solidFill>
                  <a:srgbClr val="0284C7"/>
                </a:solidFill>
                <a:latin typeface="Poppins"/>
              </a:rPr>
              <a:t>✔ Documented Sensitivity Sweeps: </a:t>
            </a:r>
            <a:r>
              <a:rPr sz="1400" b="0" i="0" dirty="0">
                <a:solidFill>
                  <a:srgbClr val="334155"/>
                </a:solidFill>
                <a:latin typeface="Poppins"/>
              </a:rPr>
              <a:t>Evaluated thresholds through graceful degradation window across validation set.</a:t>
            </a:r>
          </a:p>
          <a:p>
            <a:pPr algn="l">
              <a:spcBef>
                <a:spcPts val="400"/>
              </a:spcBef>
            </a:pPr>
            <a:r>
              <a:rPr sz="1600" b="1" i="0" dirty="0">
                <a:solidFill>
                  <a:srgbClr val="0284C7"/>
                </a:solidFill>
                <a:latin typeface="Poppins"/>
              </a:rPr>
              <a:t>✔ 21-Point High-Res Zoom: </a:t>
            </a:r>
            <a:r>
              <a:rPr sz="1400" b="0" i="0" dirty="0">
                <a:solidFill>
                  <a:srgbClr val="334155"/>
                </a:solidFill>
                <a:latin typeface="Poppins"/>
              </a:rPr>
              <a:t>Pinpointed exact catastrophic accuracy cliff at [0.0160, 0.0165] (16× numerical margin).</a:t>
            </a:r>
          </a:p>
        </p:txBody>
      </p:sp>
      <p:sp>
        <p:nvSpPr>
          <p:cNvPr id="11" name="Rounded Rectangle 9">
            <a:extLst>
              <a:ext uri="{FF2B5EF4-FFF2-40B4-BE49-F238E27FC236}">
                <a16:creationId xmlns:a16="http://schemas.microsoft.com/office/drawing/2014/main" id="{2233DD90-6D59-ACBE-6D1E-25A47D87CF81}"/>
              </a:ext>
            </a:extLst>
          </p:cNvPr>
          <p:cNvSpPr/>
          <p:nvPr/>
        </p:nvSpPr>
        <p:spPr>
          <a:xfrm>
            <a:off x="9753602" y="1275588"/>
            <a:ext cx="7848600" cy="7601712"/>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wrap="square" lIns="256032" tIns="182880" rIns="256032" rtlCol="0" anchor="t"/>
          <a:lstStyle/>
          <a:p>
            <a:pPr algn="l"/>
            <a:r>
              <a:rPr sz="2000" b="1" i="0" dirty="0">
                <a:solidFill>
                  <a:srgbClr val="0284C7"/>
                </a:solidFill>
                <a:latin typeface="Poppins"/>
              </a:rPr>
              <a:t>Work to be Done </a:t>
            </a:r>
            <a:endParaRPr lang="en-IN" sz="2000" b="1" i="0" dirty="0">
              <a:solidFill>
                <a:srgbClr val="0284C7"/>
              </a:solidFill>
              <a:latin typeface="Poppins"/>
            </a:endParaRPr>
          </a:p>
          <a:p>
            <a:pPr algn="l"/>
            <a:endParaRPr sz="2000" b="1" i="0" dirty="0">
              <a:solidFill>
                <a:srgbClr val="0284C7"/>
              </a:solidFill>
              <a:latin typeface="Poppins"/>
            </a:endParaRPr>
          </a:p>
          <a:p>
            <a:pPr>
              <a:spcBef>
                <a:spcPts val="700"/>
              </a:spcBef>
            </a:pPr>
            <a:r>
              <a:rPr lang="en-IN" sz="1600" b="1" dirty="0">
                <a:solidFill>
                  <a:schemeClr val="tx1"/>
                </a:solidFill>
                <a:latin typeface="Poppins"/>
              </a:rPr>
              <a:t>1.</a:t>
            </a:r>
            <a:r>
              <a:rPr lang="en-US" b="1" dirty="0">
                <a:solidFill>
                  <a:schemeClr val="tx1"/>
                </a:solidFill>
                <a:latin typeface="Poppins"/>
              </a:rPr>
              <a:t> Hardware Specification: </a:t>
            </a:r>
            <a:r>
              <a:rPr lang="en-US" sz="1600" dirty="0">
                <a:solidFill>
                  <a:srgbClr val="334155"/>
                </a:solidFill>
                <a:latin typeface="Poppins"/>
              </a:rPr>
              <a:t>Specified </a:t>
            </a:r>
            <a:r>
              <a:rPr lang="en-US" sz="1600" dirty="0" err="1">
                <a:solidFill>
                  <a:srgbClr val="334155"/>
                </a:solidFill>
                <a:latin typeface="Poppins"/>
              </a:rPr>
              <a:t>datapath</a:t>
            </a:r>
            <a:r>
              <a:rPr lang="en-US" sz="1600" dirty="0">
                <a:solidFill>
                  <a:srgbClr val="334155"/>
                </a:solidFill>
                <a:latin typeface="Poppins"/>
              </a:rPr>
              <a:t>, 4×4 systolic array, and zero-aware PE (Architecture ready for RTL).</a:t>
            </a:r>
          </a:p>
          <a:p>
            <a:pPr algn="l">
              <a:spcBef>
                <a:spcPts val="700"/>
              </a:spcBef>
            </a:pPr>
            <a:r>
              <a:rPr lang="en-IN" sz="1600" b="1" dirty="0">
                <a:solidFill>
                  <a:srgbClr val="0F172A"/>
                </a:solidFill>
                <a:latin typeface="Poppins"/>
              </a:rPr>
              <a:t>2</a:t>
            </a:r>
            <a:r>
              <a:rPr sz="1600" b="1" i="0" dirty="0">
                <a:solidFill>
                  <a:srgbClr val="0F172A"/>
                </a:solidFill>
                <a:latin typeface="Poppins"/>
              </a:rPr>
              <a:t>. INT8 Post-Training Quantization (PTQ): </a:t>
            </a:r>
            <a:r>
              <a:rPr sz="1400" b="0" i="0" dirty="0">
                <a:solidFill>
                  <a:srgbClr val="334155"/>
                </a:solidFill>
                <a:latin typeface="Poppins"/>
              </a:rPr>
              <a:t>Dynamic range calibration and per-channel scaling factor generation to compress model to ~1.05 MB.</a:t>
            </a:r>
          </a:p>
          <a:p>
            <a:pPr algn="l">
              <a:spcBef>
                <a:spcPts val="700"/>
              </a:spcBef>
            </a:pPr>
            <a:r>
              <a:rPr lang="en-IN" sz="1600" b="1" dirty="0">
                <a:solidFill>
                  <a:srgbClr val="0F172A"/>
                </a:solidFill>
                <a:latin typeface="Poppins"/>
              </a:rPr>
              <a:t>3</a:t>
            </a:r>
            <a:r>
              <a:rPr sz="1600" b="1" i="0" dirty="0">
                <a:solidFill>
                  <a:srgbClr val="0F172A"/>
                </a:solidFill>
                <a:latin typeface="Poppins"/>
              </a:rPr>
              <a:t>. Synthesizable Verilog RTL Implementation: </a:t>
            </a:r>
            <a:r>
              <a:rPr sz="1400" b="0" i="0" dirty="0">
                <a:solidFill>
                  <a:srgbClr val="334155"/>
                </a:solidFill>
                <a:latin typeface="Poppins"/>
              </a:rPr>
              <a:t>Modular Verilog RTL coding for Zero-Aware PE, 4×4 systolic grid, line buffers, and control FSM.</a:t>
            </a:r>
          </a:p>
          <a:p>
            <a:pPr algn="l">
              <a:spcBef>
                <a:spcPts val="700"/>
              </a:spcBef>
            </a:pPr>
            <a:r>
              <a:rPr lang="en-IN" sz="1600" b="1" dirty="0">
                <a:solidFill>
                  <a:srgbClr val="0F172A"/>
                </a:solidFill>
                <a:latin typeface="Poppins"/>
              </a:rPr>
              <a:t>4</a:t>
            </a:r>
            <a:r>
              <a:rPr sz="1600" b="1" i="0" dirty="0">
                <a:solidFill>
                  <a:srgbClr val="0F172A"/>
                </a:solidFill>
                <a:latin typeface="Poppins"/>
              </a:rPr>
              <a:t>. Cycle-Accurate Testbench Simulation: </a:t>
            </a:r>
            <a:r>
              <a:rPr sz="1400" b="0" i="0" dirty="0">
                <a:solidFill>
                  <a:srgbClr val="334155"/>
                </a:solidFill>
                <a:latin typeface="Poppins"/>
              </a:rPr>
              <a:t>Bit-true functional verification in </a:t>
            </a:r>
            <a:r>
              <a:rPr sz="1400" b="0" i="0" dirty="0" err="1">
                <a:solidFill>
                  <a:srgbClr val="334155"/>
                </a:solidFill>
                <a:latin typeface="Poppins"/>
              </a:rPr>
              <a:t>ModelSim</a:t>
            </a:r>
            <a:r>
              <a:rPr sz="1400" b="0" i="0" dirty="0">
                <a:solidFill>
                  <a:srgbClr val="334155"/>
                </a:solidFill>
                <a:latin typeface="Poppins"/>
              </a:rPr>
              <a:t> / </a:t>
            </a:r>
            <a:r>
              <a:rPr sz="1400" b="0" i="0" dirty="0" err="1">
                <a:solidFill>
                  <a:srgbClr val="334155"/>
                </a:solidFill>
                <a:latin typeface="Poppins"/>
              </a:rPr>
              <a:t>Vivado</a:t>
            </a:r>
            <a:r>
              <a:rPr sz="1400" b="0" i="0" dirty="0">
                <a:solidFill>
                  <a:srgbClr val="334155"/>
                </a:solidFill>
                <a:latin typeface="Poppins"/>
              </a:rPr>
              <a:t> against Python golden test vectors.</a:t>
            </a:r>
          </a:p>
          <a:p>
            <a:pPr algn="l">
              <a:spcBef>
                <a:spcPts val="700"/>
              </a:spcBef>
            </a:pPr>
            <a:r>
              <a:rPr lang="en-IN" sz="1600" b="1" dirty="0">
                <a:solidFill>
                  <a:srgbClr val="0F172A"/>
                </a:solidFill>
                <a:latin typeface="Poppins"/>
              </a:rPr>
              <a:t>5</a:t>
            </a:r>
            <a:r>
              <a:rPr sz="1600" b="1" i="0" dirty="0">
                <a:solidFill>
                  <a:srgbClr val="0F172A"/>
                </a:solidFill>
                <a:latin typeface="Poppins"/>
              </a:rPr>
              <a:t>. FPGA Synthesis &amp; Timing Closure: </a:t>
            </a:r>
            <a:r>
              <a:rPr sz="1400" b="0" i="0" dirty="0">
                <a:solidFill>
                  <a:srgbClr val="334155"/>
                </a:solidFill>
                <a:latin typeface="Poppins"/>
              </a:rPr>
              <a:t>Place, route, and static timing analysis targeting Xilinx Artix-7 (XC7A100T) @ 100 MHz target system clock.</a:t>
            </a:r>
          </a:p>
          <a:p>
            <a:pPr algn="l">
              <a:spcBef>
                <a:spcPts val="700"/>
              </a:spcBef>
            </a:pPr>
            <a:r>
              <a:rPr lang="en-IN" sz="1600" b="1" dirty="0">
                <a:solidFill>
                  <a:srgbClr val="0F172A"/>
                </a:solidFill>
                <a:latin typeface="Poppins"/>
              </a:rPr>
              <a:t>6</a:t>
            </a:r>
            <a:r>
              <a:rPr sz="1600" b="1" i="0" dirty="0">
                <a:solidFill>
                  <a:srgbClr val="0F172A"/>
                </a:solidFill>
                <a:latin typeface="Poppins"/>
              </a:rPr>
              <a:t>. SAIF Activity File Power Profiling: </a:t>
            </a:r>
            <a:r>
              <a:rPr sz="1400" b="0" i="0" dirty="0">
                <a:solidFill>
                  <a:srgbClr val="334155"/>
                </a:solidFill>
                <a:latin typeface="Poppins"/>
              </a:rPr>
              <a:t>Post-implementation dynamic switching power measurement using </a:t>
            </a:r>
            <a:r>
              <a:rPr sz="1400" b="0" i="0" dirty="0" err="1">
                <a:solidFill>
                  <a:srgbClr val="334155"/>
                </a:solidFill>
                <a:latin typeface="Poppins"/>
              </a:rPr>
              <a:t>Vivado</a:t>
            </a:r>
            <a:r>
              <a:rPr sz="1400" b="0" i="0" dirty="0">
                <a:solidFill>
                  <a:srgbClr val="334155"/>
                </a:solidFill>
                <a:latin typeface="Poppins"/>
              </a:rPr>
              <a:t> Power Analyzer with SAIF file.</a:t>
            </a:r>
          </a:p>
          <a:p>
            <a:pPr algn="l">
              <a:spcBef>
                <a:spcPts val="700"/>
              </a:spcBef>
            </a:pPr>
            <a:r>
              <a:rPr lang="en-IN" sz="1600" b="1" dirty="0">
                <a:solidFill>
                  <a:srgbClr val="0F172A"/>
                </a:solidFill>
                <a:latin typeface="Poppins"/>
              </a:rPr>
              <a:t>7</a:t>
            </a:r>
            <a:r>
              <a:rPr sz="1600" b="1" i="0" dirty="0">
                <a:solidFill>
                  <a:srgbClr val="0F172A"/>
                </a:solidFill>
                <a:latin typeface="Poppins"/>
              </a:rPr>
              <a:t>. Prototype Demonstration &amp; Review-3 Final Defense: </a:t>
            </a:r>
            <a:r>
              <a:rPr sz="1400" b="0" i="0" dirty="0">
                <a:solidFill>
                  <a:srgbClr val="334155"/>
                </a:solidFill>
                <a:latin typeface="Poppins"/>
              </a:rPr>
              <a:t>Real-time camera streaming interface, automated defect diagnosis prototype, and 100% project completion.</a:t>
            </a:r>
            <a:endParaRPr lang="en-IN" sz="1400" b="0" i="0" dirty="0">
              <a:solidFill>
                <a:srgbClr val="334155"/>
              </a:solidFill>
              <a:latin typeface="Poppins"/>
            </a:endParaRPr>
          </a:p>
          <a:p>
            <a:pPr algn="l">
              <a:spcBef>
                <a:spcPts val="700"/>
              </a:spcBef>
            </a:pPr>
            <a:endParaRPr sz="1400" b="0" i="0" dirty="0">
              <a:solidFill>
                <a:srgbClr val="334155"/>
              </a:solidFill>
              <a:latin typeface="Poppins"/>
            </a:endParaRPr>
          </a:p>
        </p:txBody>
      </p:sp>
    </p:spTree>
    <p:extLst>
      <p:ext uri="{BB962C8B-B14F-4D97-AF65-F5344CB8AC3E}">
        <p14:creationId xmlns:p14="http://schemas.microsoft.com/office/powerpoint/2010/main" val="14515802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4286">
              <a:srgbClr val="FFFFFF">
                <a:alpha val="100000"/>
              </a:srgbClr>
            </a:gs>
            <a:gs pos="28571">
              <a:srgbClr val="FFFFFF">
                <a:alpha val="100000"/>
              </a:srgbClr>
            </a:gs>
            <a:gs pos="42857">
              <a:srgbClr val="FFFFFF">
                <a:alpha val="100000"/>
              </a:srgbClr>
            </a:gs>
            <a:gs pos="57143">
              <a:srgbClr val="FFFFFF">
                <a:alpha val="100000"/>
              </a:srgbClr>
            </a:gs>
            <a:gs pos="71429">
              <a:srgbClr val="DAF9FF">
                <a:alpha val="100000"/>
              </a:srgbClr>
            </a:gs>
            <a:gs pos="85714">
              <a:srgbClr val="89EAFE">
                <a:alpha val="100000"/>
              </a:srgbClr>
            </a:gs>
            <a:gs pos="100000">
              <a:srgbClr val="3B97EC">
                <a:alpha val="100000"/>
              </a:srgbClr>
            </a:gs>
          </a:gsLst>
          <a:lin ang="2700000"/>
        </a:gradFill>
        <a:effectLst/>
      </p:bgPr>
    </p:bg>
    <p:spTree>
      <p:nvGrpSpPr>
        <p:cNvPr id="1" name="">
          <a:extLst>
            <a:ext uri="{FF2B5EF4-FFF2-40B4-BE49-F238E27FC236}">
              <a16:creationId xmlns:a16="http://schemas.microsoft.com/office/drawing/2014/main" id="{C1D633F4-AC9C-38E2-EC60-40199686EEA1}"/>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82DE0907-4DE6-7E85-63CE-75FD4AB022AD}"/>
              </a:ext>
            </a:extLst>
          </p:cNvPr>
          <p:cNvSpPr txBox="1"/>
          <p:nvPr/>
        </p:nvSpPr>
        <p:spPr>
          <a:xfrm>
            <a:off x="533400" y="1220440"/>
            <a:ext cx="13639800" cy="646331"/>
          </a:xfrm>
          <a:prstGeom prst="rect">
            <a:avLst/>
          </a:prstGeom>
          <a:noFill/>
        </p:spPr>
        <p:txBody>
          <a:bodyPr wrap="square">
            <a:spAutoFit/>
          </a:bodyPr>
          <a:lstStyle/>
          <a:p>
            <a:pPr algn="ctr"/>
            <a:r>
              <a:rPr lang="en-IN" sz="3600" b="1" i="0" dirty="0">
                <a:solidFill>
                  <a:srgbClr val="0F172A"/>
                </a:solidFill>
                <a:latin typeface="Poppins"/>
              </a:rPr>
              <a:t>Key Academic Literature &amp; Peer-Reviewed Foundations</a:t>
            </a:r>
          </a:p>
        </p:txBody>
      </p:sp>
      <p:sp>
        <p:nvSpPr>
          <p:cNvPr id="17" name="TextBox 16">
            <a:extLst>
              <a:ext uri="{FF2B5EF4-FFF2-40B4-BE49-F238E27FC236}">
                <a16:creationId xmlns:a16="http://schemas.microsoft.com/office/drawing/2014/main" id="{6671E7DD-74E7-3D3F-5743-E01CF9E6C1CE}"/>
              </a:ext>
            </a:extLst>
          </p:cNvPr>
          <p:cNvSpPr txBox="1"/>
          <p:nvPr/>
        </p:nvSpPr>
        <p:spPr>
          <a:xfrm>
            <a:off x="1295400" y="2628900"/>
            <a:ext cx="11439100" cy="6114494"/>
          </a:xfrm>
          <a:prstGeom prst="rect">
            <a:avLst/>
          </a:prstGeom>
          <a:noFill/>
        </p:spPr>
        <p:txBody>
          <a:bodyPr wrap="square">
            <a:spAutoFit/>
          </a:bodyPr>
          <a:lstStyle/>
          <a:p>
            <a:pPr>
              <a:spcBef>
                <a:spcPts val="500"/>
              </a:spcBef>
            </a:pPr>
            <a:r>
              <a:rPr lang="en-IN" sz="2000" b="1" i="0" dirty="0">
                <a:solidFill>
                  <a:srgbClr val="0284C7"/>
                </a:solidFill>
                <a:latin typeface="Poppins"/>
              </a:rPr>
              <a:t>[1] N. Muhammad &amp; N. M. </a:t>
            </a:r>
            <a:r>
              <a:rPr lang="en-IN" sz="2000" b="1" i="0" dirty="0" err="1">
                <a:solidFill>
                  <a:srgbClr val="0284C7"/>
                </a:solidFill>
                <a:latin typeface="Poppins"/>
              </a:rPr>
              <a:t>Ridzuan</a:t>
            </a:r>
            <a:r>
              <a:rPr lang="en-IN" sz="2000" b="1" i="0" dirty="0">
                <a:solidFill>
                  <a:srgbClr val="0284C7"/>
                </a:solidFill>
                <a:latin typeface="Poppins"/>
              </a:rPr>
              <a:t>, </a:t>
            </a:r>
            <a:r>
              <a:rPr lang="en-IN" b="0" i="0" dirty="0">
                <a:solidFill>
                  <a:srgbClr val="334155"/>
                </a:solidFill>
                <a:latin typeface="Poppins"/>
              </a:rPr>
              <a:t>"A Review of Fault Detection and Diagnosis Approaches for PV Systems Using Voltage and Current Analysis," IEEE ICPEA, DOI: 10.1109/ICPEA60617.2024.10498573, 2024.</a:t>
            </a:r>
          </a:p>
          <a:p>
            <a:pPr>
              <a:spcBef>
                <a:spcPts val="500"/>
              </a:spcBef>
            </a:pPr>
            <a:r>
              <a:rPr lang="en-IN" sz="2000" b="1" i="0" dirty="0">
                <a:solidFill>
                  <a:srgbClr val="0284C7"/>
                </a:solidFill>
                <a:latin typeface="Poppins"/>
              </a:rPr>
              <a:t>[2] K. D. Rao et al., </a:t>
            </a:r>
            <a:r>
              <a:rPr lang="en-IN" b="0" i="0" dirty="0">
                <a:solidFill>
                  <a:srgbClr val="334155"/>
                </a:solidFill>
                <a:latin typeface="Poppins"/>
              </a:rPr>
              <a:t>"A Systematic Review on Categorization of Bug Detecting Techniques In Renewable Type of Integration Systems for Optimization," IEEE ICACITE, DOI: 10.1109/ICACITE60783.2024.10616999, 2024.</a:t>
            </a:r>
          </a:p>
          <a:p>
            <a:pPr>
              <a:spcBef>
                <a:spcPts val="500"/>
              </a:spcBef>
            </a:pPr>
            <a:r>
              <a:rPr lang="en-IN" sz="2000" b="1" i="0" dirty="0">
                <a:solidFill>
                  <a:srgbClr val="0284C7"/>
                </a:solidFill>
                <a:latin typeface="Poppins"/>
              </a:rPr>
              <a:t>[3] O. Bia et al., </a:t>
            </a:r>
            <a:r>
              <a:rPr lang="en-IN" b="0" i="0" dirty="0">
                <a:solidFill>
                  <a:srgbClr val="334155"/>
                </a:solidFill>
                <a:latin typeface="Poppins"/>
              </a:rPr>
              <a:t>"Defect Detection in PV Power Plants Using AI and Smart Sensors," IEEE IRASET, DOI: 10.1109/IRASET68627.2026.11538548, 2026.</a:t>
            </a:r>
          </a:p>
          <a:p>
            <a:pPr>
              <a:spcBef>
                <a:spcPts val="500"/>
              </a:spcBef>
            </a:pPr>
            <a:r>
              <a:rPr lang="en-IN" sz="2000" b="1" i="0" dirty="0">
                <a:solidFill>
                  <a:srgbClr val="0284C7"/>
                </a:solidFill>
                <a:latin typeface="Poppins"/>
              </a:rPr>
              <a:t>[4] K. G. Choudhari &amp; S. Fatima, </a:t>
            </a:r>
            <a:r>
              <a:rPr lang="en-IN" b="0" i="0" dirty="0">
                <a:solidFill>
                  <a:srgbClr val="334155"/>
                </a:solidFill>
                <a:latin typeface="Poppins"/>
              </a:rPr>
              <a:t>"Machine Learning for Electrical Fault Detection in PV Panels," IEEE ICSFT, DOI: 10.1109/ICSFT66733.2026.11507025, 2026.</a:t>
            </a:r>
          </a:p>
          <a:p>
            <a:pPr>
              <a:spcBef>
                <a:spcPts val="500"/>
              </a:spcBef>
            </a:pPr>
            <a:r>
              <a:rPr lang="en-IN" sz="2000" b="1" i="0" dirty="0">
                <a:solidFill>
                  <a:srgbClr val="0284C7"/>
                </a:solidFill>
                <a:latin typeface="Poppins"/>
              </a:rPr>
              <a:t>[5] I. Nasri et al., </a:t>
            </a:r>
            <a:r>
              <a:rPr lang="en-IN" b="0" i="0" dirty="0">
                <a:solidFill>
                  <a:srgbClr val="334155"/>
                </a:solidFill>
                <a:latin typeface="Poppins"/>
              </a:rPr>
              <a:t>"A Review on Multimodal-Based Fault Detection and Diagnosis in Photovoltaic Systems: Fusion &amp; Attention Mechanisms," IEEE Access, DOI: 10.1109/ACCESS.2026.3675686, 2026.</a:t>
            </a:r>
          </a:p>
          <a:p>
            <a:pPr>
              <a:spcBef>
                <a:spcPts val="500"/>
              </a:spcBef>
            </a:pPr>
            <a:r>
              <a:rPr lang="en-IN" sz="2000" b="1" i="0" dirty="0">
                <a:solidFill>
                  <a:srgbClr val="0284C7"/>
                </a:solidFill>
                <a:latin typeface="Poppins"/>
              </a:rPr>
              <a:t>[6] A. Howard et al., </a:t>
            </a:r>
            <a:r>
              <a:rPr lang="en-IN" b="0" i="0" dirty="0">
                <a:solidFill>
                  <a:srgbClr val="334155"/>
                </a:solidFill>
                <a:latin typeface="Poppins"/>
              </a:rPr>
              <a:t>"Searching for MobileNetV3," IEEE/CVF ICCV, pp. 1314–1324, 2019.</a:t>
            </a:r>
          </a:p>
          <a:p>
            <a:pPr>
              <a:spcBef>
                <a:spcPts val="500"/>
              </a:spcBef>
            </a:pPr>
            <a:r>
              <a:rPr lang="en-IN" sz="2000" b="1" i="0" dirty="0">
                <a:solidFill>
                  <a:srgbClr val="0284C7"/>
                </a:solidFill>
                <a:latin typeface="Poppins"/>
              </a:rPr>
              <a:t>[7] M. Tan &amp; Q. V. Le, </a:t>
            </a:r>
            <a:r>
              <a:rPr lang="en-IN" b="0" i="0" dirty="0">
                <a:solidFill>
                  <a:srgbClr val="334155"/>
                </a:solidFill>
                <a:latin typeface="Poppins"/>
              </a:rPr>
              <a:t>"EfficientNetV2: Smaller Models and Faster Training," PMLR ICML, pp. 10096–10106, 2021.</a:t>
            </a:r>
          </a:p>
          <a:p>
            <a:pPr>
              <a:spcBef>
                <a:spcPts val="500"/>
              </a:spcBef>
            </a:pPr>
            <a:r>
              <a:rPr lang="en-IN" sz="2000" b="1" i="0" dirty="0">
                <a:solidFill>
                  <a:srgbClr val="0284C7"/>
                </a:solidFill>
                <a:latin typeface="Poppins"/>
              </a:rPr>
              <a:t>[8] G. Hinton, O. </a:t>
            </a:r>
            <a:r>
              <a:rPr lang="en-IN" sz="2000" b="1" i="0" dirty="0" err="1">
                <a:solidFill>
                  <a:srgbClr val="0284C7"/>
                </a:solidFill>
                <a:latin typeface="Poppins"/>
              </a:rPr>
              <a:t>Vinyals</a:t>
            </a:r>
            <a:r>
              <a:rPr lang="en-IN" sz="2000" b="1" i="0" dirty="0">
                <a:solidFill>
                  <a:srgbClr val="0284C7"/>
                </a:solidFill>
                <a:latin typeface="Poppins"/>
              </a:rPr>
              <a:t>, &amp; J. Dean, </a:t>
            </a:r>
            <a:r>
              <a:rPr lang="en-IN" b="0" i="0" dirty="0">
                <a:solidFill>
                  <a:srgbClr val="334155"/>
                </a:solidFill>
                <a:latin typeface="Poppins"/>
              </a:rPr>
              <a:t>"Distilling the Knowledge in a Neural Network," </a:t>
            </a:r>
            <a:r>
              <a:rPr lang="en-IN" b="0" i="0" dirty="0" err="1">
                <a:solidFill>
                  <a:srgbClr val="334155"/>
                </a:solidFill>
                <a:latin typeface="Poppins"/>
              </a:rPr>
              <a:t>NeurIPS</a:t>
            </a:r>
            <a:r>
              <a:rPr lang="en-IN" b="0" i="0" dirty="0">
                <a:solidFill>
                  <a:srgbClr val="334155"/>
                </a:solidFill>
                <a:latin typeface="Poppins"/>
              </a:rPr>
              <a:t> Deep Learning Workshop, arXiv:1503.02531, 2015.</a:t>
            </a:r>
          </a:p>
          <a:p>
            <a:pPr>
              <a:spcBef>
                <a:spcPts val="500"/>
              </a:spcBef>
            </a:pPr>
            <a:r>
              <a:rPr lang="en-IN" sz="2000" b="1" i="0" dirty="0">
                <a:solidFill>
                  <a:srgbClr val="0284C7"/>
                </a:solidFill>
                <a:latin typeface="Poppins"/>
              </a:rPr>
              <a:t>[9] A. Parashar et al., </a:t>
            </a:r>
            <a:r>
              <a:rPr lang="en-IN" b="0" i="0" dirty="0">
                <a:solidFill>
                  <a:srgbClr val="334155"/>
                </a:solidFill>
                <a:latin typeface="Poppins"/>
              </a:rPr>
              <a:t>"SCNN: An Accelerator for Compressed-sparse CNNs," ACM/IEEE ISCA, pp. 27–40, 2017.</a:t>
            </a:r>
          </a:p>
        </p:txBody>
      </p:sp>
    </p:spTree>
    <p:extLst>
      <p:ext uri="{BB962C8B-B14F-4D97-AF65-F5344CB8AC3E}">
        <p14:creationId xmlns:p14="http://schemas.microsoft.com/office/powerpoint/2010/main" val="4164473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4286">
              <a:srgbClr val="FFFFFF">
                <a:alpha val="100000"/>
              </a:srgbClr>
            </a:gs>
            <a:gs pos="28571">
              <a:srgbClr val="FFFFFF">
                <a:alpha val="100000"/>
              </a:srgbClr>
            </a:gs>
            <a:gs pos="42857">
              <a:srgbClr val="FFFFFF">
                <a:alpha val="100000"/>
              </a:srgbClr>
            </a:gs>
            <a:gs pos="57143">
              <a:srgbClr val="FFFFFF">
                <a:alpha val="100000"/>
              </a:srgbClr>
            </a:gs>
            <a:gs pos="71429">
              <a:srgbClr val="DAF9FF">
                <a:alpha val="100000"/>
              </a:srgbClr>
            </a:gs>
            <a:gs pos="85714">
              <a:srgbClr val="89EAFE">
                <a:alpha val="100000"/>
              </a:srgbClr>
            </a:gs>
            <a:gs pos="100000">
              <a:srgbClr val="3B97EC">
                <a:alpha val="100000"/>
              </a:srgbClr>
            </a:gs>
          </a:gsLst>
          <a:lin ang="2700000"/>
        </a:gradFill>
        <a:effectLst/>
      </p:bgPr>
    </p:bg>
    <p:spTree>
      <p:nvGrpSpPr>
        <p:cNvPr id="1" name="">
          <a:extLst>
            <a:ext uri="{FF2B5EF4-FFF2-40B4-BE49-F238E27FC236}">
              <a16:creationId xmlns:a16="http://schemas.microsoft.com/office/drawing/2014/main" id="{48281229-8AF4-DC2C-AC82-234FAB3D2827}"/>
            </a:ext>
          </a:extLst>
        </p:cNvPr>
        <p:cNvGrpSpPr/>
        <p:nvPr/>
      </p:nvGrpSpPr>
      <p:grpSpPr>
        <a:xfrm>
          <a:off x="0" y="0"/>
          <a:ext cx="0" cy="0"/>
          <a:chOff x="0" y="0"/>
          <a:chExt cx="0" cy="0"/>
        </a:xfrm>
      </p:grpSpPr>
      <p:sp>
        <p:nvSpPr>
          <p:cNvPr id="13" name="Rounded Rectangle 10">
            <a:extLst>
              <a:ext uri="{FF2B5EF4-FFF2-40B4-BE49-F238E27FC236}">
                <a16:creationId xmlns:a16="http://schemas.microsoft.com/office/drawing/2014/main" id="{23824104-FF57-B6C1-DAD1-D7A0F99C140B}"/>
              </a:ext>
            </a:extLst>
          </p:cNvPr>
          <p:cNvSpPr/>
          <p:nvPr/>
        </p:nvSpPr>
        <p:spPr>
          <a:xfrm>
            <a:off x="3810000" y="1181100"/>
            <a:ext cx="10454640" cy="7620000"/>
          </a:xfrm>
          <a:prstGeom prst="roundRect">
            <a:avLst/>
          </a:prstGeom>
          <a:solidFill>
            <a:srgbClr val="F8FAFC"/>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11500" b="1" i="0" dirty="0">
                <a:solidFill>
                  <a:srgbClr val="0284C7"/>
                </a:solidFill>
                <a:latin typeface="Poppins"/>
              </a:rPr>
              <a:t>Thank You!</a:t>
            </a:r>
          </a:p>
          <a:p>
            <a:pPr algn="ctr">
              <a:spcBef>
                <a:spcPts val="600"/>
              </a:spcBef>
            </a:pPr>
            <a:r>
              <a:rPr sz="1600" b="1" i="0" dirty="0">
                <a:solidFill>
                  <a:srgbClr val="0F172A"/>
                </a:solidFill>
                <a:latin typeface="Poppins"/>
              </a:rPr>
              <a:t>Final Year </a:t>
            </a:r>
            <a:r>
              <a:rPr sz="1600" b="1" i="0" dirty="0" err="1">
                <a:solidFill>
                  <a:srgbClr val="0F172A"/>
                </a:solidFill>
                <a:latin typeface="Poppins"/>
              </a:rPr>
              <a:t>B.Tech</a:t>
            </a:r>
            <a:r>
              <a:rPr sz="1600" b="1" i="0" dirty="0">
                <a:solidFill>
                  <a:srgbClr val="0F172A"/>
                </a:solidFill>
                <a:latin typeface="Poppins"/>
              </a:rPr>
              <a:t> Project Review-2 
School of Electronics Engineering (SENSE), VIT Vellore
</a:t>
            </a:r>
            <a:r>
              <a:rPr sz="1400" b="0" i="1" dirty="0">
                <a:solidFill>
                  <a:srgbClr val="64748B"/>
                </a:solidFill>
                <a:latin typeface="Poppins"/>
              </a:rPr>
              <a:t>.</a:t>
            </a:r>
          </a:p>
        </p:txBody>
      </p:sp>
    </p:spTree>
    <p:extLst>
      <p:ext uri="{BB962C8B-B14F-4D97-AF65-F5344CB8AC3E}">
        <p14:creationId xmlns:p14="http://schemas.microsoft.com/office/powerpoint/2010/main" val="13102772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503</TotalTime>
  <Words>5243</Words>
  <Application>Microsoft Office PowerPoint</Application>
  <PresentationFormat>Custom</PresentationFormat>
  <Paragraphs>586</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Poppins</vt:lpstr>
      <vt:lpstr>Calibri</vt: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Next-Gen</dc:title>
  <cp:lastModifiedBy>HARI KRUTHIK SK</cp:lastModifiedBy>
  <cp:revision>27</cp:revision>
  <dcterms:created xsi:type="dcterms:W3CDTF">2006-08-16T00:00:00Z</dcterms:created>
  <dcterms:modified xsi:type="dcterms:W3CDTF">2026-10-13T19:24:28Z</dcterms:modified>
  <dc:identifier>DAHXsfJ4dSI</dc:identifier>
</cp:coreProperties>
</file>